
<file path=[Content_Types].xml><?xml version="1.0" encoding="utf-8"?>
<Types xmlns="http://schemas.openxmlformats.org/package/2006/content-types"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4293DA74-1C9D-45A8-8B42-0EEBA1166079}"/>
              </a:ext>
            </a:extLst>
          </p:cNvPr>
          <p:cNvSpPr/>
          <p:nvPr/>
        </p:nvSpPr>
        <p:spPr>
          <a:xfrm>
            <a:off x="7239000" y="2667000"/>
            <a:ext cx="4000500" cy="2952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BD11134-176F-45AD-80DA-3CC736906082}"/>
              </a:ext>
            </a:extLst>
          </p:cNvPr>
          <p:cNvSpPr/>
          <p:nvPr/>
        </p:nvSpPr>
        <p:spPr>
          <a:xfrm>
            <a:off x="7524750" y="3143250"/>
            <a:ext cx="762000" cy="5334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大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16449C2-5ECC-4AF1-833A-7228B47BBD18}"/>
              </a:ext>
            </a:extLst>
          </p:cNvPr>
          <p:cNvSpPr/>
          <p:nvPr/>
        </p:nvSpPr>
        <p:spPr>
          <a:xfrm>
            <a:off x="8439150" y="3143250"/>
            <a:ext cx="762000" cy="5334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语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5FCFC62-AF76-4517-97F3-4CAA493637EA}"/>
              </a:ext>
            </a:extLst>
          </p:cNvPr>
          <p:cNvSpPr/>
          <p:nvPr/>
        </p:nvSpPr>
        <p:spPr>
          <a:xfrm>
            <a:off x="9353550" y="3143250"/>
            <a:ext cx="762000" cy="5334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言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FFF7054-F3E5-4B3D-8A3E-15CCDA77826C}"/>
              </a:ext>
            </a:extLst>
          </p:cNvPr>
          <p:cNvSpPr/>
          <p:nvPr/>
        </p:nvSpPr>
        <p:spPr>
          <a:xfrm>
            <a:off x="10267950" y="3143250"/>
            <a:ext cx="762000" cy="5334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模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7120F96-4927-4038-909E-BCA3B421AFED}"/>
              </a:ext>
            </a:extLst>
          </p:cNvPr>
          <p:cNvSpPr/>
          <p:nvPr/>
        </p:nvSpPr>
        <p:spPr>
          <a:xfrm>
            <a:off x="9048750" y="3829050"/>
            <a:ext cx="381000" cy="419100"/>
          </a:xfrm>
          <a:prstGeom prst="down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A24F4E8-C5D6-47C4-84D6-83B1FE7E9F14}"/>
              </a:ext>
            </a:extLst>
          </p:cNvPr>
          <p:cNvSpPr/>
          <p:nvPr/>
        </p:nvSpPr>
        <p:spPr>
          <a:xfrm>
            <a:off x="8858250" y="4400550"/>
            <a:ext cx="762000" cy="533400"/>
          </a:xfrm>
          <a:prstGeom prst="roundRect">
            <a:avLst/>
          </a:prstGeom>
          <a:solidFill>
            <a:srgbClr val="38BDF8"/>
          </a:solidFill>
        </p:spPr>
        <p:txBody>
          <a:bodyPr wrap="square" rtlCol="0" lIns="0" tIns="0" rIns="0" bIns="0" anchor="ctr"/>
          <a:lstStyle/>
          <a:p>
            <a:pPr algn="ctr"/>
            <a:r>
              <a:rPr sz="2400" b="1">
                <a:solidFill>
                  <a:srgbClr val="0E1526"/>
                </a:solidFill>
                <a:latin typeface="PingFang SC"/>
                <a:ea typeface="PingFang SC"/>
              </a:rPr>
              <a:t>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CAAD28-2815-47FB-A786-756D0DB5FA67}"/>
              </a:ext>
            </a:extLst>
          </p:cNvPr>
          <p:cNvSpPr txBox="1"/>
          <p:nvPr/>
        </p:nvSpPr>
        <p:spPr>
          <a:xfrm>
            <a:off x="7524750" y="5124450"/>
            <a:ext cx="3429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7C8DB0"/>
                </a:solidFill>
                <a:latin typeface="PingFang SC"/>
                <a:ea typeface="PingFang SC"/>
              </a:rPr>
              <a:t>下一词预测：模型在“模”之后预测“型”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1A5153C-D915-462A-B1D9-9A63C6439D14}"/>
              </a:ext>
            </a:extLst>
          </p:cNvPr>
          <p:cNvSpPr txBox="1"/>
          <p:nvPr/>
        </p:nvSpPr>
        <p:spPr>
          <a:xfrm>
            <a:off x="762000" y="2286000"/>
            <a:ext cx="59055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《从零构建大模型》· 第 1 章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7C5415-4883-4C12-8469-520BB15F0892}"/>
              </a:ext>
            </a:extLst>
          </p:cNvPr>
          <p:cNvSpPr txBox="1"/>
          <p:nvPr/>
        </p:nvSpPr>
        <p:spPr>
          <a:xfrm>
            <a:off x="762000" y="2724150"/>
            <a:ext cx="6096000" cy="1162050"/>
          </a:xfrm>
        </p:spPr>
        <p:txBody>
          <a:bodyPr wrap="square" rtlCol="0" lIns="0" tIns="0" rIns="0" bIns="0" anchor="t"/>
          <a:lstStyle/>
          <a:p>
            <a:r>
              <a:rPr sz="6000" b="1">
                <a:solidFill>
                  <a:srgbClr val="F1F5F9"/>
                </a:solidFill>
                <a:latin typeface="PingFang SC"/>
                <a:ea typeface="PingFang SC"/>
              </a:rPr>
              <a:t>理解大语言模型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4BC96B0-2123-4E22-A939-D72FCDF15246}"/>
              </a:ext>
            </a:extLst>
          </p:cNvPr>
          <p:cNvSpPr txBox="1"/>
          <p:nvPr/>
        </p:nvSpPr>
        <p:spPr>
          <a:xfrm>
            <a:off x="762000" y="4076700"/>
            <a:ext cx="6096000" cy="62865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3A5C4"/>
                </a:solidFill>
                <a:latin typeface="Helvetica Neue"/>
                <a:ea typeface="Helvetica Neue"/>
              </a:rPr>
              <a:t>Build a Large Language Model (From Scratch)</a:t>
            </a:r>
          </a:p>
          <a:p>
            <a:r>
              <a:rPr sz="1300">
                <a:solidFill>
                  <a:srgbClr val="93A5C4"/>
                </a:solidFill>
                <a:latin typeface="PingFang SC"/>
                <a:ea typeface="PingFang SC"/>
              </a:rPr>
              <a:t>Sebastian Raschka 著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6A01705-28F6-4687-B93A-4F0D9484B29E}"/>
              </a:ext>
            </a:extLst>
          </p:cNvPr>
          <p:cNvSpPr/>
          <p:nvPr/>
        </p:nvSpPr>
        <p:spPr>
          <a:xfrm>
            <a:off x="762000" y="5905500"/>
            <a:ext cx="10668000" cy="19050"/>
          </a:xfrm>
          <a:prstGeom prst="rect">
            <a:avLst/>
          </a:prstGeom>
          <a:solidFill>
            <a:srgbClr val="2E3B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2FFD92C-2FAC-4F15-A9AD-37E86D1199CC}"/>
              </a:ext>
            </a:extLst>
          </p:cNvPr>
          <p:cNvSpPr txBox="1"/>
          <p:nvPr/>
        </p:nvSpPr>
        <p:spPr>
          <a:xfrm>
            <a:off x="762000" y="6076950"/>
            <a:ext cx="106680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7C8DB0"/>
                </a:solidFill>
                <a:latin typeface="PingFang SC"/>
                <a:ea typeface="PingFang SC"/>
              </a:rPr>
              <a:t>教学课件 · 生成式 AI 与大语言模型基础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24B4BD-7158-47E6-8036-75C673713A5B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第 1 章 · 理解大语言模型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E669D5D-3873-4C72-ADCB-FE72B0957E0E}"/>
              </a:ext>
            </a:extLst>
          </p:cNvPr>
          <p:cNvSpPr txBox="1"/>
          <p:nvPr/>
        </p:nvSpPr>
        <p:spPr>
          <a:xfrm>
            <a:off x="762000" y="647700"/>
            <a:ext cx="85725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本章学习目标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0622F4A-76E4-412F-A3D8-E72D36F26A4B}"/>
              </a:ext>
            </a:extLst>
          </p:cNvPr>
          <p:cNvSpPr/>
          <p:nvPr/>
        </p:nvSpPr>
        <p:spPr>
          <a:xfrm>
            <a:off x="762000" y="1714500"/>
            <a:ext cx="3333750" cy="3714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5947424-75E7-4088-B9B7-8DF1367524FC}"/>
              </a:ext>
            </a:extLst>
          </p:cNvPr>
          <p:cNvSpPr txBox="1"/>
          <p:nvPr/>
        </p:nvSpPr>
        <p:spPr>
          <a:xfrm>
            <a:off x="1066800" y="2038350"/>
            <a:ext cx="1143000" cy="54864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38BDF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4E6C7D-BC10-4C1A-A231-1367996A09C2}"/>
              </a:ext>
            </a:extLst>
          </p:cNvPr>
          <p:cNvSpPr txBox="1"/>
          <p:nvPr/>
        </p:nvSpPr>
        <p:spPr>
          <a:xfrm>
            <a:off x="1066800" y="2647950"/>
            <a:ext cx="2724150" cy="30480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1F5F9"/>
                </a:solidFill>
                <a:latin typeface="PingFang SC"/>
                <a:ea typeface="PingFang SC"/>
              </a:rPr>
              <a:t>建立概念框架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DEB9198-75A0-4FC3-AC59-69D830E0FFB3}"/>
              </a:ext>
            </a:extLst>
          </p:cNvPr>
          <p:cNvSpPr txBox="1"/>
          <p:nvPr/>
        </p:nvSpPr>
        <p:spPr>
          <a:xfrm>
            <a:off x="1066800" y="3086100"/>
            <a:ext cx="272415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什么是大语言模型？它与机器学习、深度学习是什么关系？为全书的学习建立清晰的概念地图。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36FFB87-9483-4828-8598-E2DA122B6AEF}"/>
              </a:ext>
            </a:extLst>
          </p:cNvPr>
          <p:cNvSpPr/>
          <p:nvPr/>
        </p:nvSpPr>
        <p:spPr>
          <a:xfrm>
            <a:off x="4429125" y="1714500"/>
            <a:ext cx="3333750" cy="3714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9761789-1AE1-4892-807F-7A9E5C53537F}"/>
              </a:ext>
            </a:extLst>
          </p:cNvPr>
          <p:cNvSpPr txBox="1"/>
          <p:nvPr/>
        </p:nvSpPr>
        <p:spPr>
          <a:xfrm>
            <a:off x="4733925" y="2038350"/>
            <a:ext cx="1143000" cy="54864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38BDF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16F07D6-92E0-4113-80E2-75655000234C}"/>
              </a:ext>
            </a:extLst>
          </p:cNvPr>
          <p:cNvSpPr txBox="1"/>
          <p:nvPr/>
        </p:nvSpPr>
        <p:spPr>
          <a:xfrm>
            <a:off x="4733925" y="2647950"/>
            <a:ext cx="2724150" cy="30480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1F5F9"/>
                </a:solidFill>
                <a:latin typeface="PingFang SC"/>
                <a:ea typeface="PingFang SC"/>
              </a:rPr>
              <a:t>剖析 Transformer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51D5CF8-0735-426E-8639-7A4BA133357D}"/>
              </a:ext>
            </a:extLst>
          </p:cNvPr>
          <p:cNvSpPr txBox="1"/>
          <p:nvPr/>
        </p:nvSpPr>
        <p:spPr>
          <a:xfrm>
            <a:off x="4733925" y="3086100"/>
            <a:ext cx="272415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深入理解编码器与解码器如何分工协作，以及自注意力机制为何是现代大语言模型的核心。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C777093-EC72-462D-AFC1-AD2A37652777}"/>
              </a:ext>
            </a:extLst>
          </p:cNvPr>
          <p:cNvSpPr/>
          <p:nvPr/>
        </p:nvSpPr>
        <p:spPr>
          <a:xfrm>
            <a:off x="8096250" y="1714500"/>
            <a:ext cx="3333750" cy="3714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CE7F70E-5940-4EE2-A8EF-AEB1ACE3B1E7}"/>
              </a:ext>
            </a:extLst>
          </p:cNvPr>
          <p:cNvSpPr txBox="1"/>
          <p:nvPr/>
        </p:nvSpPr>
        <p:spPr>
          <a:xfrm>
            <a:off x="8401050" y="2038350"/>
            <a:ext cx="1143000" cy="54864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38BDF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6B7029E-C244-4C8B-BE92-7EC84B8789A6}"/>
              </a:ext>
            </a:extLst>
          </p:cNvPr>
          <p:cNvSpPr txBox="1"/>
          <p:nvPr/>
        </p:nvSpPr>
        <p:spPr>
          <a:xfrm>
            <a:off x="8401050" y="2647950"/>
            <a:ext cx="2724150" cy="30480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1F5F9"/>
                </a:solidFill>
                <a:latin typeface="PingFang SC"/>
                <a:ea typeface="PingFang SC"/>
              </a:rPr>
              <a:t>掌握构建路线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CFE7D0C-E156-476E-9D09-8348108E4031}"/>
              </a:ext>
            </a:extLst>
          </p:cNvPr>
          <p:cNvSpPr txBox="1"/>
          <p:nvPr/>
        </p:nvSpPr>
        <p:spPr>
          <a:xfrm>
            <a:off x="8401050" y="3086100"/>
            <a:ext cx="272415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理解“预训练 + 微调”两阶段方法，熟悉从零实现类 GPT 模型的三阶段路线图及其对应章节。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8566103-CAB0-4717-99A0-A85D3586C763}"/>
              </a:ext>
            </a:extLst>
          </p:cNvPr>
          <p:cNvSpPr/>
          <p:nvPr/>
        </p:nvSpPr>
        <p:spPr>
          <a:xfrm>
            <a:off x="762000" y="5753100"/>
            <a:ext cx="10668000" cy="5334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PingFang SC"/>
                <a:ea typeface="PingFang SC"/>
              </a:rPr>
              <a:t>关键问题｜</a:t>
            </a: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一个只做“下一词预测”的模型，为什么能翻译、写代码、回答问题？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07F61D-F81B-4FCE-BE32-A40A2675EA64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1.1 · 什么是大语言模型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6ED43A8-0DC7-4E02-A6CD-0830BF60B6CB}"/>
              </a:ext>
            </a:extLst>
          </p:cNvPr>
          <p:cNvSpPr txBox="1"/>
          <p:nvPr/>
        </p:nvSpPr>
        <p:spPr>
          <a:xfrm>
            <a:off x="762000" y="647700"/>
            <a:ext cx="85725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什么是大语言模型？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303B8E0-AC18-4890-A3E7-5A2882B3EB5A}"/>
              </a:ext>
            </a:extLst>
          </p:cNvPr>
          <p:cNvSpPr txBox="1"/>
          <p:nvPr/>
        </p:nvSpPr>
        <p:spPr>
          <a:xfrm>
            <a:off x="762000" y="1543050"/>
            <a:ext cx="53340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F1F5F9"/>
                </a:solidFill>
                <a:latin typeface="PingFang SC"/>
                <a:ea typeface="PingFang SC"/>
              </a:rPr>
              <a:t>大语言模型（LLM）是通过海量文本数据训练、能理解、生成和响应类人语言文本的深度神经网络。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A288F17-F315-4419-BA61-71B21BC70636}"/>
              </a:ext>
            </a:extLst>
          </p:cNvPr>
          <p:cNvSpPr txBox="1"/>
          <p:nvPr/>
        </p:nvSpPr>
        <p:spPr>
          <a:xfrm>
            <a:off x="762000" y="2609850"/>
            <a:ext cx="5334000" cy="2952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“大”＝海量训练数据 + 庞大参数规模，参数常达数百亿至数千亿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核心训练任务：下一单词预测（next-word prediction）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基于 Transformer 架构，预测时可选择性关注输入的不同部分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能够生成文本，因此被归类为生成式人工智能（Generative AI）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FBBF24"/>
                </a:solidFill>
                <a:latin typeface="PingFang SC"/>
                <a:ea typeface="PingFang SC"/>
              </a:rPr>
              <a:t>注意｜</a:t>
            </a: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“理解”指能生成连贯且符合语境的文本，并不等于拥有人类式的意识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6CF6C79-5F97-4A23-BB35-D93D8A04ACF1}"/>
              </a:ext>
            </a:extLst>
          </p:cNvPr>
          <p:cNvSpPr/>
          <p:nvPr/>
        </p:nvSpPr>
        <p:spPr>
          <a:xfrm>
            <a:off x="762000" y="5676900"/>
            <a:ext cx="5334000" cy="6477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9B5DFB2-E1B6-4819-A537-A77783B68DE0}"/>
              </a:ext>
            </a:extLst>
          </p:cNvPr>
          <p:cNvSpPr txBox="1"/>
          <p:nvPr/>
        </p:nvSpPr>
        <p:spPr>
          <a:xfrm>
            <a:off x="1009650" y="5791200"/>
            <a:ext cx="4838700" cy="4953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与深度学习的联系｜</a:t>
            </a: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深度学习用 3 层及以上神经网络建模复杂模式，无需人工特征提取。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D476998-B983-42FF-B45B-6EFC52B7729A}"/>
              </a:ext>
            </a:extLst>
          </p:cNvPr>
          <p:cNvSpPr/>
          <p:nvPr/>
        </p:nvSpPr>
        <p:spPr>
          <a:xfrm>
            <a:off x="6477000" y="1428750"/>
            <a:ext cx="4953000" cy="485775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E87501-6466-4E8A-B909-6CCF9EEFFA89}"/>
              </a:ext>
            </a:extLst>
          </p:cNvPr>
          <p:cNvSpPr txBox="1"/>
          <p:nvPr/>
        </p:nvSpPr>
        <p:spPr>
          <a:xfrm>
            <a:off x="6705600" y="1600200"/>
            <a:ext cx="28575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1F5F9"/>
                </a:solidFill>
                <a:latin typeface="PingFang SC"/>
                <a:ea typeface="PingFang SC"/>
              </a:rPr>
              <a:t>人工智能（AI）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36BE686-57DA-4423-91F2-42123EA76583}"/>
              </a:ext>
            </a:extLst>
          </p:cNvPr>
          <p:cNvSpPr/>
          <p:nvPr/>
        </p:nvSpPr>
        <p:spPr>
          <a:xfrm>
            <a:off x="6819900" y="1866900"/>
            <a:ext cx="4267200" cy="4076700"/>
          </a:xfrm>
          <a:prstGeom prst="roundRect">
            <a:avLst/>
          </a:prstGeom>
          <a:solidFill>
            <a:srgbClr val="182544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0781808-518C-4433-90EE-25F94106B04A}"/>
              </a:ext>
            </a:extLst>
          </p:cNvPr>
          <p:cNvSpPr txBox="1"/>
          <p:nvPr/>
        </p:nvSpPr>
        <p:spPr>
          <a:xfrm>
            <a:off x="7048500" y="2038350"/>
            <a:ext cx="2857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C7D2E8"/>
                </a:solidFill>
                <a:latin typeface="PingFang SC"/>
                <a:ea typeface="PingFang SC"/>
              </a:rPr>
              <a:t>机器学习（ML）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3BF063F-8B50-44B3-A3F1-D83DA4D2B48E}"/>
              </a:ext>
            </a:extLst>
          </p:cNvPr>
          <p:cNvSpPr/>
          <p:nvPr/>
        </p:nvSpPr>
        <p:spPr>
          <a:xfrm>
            <a:off x="7162800" y="2305050"/>
            <a:ext cx="3581400" cy="3295650"/>
          </a:xfrm>
          <a:prstGeom prst="roundRect">
            <a:avLst/>
          </a:prstGeom>
          <a:solidFill>
            <a:srgbClr val="1F2F55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EE44D51-C754-4883-A816-7518A7858505}"/>
              </a:ext>
            </a:extLst>
          </p:cNvPr>
          <p:cNvSpPr txBox="1"/>
          <p:nvPr/>
        </p:nvSpPr>
        <p:spPr>
          <a:xfrm>
            <a:off x="7391400" y="2476500"/>
            <a:ext cx="2857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C7D2E8"/>
                </a:solidFill>
                <a:latin typeface="PingFang SC"/>
                <a:ea typeface="PingFang SC"/>
              </a:rPr>
              <a:t>深度学习（DL）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5F705B8-C09D-4F40-8E23-906E6B7933EA}"/>
              </a:ext>
            </a:extLst>
          </p:cNvPr>
          <p:cNvSpPr/>
          <p:nvPr/>
        </p:nvSpPr>
        <p:spPr>
          <a:xfrm>
            <a:off x="7505700" y="2743200"/>
            <a:ext cx="2895600" cy="2514600"/>
          </a:xfrm>
          <a:prstGeom prst="round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88C610-4A8D-4FB8-8898-6221AF486DD7}"/>
              </a:ext>
            </a:extLst>
          </p:cNvPr>
          <p:cNvSpPr txBox="1"/>
          <p:nvPr/>
        </p:nvSpPr>
        <p:spPr>
          <a:xfrm>
            <a:off x="7734300" y="3486150"/>
            <a:ext cx="2438400" cy="381000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0E1526"/>
                </a:solidFill>
                <a:latin typeface="PingFang SC"/>
                <a:ea typeface="PingFang SC"/>
              </a:rPr>
              <a:t>大语言模型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D6DDB13-BE73-44AB-B1E8-CA960D49D063}"/>
              </a:ext>
            </a:extLst>
          </p:cNvPr>
          <p:cNvSpPr txBox="1"/>
          <p:nvPr/>
        </p:nvSpPr>
        <p:spPr>
          <a:xfrm>
            <a:off x="7734300" y="3924300"/>
            <a:ext cx="24384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300">
                <a:solidFill>
                  <a:srgbClr val="0E1526"/>
                </a:solidFill>
                <a:latin typeface="PingFang SC"/>
                <a:ea typeface="PingFang SC"/>
              </a:rPr>
              <a:t>LLM · 生成式 AI 的具体应用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AD37017-7B5C-4A70-AE34-741631280FDE}"/>
              </a:ext>
            </a:extLst>
          </p:cNvPr>
          <p:cNvSpPr txBox="1"/>
          <p:nvPr/>
        </p:nvSpPr>
        <p:spPr>
          <a:xfrm>
            <a:off x="7734300" y="4305300"/>
            <a:ext cx="24384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5000"/>
              </a:lnSpc>
            </a:pPr>
            <a:r>
              <a:rPr sz="1200">
                <a:solidFill>
                  <a:srgbClr val="0E1526"/>
                </a:solidFill>
                <a:latin typeface="PingFang SC"/>
                <a:ea typeface="PingFang SC"/>
              </a:rPr>
              <a:t>代表：GPT-3、ChatGPT、Llama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CD74B50-C921-4EFD-86E5-3BF4B135110F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1.1 · 概念对比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C60D0B-8651-4AF3-B2B5-3C6DDDB92487}"/>
              </a:ext>
            </a:extLst>
          </p:cNvPr>
          <p:cNvSpPr txBox="1"/>
          <p:nvPr/>
        </p:nvSpPr>
        <p:spPr>
          <a:xfrm>
            <a:off x="762000" y="647700"/>
            <a:ext cx="10668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机器学习 vs 深度学习：垃圾邮件分类为例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A27A6F9-1FD2-44E5-8F1F-92861D7DCB6B}"/>
              </a:ext>
            </a:extLst>
          </p:cNvPr>
          <p:cNvSpPr/>
          <p:nvPr/>
        </p:nvSpPr>
        <p:spPr>
          <a:xfrm>
            <a:off x="762000" y="1619250"/>
            <a:ext cx="5143500" cy="40005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A664EAE-50BB-403E-BCF0-7183430422DE}"/>
              </a:ext>
            </a:extLst>
          </p:cNvPr>
          <p:cNvSpPr txBox="1"/>
          <p:nvPr/>
        </p:nvSpPr>
        <p:spPr>
          <a:xfrm>
            <a:off x="1104900" y="1924050"/>
            <a:ext cx="4457700" cy="3238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传统机器学习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A69BC8-701C-44D0-8FF5-C6F10122369C}"/>
              </a:ext>
            </a:extLst>
          </p:cNvPr>
          <p:cNvSpPr txBox="1"/>
          <p:nvPr/>
        </p:nvSpPr>
        <p:spPr>
          <a:xfrm>
            <a:off x="1104900" y="2305050"/>
            <a:ext cx="44577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93A5C4"/>
                </a:solidFill>
                <a:latin typeface="PingFang SC"/>
                <a:ea typeface="PingFang SC"/>
              </a:rPr>
              <a:t>特征由人类专家定义与提取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E668AF-090C-4127-95AF-603371966EC0}"/>
              </a:ext>
            </a:extLst>
          </p:cNvPr>
          <p:cNvSpPr txBox="1"/>
          <p:nvPr/>
        </p:nvSpPr>
        <p:spPr>
          <a:xfrm>
            <a:off x="1104900" y="2724150"/>
            <a:ext cx="44577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专家手动提取特征：触发词（prize、win、free）出现频率、感叹号数量、全大写单词、可疑链接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在标注邮件（垃圾邮件 / 正常邮件）上训练分类器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通常为单一特定任务设计，泛化能力有限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6F67755-0680-4690-9054-2C0D7F977DEE}"/>
              </a:ext>
            </a:extLst>
          </p:cNvPr>
          <p:cNvSpPr/>
          <p:nvPr/>
        </p:nvSpPr>
        <p:spPr>
          <a:xfrm>
            <a:off x="6286500" y="1619250"/>
            <a:ext cx="5143500" cy="40005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511386-378F-44E6-BF60-5995C6ED298A}"/>
              </a:ext>
            </a:extLst>
          </p:cNvPr>
          <p:cNvSpPr txBox="1"/>
          <p:nvPr/>
        </p:nvSpPr>
        <p:spPr>
          <a:xfrm>
            <a:off x="6629400" y="1924050"/>
            <a:ext cx="4457700" cy="3238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1F5F9"/>
                </a:solidFill>
                <a:latin typeface="PingFang SC"/>
                <a:ea typeface="PingFang SC"/>
              </a:rPr>
              <a:t>深度学习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7AC7ABA-D849-4DB5-881C-9B184C622E5B}"/>
              </a:ext>
            </a:extLst>
          </p:cNvPr>
          <p:cNvSpPr txBox="1"/>
          <p:nvPr/>
        </p:nvSpPr>
        <p:spPr>
          <a:xfrm>
            <a:off x="6629400" y="2305050"/>
            <a:ext cx="44577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93A5C4"/>
                </a:solidFill>
                <a:latin typeface="PingFang SC"/>
                <a:ea typeface="PingFang SC"/>
              </a:rPr>
              <a:t>特征由模型自动学习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27FE33A-36D7-4A3C-A6F9-E56AAD9EBBA4}"/>
              </a:ext>
            </a:extLst>
          </p:cNvPr>
          <p:cNvSpPr txBox="1"/>
          <p:nvPr/>
        </p:nvSpPr>
        <p:spPr>
          <a:xfrm>
            <a:off x="6629400" y="2724150"/>
            <a:ext cx="44577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无需人工特征提取，通过多层神经网络（3 层及以上）自动学习特征表示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能建模数据中的复杂模式与抽象特征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大语言模型进一步在翻译、问答、生成等多种 NLP 任务上展现广泛能力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C02F775-86FF-455C-B884-956BA8FAD40A}"/>
              </a:ext>
            </a:extLst>
          </p:cNvPr>
          <p:cNvSpPr/>
          <p:nvPr/>
        </p:nvSpPr>
        <p:spPr>
          <a:xfrm>
            <a:off x="5772150" y="3295650"/>
            <a:ext cx="647700" cy="647700"/>
          </a:xfrm>
          <a:prstGeom prst="diamond">
            <a:avLst/>
          </a:prstGeom>
          <a:solidFill>
            <a:srgbClr val="223154"/>
          </a:solidFill>
          <a:ln w="1270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/>
                <a:ea typeface="Helvetica Neue"/>
              </a:rPr>
              <a:t>VS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EA9C720-2D06-4E40-9ACA-E4D07B565B7E}"/>
              </a:ext>
            </a:extLst>
          </p:cNvPr>
          <p:cNvSpPr/>
          <p:nvPr/>
        </p:nvSpPr>
        <p:spPr>
          <a:xfrm>
            <a:off x="762000" y="5848350"/>
            <a:ext cx="10668000" cy="5143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PingFang SC"/>
                <a:ea typeface="PingFang SC"/>
              </a:rPr>
              <a:t>共同点｜</a:t>
            </a: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两者都需要标注数据；关键差异在特征是“人工定义”还是“模型学习”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FFB39F9-52EA-47BA-960A-50CF83B80C2F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1.2 · 大语言模型的应用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85E001-6CA0-4833-AAEA-3EAB5A2E8B4E}"/>
              </a:ext>
            </a:extLst>
          </p:cNvPr>
          <p:cNvSpPr txBox="1"/>
          <p:nvPr/>
        </p:nvSpPr>
        <p:spPr>
          <a:xfrm>
            <a:off x="762000" y="647700"/>
            <a:ext cx="85725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大语言模型能做什么？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082EAC9-C6B5-4F2D-AE53-99878F84F141}"/>
              </a:ext>
            </a:extLst>
          </p:cNvPr>
          <p:cNvSpPr/>
          <p:nvPr/>
        </p:nvSpPr>
        <p:spPr>
          <a:xfrm>
            <a:off x="762000" y="1619250"/>
            <a:ext cx="5238750" cy="2047875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40A832-4148-4C28-98DA-30EEF82FBE01}"/>
              </a:ext>
            </a:extLst>
          </p:cNvPr>
          <p:cNvSpPr txBox="1"/>
          <p:nvPr/>
        </p:nvSpPr>
        <p:spPr>
          <a:xfrm>
            <a:off x="1066800" y="1847850"/>
            <a:ext cx="5715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8BDF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AFDAF25-B9DC-488A-B685-44B5A6B6F3F7}"/>
              </a:ext>
            </a:extLst>
          </p:cNvPr>
          <p:cNvSpPr txBox="1"/>
          <p:nvPr/>
        </p:nvSpPr>
        <p:spPr>
          <a:xfrm>
            <a:off x="1066800" y="2133600"/>
            <a:ext cx="46291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1F5F9"/>
                </a:solidFill>
                <a:latin typeface="PingFang SC"/>
                <a:ea typeface="PingFang SC"/>
              </a:rPr>
              <a:t>通用 NLP 任务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29706F-2FBB-422D-9777-6A8CB66CAD39}"/>
              </a:ext>
            </a:extLst>
          </p:cNvPr>
          <p:cNvSpPr txBox="1"/>
          <p:nvPr/>
        </p:nvSpPr>
        <p:spPr>
          <a:xfrm>
            <a:off x="1066800" y="2514600"/>
            <a:ext cx="46291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机器翻译、文本生成、情感分析、文本摘要——擅长解析和理解非结构化文本数据。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EF2932D-4976-4EE0-BFE2-E5190917C016}"/>
              </a:ext>
            </a:extLst>
          </p:cNvPr>
          <p:cNvSpPr/>
          <p:nvPr/>
        </p:nvSpPr>
        <p:spPr>
          <a:xfrm>
            <a:off x="6191250" y="1619250"/>
            <a:ext cx="5238750" cy="2047875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A64A65-358D-457D-8A7C-4A187726BEF4}"/>
              </a:ext>
            </a:extLst>
          </p:cNvPr>
          <p:cNvSpPr txBox="1"/>
          <p:nvPr/>
        </p:nvSpPr>
        <p:spPr>
          <a:xfrm>
            <a:off x="6496050" y="1847850"/>
            <a:ext cx="5715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8BDF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1FC89A6-538A-4A22-8094-DACCF6645641}"/>
              </a:ext>
            </a:extLst>
          </p:cNvPr>
          <p:cNvSpPr txBox="1"/>
          <p:nvPr/>
        </p:nvSpPr>
        <p:spPr>
          <a:xfrm>
            <a:off x="6496050" y="2133600"/>
            <a:ext cx="46291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1F5F9"/>
                </a:solidFill>
                <a:latin typeface="PingFang SC"/>
                <a:ea typeface="PingFang SC"/>
              </a:rPr>
              <a:t>对话与虚拟助手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143F981-252D-4C51-881D-5B58673F7036}"/>
              </a:ext>
            </a:extLst>
          </p:cNvPr>
          <p:cNvSpPr txBox="1"/>
          <p:nvPr/>
        </p:nvSpPr>
        <p:spPr>
          <a:xfrm>
            <a:off x="6496050" y="2514600"/>
            <a:ext cx="46291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支撑 ChatGPT、谷歌 Gemini 等聊天机器人，并增强 Google 搜索、微软必应等搜索引擎。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78C0ACF-9757-4C96-B43A-26EBA0F0863D}"/>
              </a:ext>
            </a:extLst>
          </p:cNvPr>
          <p:cNvSpPr/>
          <p:nvPr/>
        </p:nvSpPr>
        <p:spPr>
          <a:xfrm>
            <a:off x="762000" y="3905250"/>
            <a:ext cx="5238750" cy="2047875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B1B34E5-D340-47F0-916B-92B0E3291913}"/>
              </a:ext>
            </a:extLst>
          </p:cNvPr>
          <p:cNvSpPr txBox="1"/>
          <p:nvPr/>
        </p:nvSpPr>
        <p:spPr>
          <a:xfrm>
            <a:off x="1066800" y="4133850"/>
            <a:ext cx="5715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8BDF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9BA097E-213B-4B9C-B213-D1B4EC043189}"/>
              </a:ext>
            </a:extLst>
          </p:cNvPr>
          <p:cNvSpPr txBox="1"/>
          <p:nvPr/>
        </p:nvSpPr>
        <p:spPr>
          <a:xfrm>
            <a:off x="1066800" y="4419600"/>
            <a:ext cx="46291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1F5F9"/>
                </a:solidFill>
                <a:latin typeface="PingFang SC"/>
                <a:ea typeface="PingFang SC"/>
              </a:rPr>
              <a:t>专业领域知识提取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3B2D77B-C130-48C7-B068-186E3FFDA930}"/>
              </a:ext>
            </a:extLst>
          </p:cNvPr>
          <p:cNvSpPr txBox="1"/>
          <p:nvPr/>
        </p:nvSpPr>
        <p:spPr>
          <a:xfrm>
            <a:off x="1066800" y="4800600"/>
            <a:ext cx="46291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在医学、法律等领域，从大量文本中筛选文献、总结长篇段落、回答技术性问题。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1E99A80-6A78-418A-904F-44FE78FB5A7D}"/>
              </a:ext>
            </a:extLst>
          </p:cNvPr>
          <p:cNvSpPr/>
          <p:nvPr/>
        </p:nvSpPr>
        <p:spPr>
          <a:xfrm>
            <a:off x="6191250" y="3905250"/>
            <a:ext cx="5238750" cy="2047875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313F0F-C3DA-4283-B1F1-FF3B942D5EB9}"/>
              </a:ext>
            </a:extLst>
          </p:cNvPr>
          <p:cNvSpPr txBox="1"/>
          <p:nvPr/>
        </p:nvSpPr>
        <p:spPr>
          <a:xfrm>
            <a:off x="6496050" y="4133850"/>
            <a:ext cx="5715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8BDF8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E982B63-719F-48E5-8469-5EF3331C2A29}"/>
              </a:ext>
            </a:extLst>
          </p:cNvPr>
          <p:cNvSpPr txBox="1"/>
          <p:nvPr/>
        </p:nvSpPr>
        <p:spPr>
          <a:xfrm>
            <a:off x="6496050" y="4419600"/>
            <a:ext cx="46291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1F5F9"/>
                </a:solidFill>
                <a:latin typeface="PingFang SC"/>
                <a:ea typeface="PingFang SC"/>
              </a:rPr>
              <a:t>内容创作与编程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6701330-F2BA-4F59-B232-A387A83C0A47}"/>
              </a:ext>
            </a:extLst>
          </p:cNvPr>
          <p:cNvSpPr txBox="1"/>
          <p:nvPr/>
        </p:nvSpPr>
        <p:spPr>
          <a:xfrm>
            <a:off x="6496050" y="4800600"/>
            <a:ext cx="462915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撰写小说与文章等创意内容，甚至编写计算机代码，重塑人与科技的互动方式。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4730C004-2B70-49F1-8F8F-06A131694743}"/>
              </a:ext>
            </a:extLst>
          </p:cNvPr>
          <p:cNvSpPr/>
          <p:nvPr/>
        </p:nvSpPr>
        <p:spPr>
          <a:xfrm>
            <a:off x="762000" y="6172200"/>
            <a:ext cx="10668000" cy="457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PingFang SC"/>
                <a:ea typeface="PingFang SC"/>
              </a:rPr>
              <a:t>本书目标｜</a:t>
            </a: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从零开始理解原理并实现一个能生成文本的大语言模型助手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431F93D-C499-4DD2-BE1D-552D24444DFB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1.3 · 构建和使用大语言模型的各个阶段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C1A742-4100-4064-89DD-4F1F3AF12BD9}"/>
              </a:ext>
            </a:extLst>
          </p:cNvPr>
          <p:cNvSpPr txBox="1"/>
          <p:nvPr/>
        </p:nvSpPr>
        <p:spPr>
          <a:xfrm>
            <a:off x="762000" y="647700"/>
            <a:ext cx="9525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两阶段训练：先预训练，再微调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0278059-F428-419B-90E4-E1C3FC50958A}"/>
              </a:ext>
            </a:extLst>
          </p:cNvPr>
          <p:cNvSpPr/>
          <p:nvPr/>
        </p:nvSpPr>
        <p:spPr>
          <a:xfrm>
            <a:off x="762000" y="1619250"/>
            <a:ext cx="3143250" cy="1809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01033F-0AB1-4B01-96D6-2CAE28B57B6A}"/>
              </a:ext>
            </a:extLst>
          </p:cNvPr>
          <p:cNvSpPr txBox="1"/>
          <p:nvPr/>
        </p:nvSpPr>
        <p:spPr>
          <a:xfrm>
            <a:off x="1066800" y="1866900"/>
            <a:ext cx="25336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① 预训练 Pre-training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97E0BE-F36E-42CC-8773-F3E48A16DF8F}"/>
              </a:ext>
            </a:extLst>
          </p:cNvPr>
          <p:cNvSpPr txBox="1"/>
          <p:nvPr/>
        </p:nvSpPr>
        <p:spPr>
          <a:xfrm>
            <a:off x="1066800" y="2247900"/>
            <a:ext cx="253365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在规模庞大、多样化的无标注原始文本上训练；自监督学习——用文本的下一个词作为标签。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1528A2C-BF38-49EE-BE01-982B7A713190}"/>
              </a:ext>
            </a:extLst>
          </p:cNvPr>
          <p:cNvSpPr/>
          <p:nvPr/>
        </p:nvSpPr>
        <p:spPr>
          <a:xfrm>
            <a:off x="4000500" y="2352675"/>
            <a:ext cx="476250" cy="3429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36AA6C7-14A7-4920-8A0C-320CE288A11E}"/>
              </a:ext>
            </a:extLst>
          </p:cNvPr>
          <p:cNvSpPr/>
          <p:nvPr/>
        </p:nvSpPr>
        <p:spPr>
          <a:xfrm>
            <a:off x="4572000" y="1619250"/>
            <a:ext cx="3143250" cy="1809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C10BE2D-8FCF-48A2-85C5-54DECDAD8543}"/>
              </a:ext>
            </a:extLst>
          </p:cNvPr>
          <p:cNvSpPr txBox="1"/>
          <p:nvPr/>
        </p:nvSpPr>
        <p:spPr>
          <a:xfrm>
            <a:off x="4876800" y="1866900"/>
            <a:ext cx="25336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② 基础模型 Foundation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366A92A-4D7A-4189-B0EA-40EA39642EC4}"/>
              </a:ext>
            </a:extLst>
          </p:cNvPr>
          <p:cNvSpPr txBox="1"/>
          <p:nvPr/>
        </p:nvSpPr>
        <p:spPr>
          <a:xfrm>
            <a:off x="4876800" y="2247900"/>
            <a:ext cx="253365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预训练后的模型具备全面的语言理解能力，能完成文本补全；如 GPT-3，展现出有限的少样本学习能力。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C757DB7-9A3F-40ED-8D62-E1DB876EBFBA}"/>
              </a:ext>
            </a:extLst>
          </p:cNvPr>
          <p:cNvSpPr/>
          <p:nvPr/>
        </p:nvSpPr>
        <p:spPr>
          <a:xfrm>
            <a:off x="7810500" y="2352675"/>
            <a:ext cx="476250" cy="3429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35BC341-14B5-44EA-A7B5-46F233FA1D2B}"/>
              </a:ext>
            </a:extLst>
          </p:cNvPr>
          <p:cNvSpPr/>
          <p:nvPr/>
        </p:nvSpPr>
        <p:spPr>
          <a:xfrm>
            <a:off x="8382000" y="1619250"/>
            <a:ext cx="3048000" cy="1809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3A5856-65EF-4974-B80D-6FAD8DEC72DA}"/>
              </a:ext>
            </a:extLst>
          </p:cNvPr>
          <p:cNvSpPr txBox="1"/>
          <p:nvPr/>
        </p:nvSpPr>
        <p:spPr>
          <a:xfrm>
            <a:off x="8686800" y="1866900"/>
            <a:ext cx="24384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③ 微调 Fine-tuning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E73F444-9ECF-40A8-926F-874385641786}"/>
              </a:ext>
            </a:extLst>
          </p:cNvPr>
          <p:cNvSpPr txBox="1"/>
          <p:nvPr/>
        </p:nvSpPr>
        <p:spPr>
          <a:xfrm>
            <a:off x="8686800" y="2247900"/>
            <a:ext cx="24384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在规模较小的标注数据集上针对性训练，进一步提升特定任务或领域能力。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2FAC83E-C682-4920-812F-0A935C8C6CEE}"/>
              </a:ext>
            </a:extLst>
          </p:cNvPr>
          <p:cNvSpPr/>
          <p:nvPr/>
        </p:nvSpPr>
        <p:spPr>
          <a:xfrm>
            <a:off x="762000" y="3771900"/>
            <a:ext cx="5238750" cy="1809750"/>
          </a:xfrm>
          <a:prstGeom prst="roundRect">
            <a:avLst/>
          </a:prstGeom>
          <a:solidFill>
            <a:srgbClr val="1B2540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A4E0815-0C77-4A6E-ACC4-7B48ED0D1BC5}"/>
              </a:ext>
            </a:extLst>
          </p:cNvPr>
          <p:cNvSpPr txBox="1"/>
          <p:nvPr/>
        </p:nvSpPr>
        <p:spPr>
          <a:xfrm>
            <a:off x="1066800" y="4000500"/>
            <a:ext cx="462915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1F5F9"/>
                </a:solidFill>
                <a:latin typeface="PingFang SC"/>
                <a:ea typeface="PingFang SC"/>
              </a:rPr>
              <a:t>指令微调 </a:t>
            </a:r>
            <a:r>
              <a:rPr sz="1400">
                <a:solidFill>
                  <a:srgbClr val="93A5C4"/>
                </a:solidFill>
                <a:latin typeface="Helvetica Neue"/>
                <a:ea typeface="Helvetica Neue"/>
              </a:rPr>
              <a:t>Instruction Fine-tuning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B06115F-A1A0-46A5-9E3B-9C5B0B2B7ACC}"/>
              </a:ext>
            </a:extLst>
          </p:cNvPr>
          <p:cNvSpPr txBox="1"/>
          <p:nvPr/>
        </p:nvSpPr>
        <p:spPr>
          <a:xfrm>
            <a:off x="1066800" y="4362450"/>
            <a:ext cx="462915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标注数据集由“指令−答案”对组成，如翻译任务中的“原文−正确译文”；目标是让模型学会遵循人类指令。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1A11118-9F01-46A9-B722-2D3AF5EC84CE}"/>
              </a:ext>
            </a:extLst>
          </p:cNvPr>
          <p:cNvSpPr/>
          <p:nvPr/>
        </p:nvSpPr>
        <p:spPr>
          <a:xfrm>
            <a:off x="6191250" y="3771900"/>
            <a:ext cx="5238750" cy="1809750"/>
          </a:xfrm>
          <a:prstGeom prst="roundRect">
            <a:avLst/>
          </a:prstGeom>
          <a:solidFill>
            <a:srgbClr val="1B2540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A5AE2A7-2D1C-4471-8B7B-42E0E4E0EB76}"/>
              </a:ext>
            </a:extLst>
          </p:cNvPr>
          <p:cNvSpPr txBox="1"/>
          <p:nvPr/>
        </p:nvSpPr>
        <p:spPr>
          <a:xfrm>
            <a:off x="6496050" y="4000500"/>
            <a:ext cx="462915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1F5F9"/>
                </a:solidFill>
                <a:latin typeface="PingFang SC"/>
                <a:ea typeface="PingFang SC"/>
              </a:rPr>
              <a:t>分类任务微调 </a:t>
            </a:r>
            <a:r>
              <a:rPr sz="1400">
                <a:solidFill>
                  <a:srgbClr val="93A5C4"/>
                </a:solidFill>
                <a:latin typeface="Helvetica Neue"/>
                <a:ea typeface="Helvetica Neue"/>
              </a:rPr>
              <a:t>Classification Fine-tuning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8893879-409D-4FFA-B2E9-F0B06B0D7FB7}"/>
              </a:ext>
            </a:extLst>
          </p:cNvPr>
          <p:cNvSpPr txBox="1"/>
          <p:nvPr/>
        </p:nvSpPr>
        <p:spPr>
          <a:xfrm>
            <a:off x="6496050" y="4362450"/>
            <a:ext cx="462915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标注数据集由文本及其类别标签组成，如被标记为“垃圾邮件 / 非垃圾邮件”的邮件文本。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4955C4A-CF97-44F4-80DF-9AAE7AEEB181}"/>
              </a:ext>
            </a:extLst>
          </p:cNvPr>
          <p:cNvSpPr/>
          <p:nvPr/>
        </p:nvSpPr>
        <p:spPr>
          <a:xfrm>
            <a:off x="762000" y="5810250"/>
            <a:ext cx="10668000" cy="5524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为什么从零构建？｜</a:t>
            </a:r>
            <a:r>
              <a:rPr sz="1300">
                <a:solidFill>
                  <a:srgbClr val="F1F5F9"/>
                </a:solidFill>
                <a:latin typeface="PingFang SC"/>
                <a:ea typeface="PingFang SC"/>
              </a:rPr>
              <a:t>深入理解机制与局限 · 领域定制性能可超通用模型 · 数据隐私可控 · 可本地部署、降低延迟与成本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5FDD541-1B2B-488A-B69A-95E700E2E377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1.4 · Transformer 架构介绍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BB06548-BA24-444A-A3CA-9D8F3D7CC5AF}"/>
              </a:ext>
            </a:extLst>
          </p:cNvPr>
          <p:cNvSpPr txBox="1"/>
          <p:nvPr/>
        </p:nvSpPr>
        <p:spPr>
          <a:xfrm>
            <a:off x="762000" y="647700"/>
            <a:ext cx="10668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Transformer：编码器 − 解码器架构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C6BC418-9C53-4245-9F5C-F9AE7D31D584}"/>
              </a:ext>
            </a:extLst>
          </p:cNvPr>
          <p:cNvSpPr txBox="1"/>
          <p:nvPr/>
        </p:nvSpPr>
        <p:spPr>
          <a:xfrm>
            <a:off x="762000" y="1295400"/>
            <a:ext cx="106680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93A5C4"/>
                </a:solidFill>
                <a:latin typeface="PingFang SC"/>
                <a:ea typeface="PingFang SC"/>
              </a:rPr>
              <a:t>2017 年谷歌论文《Attention Is All You Need》提出，最初为机器翻译任务而设计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E8560AD-AD4E-4655-BEE2-3D5CA2443710}"/>
              </a:ext>
            </a:extLst>
          </p:cNvPr>
          <p:cNvSpPr/>
          <p:nvPr/>
        </p:nvSpPr>
        <p:spPr>
          <a:xfrm>
            <a:off x="762000" y="1714500"/>
            <a:ext cx="4095750" cy="3333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3ABE4A8-C1C0-4C91-B2AA-FDD5343BCB92}"/>
              </a:ext>
            </a:extLst>
          </p:cNvPr>
          <p:cNvSpPr txBox="1"/>
          <p:nvPr/>
        </p:nvSpPr>
        <p:spPr>
          <a:xfrm>
            <a:off x="1104900" y="1981200"/>
            <a:ext cx="34099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编码器 Encoder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8AEDD6-379A-475C-A038-C3C61AE3AC9B}"/>
              </a:ext>
            </a:extLst>
          </p:cNvPr>
          <p:cNvSpPr txBox="1"/>
          <p:nvPr/>
        </p:nvSpPr>
        <p:spPr>
          <a:xfrm>
            <a:off x="1104900" y="2381250"/>
            <a:ext cx="3409950" cy="2571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处理输入文本，将其编码为捕捉上下文信息的数值表示（文本嵌入）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由多层组成，层间通过自注意力机制连接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为下游生成提供语义表示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30703F-8AD0-4D1F-B5E8-E2AA71248C16}"/>
              </a:ext>
            </a:extLst>
          </p:cNvPr>
          <p:cNvSpPr txBox="1"/>
          <p:nvPr/>
        </p:nvSpPr>
        <p:spPr>
          <a:xfrm>
            <a:off x="4762500" y="2838450"/>
            <a:ext cx="12382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93A5C4"/>
                </a:solidFill>
                <a:latin typeface="PingFang SC"/>
                <a:ea typeface="PingFang SC"/>
              </a:rPr>
              <a:t>文本嵌入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4AE4F62-9EC0-4FBC-93C7-650E4C927020}"/>
              </a:ext>
            </a:extLst>
          </p:cNvPr>
          <p:cNvSpPr/>
          <p:nvPr/>
        </p:nvSpPr>
        <p:spPr>
          <a:xfrm>
            <a:off x="5048250" y="3143250"/>
            <a:ext cx="666750" cy="47625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4724737-A339-43EC-BAB5-8204F9E58647}"/>
              </a:ext>
            </a:extLst>
          </p:cNvPr>
          <p:cNvSpPr/>
          <p:nvPr/>
        </p:nvSpPr>
        <p:spPr>
          <a:xfrm>
            <a:off x="5905500" y="1714500"/>
            <a:ext cx="4095750" cy="333375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317B1E-153F-4899-ABF0-DD7F8CEC782B}"/>
              </a:ext>
            </a:extLst>
          </p:cNvPr>
          <p:cNvSpPr txBox="1"/>
          <p:nvPr/>
        </p:nvSpPr>
        <p:spPr>
          <a:xfrm>
            <a:off x="6248400" y="1981200"/>
            <a:ext cx="340995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38BDF8"/>
                </a:solidFill>
                <a:latin typeface="PingFang SC"/>
                <a:ea typeface="PingFang SC"/>
              </a:rPr>
              <a:t>解码器 Decoder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A5E3FB-34D7-49C1-9929-A2DB50524CCA}"/>
              </a:ext>
            </a:extLst>
          </p:cNvPr>
          <p:cNvSpPr txBox="1"/>
          <p:nvPr/>
        </p:nvSpPr>
        <p:spPr>
          <a:xfrm>
            <a:off x="6248400" y="2381250"/>
            <a:ext cx="3409950" cy="2571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接收编码向量，据此逐词生成输出文本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翻译示例：This is an example → Das ist ein Beispiel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编码器与解码器协同完成序列到序列任务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63CC93A-CD1D-4882-A541-44ECBB02B4B6}"/>
              </a:ext>
            </a:extLst>
          </p:cNvPr>
          <p:cNvSpPr/>
          <p:nvPr/>
        </p:nvSpPr>
        <p:spPr>
          <a:xfrm>
            <a:off x="762000" y="5295900"/>
            <a:ext cx="10668000" cy="1143000"/>
          </a:xfrm>
          <a:prstGeom prst="roundRect">
            <a:avLst/>
          </a:prstGeom>
          <a:solidFill>
            <a:srgbClr val="223154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EEB19B-79C3-4A00-A12B-6BA779427C46}"/>
              </a:ext>
            </a:extLst>
          </p:cNvPr>
          <p:cNvSpPr txBox="1"/>
          <p:nvPr/>
        </p:nvSpPr>
        <p:spPr>
          <a:xfrm>
            <a:off x="1104900" y="5486400"/>
            <a:ext cx="9982200" cy="2857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BBF24"/>
                </a:solidFill>
                <a:latin typeface="PingFang SC"/>
                <a:ea typeface="PingFang SC"/>
              </a:rPr>
              <a:t>核心组件：自注意力机制 Self-Attention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651C99-5FCE-4FF4-994B-774D1C4D7095}"/>
              </a:ext>
            </a:extLst>
          </p:cNvPr>
          <p:cNvSpPr txBox="1"/>
          <p:nvPr/>
        </p:nvSpPr>
        <p:spPr>
          <a:xfrm>
            <a:off x="1104900" y="5829300"/>
            <a:ext cx="9982200" cy="2857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让模型衡量序列中不同词元之间的相对重要性，捕捉长距离依赖与上下文关系。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0FA9A6-91BC-4D3D-9679-278A784E23FC}"/>
              </a:ext>
            </a:extLst>
          </p:cNvPr>
          <p:cNvSpPr txBox="1"/>
          <p:nvPr/>
        </p:nvSpPr>
        <p:spPr>
          <a:xfrm>
            <a:off x="1104900" y="6115050"/>
            <a:ext cx="9982200" cy="2857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这一机制是 Transformer 与大语言模型成功的关键，本书第 3 章将逐步实现。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C0EB876-E236-43AE-A8E6-4DC1BBB61A0F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1.4 · 架构的两种分化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877F48-01DC-4797-A79A-27E438D153C4}"/>
              </a:ext>
            </a:extLst>
          </p:cNvPr>
          <p:cNvSpPr txBox="1"/>
          <p:nvPr/>
        </p:nvSpPr>
        <p:spPr>
          <a:xfrm>
            <a:off x="762000" y="647700"/>
            <a:ext cx="10668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同一架构的两种分化：BERT vs GPT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2C5A19C-576B-435B-AC02-7823178CBA2C}"/>
              </a:ext>
            </a:extLst>
          </p:cNvPr>
          <p:cNvSpPr/>
          <p:nvPr/>
        </p:nvSpPr>
        <p:spPr>
          <a:xfrm>
            <a:off x="4667250" y="1409700"/>
            <a:ext cx="2857500" cy="495300"/>
          </a:xfrm>
          <a:prstGeom prst="roundRect">
            <a:avLst/>
          </a:prstGeom>
          <a:solidFill>
            <a:srgbClr val="223154"/>
          </a:solidFill>
          <a:ln w="12700">
            <a:solidFill>
              <a:srgbClr val="38BDF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PingFang SC"/>
                <a:ea typeface="PingFang SC"/>
              </a:rPr>
              <a:t>都源自原始 Transformer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97E20D2-8A3D-4549-A1D1-71CAB18B68B2}"/>
              </a:ext>
            </a:extLst>
          </p:cNvPr>
          <p:cNvCxnSpPr/>
          <p:nvPr/>
        </p:nvCxnSpPr>
        <p:spPr>
          <a:xfrm>
            <a:off x="3238500" y="1905000"/>
            <a:ext cx="2857500" cy="19050"/>
          </a:xfrm>
          <a:prstGeom prst="line">
            <a:avLst/>
          </a:prstGeom>
          <a:ln w="19050" cap="flat">
            <a:solidFill>
              <a:srgbClr val="38BDF8"/>
            </a:solidFill>
          </a:ln>
        </p:spPr>
      </p:cxn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D871241F-AFA0-4D51-9195-1F5C55816080}"/>
              </a:ext>
            </a:extLst>
          </p:cNvPr>
          <p:cNvCxnSpPr/>
          <p:nvPr/>
        </p:nvCxnSpPr>
        <p:spPr>
          <a:xfrm>
            <a:off x="6096000" y="1905000"/>
            <a:ext cx="2857500" cy="19050"/>
          </a:xfrm>
          <a:prstGeom prst="line">
            <a:avLst/>
          </a:prstGeom>
          <a:ln w="19050" cap="flat">
            <a:solidFill>
              <a:srgbClr val="38BDF8"/>
            </a:solidFill>
          </a:ln>
        </p:spPr>
      </p:cxnSp>
      <p:sp>
        <p:nvSpPr>
          <p:cNvPr id="8" name="Shape 8">
            <a:extLst>
              <a:ext uri="{FF2B5EF4-FFF2-40B4-BE49-F238E27FC236}">
                <a16:creationId xmlns:a16="http://schemas.microsoft.com/office/drawing/2014/main" id="{F79527A2-9CF4-42C9-BCD7-88DE2CBF0E8F}"/>
              </a:ext>
            </a:extLst>
          </p:cNvPr>
          <p:cNvSpPr/>
          <p:nvPr/>
        </p:nvSpPr>
        <p:spPr>
          <a:xfrm>
            <a:off x="762000" y="2286000"/>
            <a:ext cx="5143500" cy="32385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D1C838E-35D8-4CFE-A20C-4F60FF4EEDFF}"/>
              </a:ext>
            </a:extLst>
          </p:cNvPr>
          <p:cNvSpPr txBox="1"/>
          <p:nvPr/>
        </p:nvSpPr>
        <p:spPr>
          <a:xfrm>
            <a:off x="1104900" y="2552700"/>
            <a:ext cx="4457700" cy="33528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1F5F9"/>
                </a:solidFill>
                <a:latin typeface="Helvetica Neue"/>
                <a:ea typeface="Helvetica Neue"/>
              </a:rPr>
              <a:t>BERT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6A77E9-8F33-4649-91A0-033ACBF4CE7A}"/>
              </a:ext>
            </a:extLst>
          </p:cNvPr>
          <p:cNvSpPr txBox="1"/>
          <p:nvPr/>
        </p:nvSpPr>
        <p:spPr>
          <a:xfrm>
            <a:off x="1104900" y="2914650"/>
            <a:ext cx="44577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基于编码器 · 掩码词预测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7952339-628B-4B7C-B1FD-17D1DEE8DA84}"/>
              </a:ext>
            </a:extLst>
          </p:cNvPr>
          <p:cNvSpPr txBox="1"/>
          <p:nvPr/>
        </p:nvSpPr>
        <p:spPr>
          <a:xfrm>
            <a:off x="1104900" y="3276600"/>
            <a:ext cx="44577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训练目标：预测句子中被掩码的词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擅长文本分类：情感预测、文档分类等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案例：X（原 Twitter）用它检测有害内容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A298005-3B8A-4FF8-B3BE-EB4CF76C82BF}"/>
              </a:ext>
            </a:extLst>
          </p:cNvPr>
          <p:cNvSpPr/>
          <p:nvPr/>
        </p:nvSpPr>
        <p:spPr>
          <a:xfrm>
            <a:off x="6286500" y="2286000"/>
            <a:ext cx="5143500" cy="32385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A12F7E6-9477-47AA-A866-2FFE91B47DB0}"/>
              </a:ext>
            </a:extLst>
          </p:cNvPr>
          <p:cNvSpPr txBox="1"/>
          <p:nvPr/>
        </p:nvSpPr>
        <p:spPr>
          <a:xfrm>
            <a:off x="6629400" y="2552700"/>
            <a:ext cx="4457700" cy="33528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1F5F9"/>
                </a:solidFill>
                <a:latin typeface="Helvetica Neue"/>
                <a:ea typeface="Helvetica Neue"/>
              </a:rPr>
              <a:t>GPT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1FCB762-E280-4166-B976-96DC16275725}"/>
              </a:ext>
            </a:extLst>
          </p:cNvPr>
          <p:cNvSpPr txBox="1"/>
          <p:nvPr/>
        </p:nvSpPr>
        <p:spPr>
          <a:xfrm>
            <a:off x="6629400" y="2914650"/>
            <a:ext cx="44577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基于解码器 · 文本生成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D0C8B18-5B5B-4A67-92E3-037DBC011F16}"/>
              </a:ext>
            </a:extLst>
          </p:cNvPr>
          <p:cNvSpPr txBox="1"/>
          <p:nvPr/>
        </p:nvSpPr>
        <p:spPr>
          <a:xfrm>
            <a:off x="6629400" y="3276600"/>
            <a:ext cx="44577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侧重生成任务：翻译、摘要、写作、代码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零样本学习：无示例泛化到未见过的任务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少样本学习：从少量示例中学习新任务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6543FB5-2B8D-4C45-A110-5003C677B78F}"/>
              </a:ext>
            </a:extLst>
          </p:cNvPr>
          <p:cNvSpPr/>
          <p:nvPr/>
        </p:nvSpPr>
        <p:spPr>
          <a:xfrm>
            <a:off x="762000" y="5715000"/>
            <a:ext cx="10668000" cy="666750"/>
          </a:xfrm>
          <a:prstGeom prst="roundRect">
            <a:avLst/>
          </a:prstGeom>
          <a:solidFill>
            <a:srgbClr val="1B2540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9C5DFB7-930E-410D-8C4D-D434B20141D7}"/>
              </a:ext>
            </a:extLst>
          </p:cNvPr>
          <p:cNvSpPr txBox="1"/>
          <p:nvPr/>
        </p:nvSpPr>
        <p:spPr>
          <a:xfrm>
            <a:off x="1104900" y="5829300"/>
            <a:ext cx="99822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零样本学习｜</a:t>
            </a: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不提供任何示例，直接泛化到从未见过的任务。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6AA4AFB-7939-4175-9E17-6EFD08B2CEAD}"/>
              </a:ext>
            </a:extLst>
          </p:cNvPr>
          <p:cNvSpPr txBox="1"/>
          <p:nvPr/>
        </p:nvSpPr>
        <p:spPr>
          <a:xfrm>
            <a:off x="1104900" y="6096000"/>
            <a:ext cx="99822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少样本学习｜</a:t>
            </a: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在输入中提供少量目标示例，帮助模型执行新任务。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39C7EB9-D592-457E-857A-4B32350CCB99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1.5 · 利用大型数据集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E961EB1-C416-4B5E-8CC1-75920F9B51E6}"/>
              </a:ext>
            </a:extLst>
          </p:cNvPr>
          <p:cNvSpPr txBox="1"/>
          <p:nvPr/>
        </p:nvSpPr>
        <p:spPr>
          <a:xfrm>
            <a:off x="762000" y="647700"/>
            <a:ext cx="10668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规模与多样性：GPT-3 的预训练数据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B8640A1-0BB5-4C75-919E-1A4A6E6F9DD2}"/>
              </a:ext>
            </a:extLst>
          </p:cNvPr>
          <p:cNvSpPr/>
          <p:nvPr/>
        </p:nvSpPr>
        <p:spPr>
          <a:xfrm>
            <a:off x="762000" y="1428750"/>
            <a:ext cx="3429000" cy="1047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AD8D66-AF28-4CFA-A844-5C3AED79A273}"/>
              </a:ext>
            </a:extLst>
          </p:cNvPr>
          <p:cNvSpPr txBox="1"/>
          <p:nvPr/>
        </p:nvSpPr>
        <p:spPr>
          <a:xfrm>
            <a:off x="1028700" y="1619250"/>
            <a:ext cx="289560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38BDF8"/>
                </a:solidFill>
                <a:latin typeface="Helvetica Neue"/>
                <a:ea typeface="Helvetica Neue"/>
              </a:rPr>
              <a:t>4990 亿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765E9F-D0EA-450A-8EC2-29AEC2FBB920}"/>
              </a:ext>
            </a:extLst>
          </p:cNvPr>
          <p:cNvSpPr txBox="1"/>
          <p:nvPr/>
        </p:nvSpPr>
        <p:spPr>
          <a:xfrm>
            <a:off x="1028700" y="2076450"/>
            <a:ext cx="28956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93A5C4"/>
                </a:solidFill>
                <a:latin typeface="PingFang SC"/>
                <a:ea typeface="PingFang SC"/>
              </a:rPr>
              <a:t>训练语料总词元量（合计）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B450CD6-A8C0-43EB-8629-7221EB1FD10F}"/>
              </a:ext>
            </a:extLst>
          </p:cNvPr>
          <p:cNvSpPr/>
          <p:nvPr/>
        </p:nvSpPr>
        <p:spPr>
          <a:xfrm>
            <a:off x="4381500" y="1428750"/>
            <a:ext cx="3429000" cy="1047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1567B80-FB04-46CC-85F8-66283761FB87}"/>
              </a:ext>
            </a:extLst>
          </p:cNvPr>
          <p:cNvSpPr txBox="1"/>
          <p:nvPr/>
        </p:nvSpPr>
        <p:spPr>
          <a:xfrm>
            <a:off x="4648200" y="1619250"/>
            <a:ext cx="289560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38BDF8"/>
                </a:solidFill>
                <a:latin typeface="Helvetica Neue"/>
                <a:ea typeface="Helvetica Neue"/>
              </a:rPr>
              <a:t>3000 亿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D6CD2B-4620-4379-B362-62F4B93B6780}"/>
              </a:ext>
            </a:extLst>
          </p:cNvPr>
          <p:cNvSpPr txBox="1"/>
          <p:nvPr/>
        </p:nvSpPr>
        <p:spPr>
          <a:xfrm>
            <a:off x="4648200" y="2076450"/>
            <a:ext cx="28956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93A5C4"/>
                </a:solidFill>
                <a:latin typeface="PingFang SC"/>
                <a:ea typeface="PingFang SC"/>
              </a:rPr>
              <a:t>实际训练使用的词元量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433D09B-BE98-46E9-BB27-9AF8C66B9381}"/>
              </a:ext>
            </a:extLst>
          </p:cNvPr>
          <p:cNvSpPr/>
          <p:nvPr/>
        </p:nvSpPr>
        <p:spPr>
          <a:xfrm>
            <a:off x="8001000" y="1428750"/>
            <a:ext cx="3429000" cy="10477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5454C2-10DE-426E-8000-503AD51B0578}"/>
              </a:ext>
            </a:extLst>
          </p:cNvPr>
          <p:cNvSpPr txBox="1"/>
          <p:nvPr/>
        </p:nvSpPr>
        <p:spPr>
          <a:xfrm>
            <a:off x="8267700" y="1619250"/>
            <a:ext cx="2895600" cy="42672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FBBF24"/>
                </a:solidFill>
                <a:latin typeface="Helvetica Neue"/>
                <a:ea typeface="Helvetica Neue"/>
              </a:rPr>
              <a:t>≈460 万美元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4946B38-E4FE-42F3-B1EA-CB049F957AE8}"/>
              </a:ext>
            </a:extLst>
          </p:cNvPr>
          <p:cNvSpPr txBox="1"/>
          <p:nvPr/>
        </p:nvSpPr>
        <p:spPr>
          <a:xfrm>
            <a:off x="8267700" y="2076450"/>
            <a:ext cx="28956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93A5C4"/>
                </a:solidFill>
                <a:latin typeface="PingFang SC"/>
                <a:ea typeface="PingFang SC"/>
              </a:rPr>
              <a:t>预训练云计算成本（估计）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746855E-158F-49A1-8AC5-C5404D2397D3}"/>
              </a:ext>
            </a:extLst>
          </p:cNvPr>
          <p:cNvSpPr txBox="1"/>
          <p:nvPr/>
        </p:nvSpPr>
        <p:spPr>
          <a:xfrm>
            <a:off x="762000" y="6096000"/>
            <a:ext cx="106680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>
                <a:solidFill>
                  <a:srgbClr val="93A5C4"/>
                </a:solidFill>
                <a:latin typeface="PingFang SC"/>
                <a:ea typeface="PingFang SC"/>
              </a:rPr>
              <a:t>词元（token）是模型读取文本的基本单位，数量大致等同于单词与标点之和；CommonCrawl 约 4100 亿词元，需约 570 GB 存储。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93A5C4"/>
                </a:solidFill>
                <a:latin typeface="PingFang SC"/>
                <a:ea typeface="PingFang SC"/>
              </a:rPr>
              <a:t>GPT-3 未公开训练数据，可参考开放语料库 Dolma（3 万亿词元）；后续模型（如 Llama）还纳入了论文与代码问答等数据源。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F4E79D0C-ECCA-4D7E-9B39-236D0F161D6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761500"/>
          <a:ext cx="106680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00500"/>
                <a:gridCol w="2286000"/>
                <a:gridCol w="20955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F5F9"/>
                          </a:solidFill>
                        </a:rPr>
                        <a:t>数据集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  <a:solidFill>
                      <a:srgbClr val="223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F5F9"/>
                          </a:solidFill>
                        </a:rPr>
                        <a:t>描述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  <a:solidFill>
                      <a:srgbClr val="223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F5F9"/>
                          </a:solidFill>
                        </a:rPr>
                        <a:t>词元数量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  <a:solidFill>
                      <a:srgbClr val="223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F5F9"/>
                          </a:solidFill>
                        </a:rPr>
                        <a:t>训练数据中的占比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  <a:solidFill>
                      <a:srgbClr val="22315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</a:rPr>
                        <a:t>CommonCrawl（过滤后）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7D2E8"/>
                          </a:solidFill>
                        </a:rPr>
                        <a:t>网络抓取数据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4100 亿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60%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</a:rPr>
                        <a:t>WebText2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7D2E8"/>
                          </a:solidFill>
                        </a:rPr>
                        <a:t>网络抓取数据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190 亿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22%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</a:rPr>
                        <a:t>Books1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7D2E8"/>
                          </a:solidFill>
                        </a:rPr>
                        <a:t>基于互联网的图书语料库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120 亿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8%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</a:rPr>
                        <a:t>Books2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7D2E8"/>
                          </a:solidFill>
                        </a:rPr>
                        <a:t>基于互联网的图书语料库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550 亿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8%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1F5F9"/>
                          </a:solidFill>
                        </a:rPr>
                        <a:t>Wikipedia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7D2E8"/>
                          </a:solidFill>
                        </a:rPr>
                        <a:t>高质量文本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30 亿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7D2E8"/>
                          </a:solidFill>
                        </a:rPr>
                        <a:t>3%</a:t>
                      </a:r>
                    </a:p>
                  </a:txBody>
                  <a:tcPr>
                    <a:lnL w="9525">
                      <a:solidFill>
                        <a:srgbClr val="2E3B5C"/>
                      </a:solidFill>
                    </a:lnL>
                    <a:lnR w="9525">
                      <a:solidFill>
                        <a:srgbClr val="2E3B5C"/>
                      </a:solidFill>
                    </a:lnR>
                    <a:lnT w="9525">
                      <a:solidFill>
                        <a:srgbClr val="2E3B5C"/>
                      </a:solidFill>
                    </a:lnT>
                    <a:lnB w="9525">
                      <a:solidFill>
                        <a:srgbClr val="2E3B5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BC100EB-5D9E-40C9-8F35-5DE9BD3780D2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1.6 · 深入剖析 GPT 架构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71ABD8-4650-44BC-937A-C69EE1FCE8BF}"/>
              </a:ext>
            </a:extLst>
          </p:cNvPr>
          <p:cNvSpPr txBox="1"/>
          <p:nvPr/>
        </p:nvSpPr>
        <p:spPr>
          <a:xfrm>
            <a:off x="762000" y="647700"/>
            <a:ext cx="9525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纯解码器：更简单，也更强大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A3E9E80-F205-4F19-A115-FB925ED04662}"/>
              </a:ext>
            </a:extLst>
          </p:cNvPr>
          <p:cNvSpPr/>
          <p:nvPr/>
        </p:nvSpPr>
        <p:spPr>
          <a:xfrm>
            <a:off x="762000" y="1619250"/>
            <a:ext cx="4000500" cy="4191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3564FCB-316D-4333-866A-1AF9A1B25D24}"/>
              </a:ext>
            </a:extLst>
          </p:cNvPr>
          <p:cNvSpPr txBox="1"/>
          <p:nvPr/>
        </p:nvSpPr>
        <p:spPr>
          <a:xfrm>
            <a:off x="1066800" y="2057400"/>
            <a:ext cx="3390900" cy="1143000"/>
          </a:xfrm>
        </p:spPr>
        <p:txBody>
          <a:bodyPr wrap="square" rtlCol="0" lIns="0" tIns="0" rIns="0" bIns="0" anchor="t"/>
          <a:lstStyle/>
          <a:p>
            <a:r>
              <a:rPr sz="6400" b="1">
                <a:solidFill>
                  <a:srgbClr val="38BDF8"/>
                </a:solidFill>
                <a:latin typeface="Helvetica Neue"/>
                <a:ea typeface="Helvetica Neue"/>
              </a:rPr>
              <a:t>1750 亿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97682B-4A4A-447D-A8C1-0BC834FE42B7}"/>
              </a:ext>
            </a:extLst>
          </p:cNvPr>
          <p:cNvSpPr txBox="1"/>
          <p:nvPr/>
        </p:nvSpPr>
        <p:spPr>
          <a:xfrm>
            <a:off x="1066800" y="3276600"/>
            <a:ext cx="339090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93A5C4"/>
                </a:solidFill>
                <a:latin typeface="PingFang SC"/>
                <a:ea typeface="PingFang SC"/>
              </a:rPr>
              <a:t>GPT-3 参数量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F5916DC-CF50-4C81-AD0A-476E4AF19F48}"/>
              </a:ext>
            </a:extLst>
          </p:cNvPr>
          <p:cNvSpPr/>
          <p:nvPr/>
        </p:nvSpPr>
        <p:spPr>
          <a:xfrm>
            <a:off x="1066800" y="3695700"/>
            <a:ext cx="3390900" cy="19050"/>
          </a:xfrm>
          <a:prstGeom prst="rect">
            <a:avLst/>
          </a:prstGeom>
          <a:solidFill>
            <a:srgbClr val="2E3B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5BE2F6-C520-4F65-9245-F6DDF1288ED1}"/>
              </a:ext>
            </a:extLst>
          </p:cNvPr>
          <p:cNvSpPr txBox="1"/>
          <p:nvPr/>
        </p:nvSpPr>
        <p:spPr>
          <a:xfrm>
            <a:off x="1066800" y="3886200"/>
            <a:ext cx="3390900" cy="62865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F1F5F9"/>
                </a:solidFill>
                <a:latin typeface="Helvetica Neue"/>
                <a:ea typeface="Helvetica Neue"/>
              </a:rPr>
              <a:t>96 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9B151F-CFBD-4053-9115-9FBE40101588}"/>
              </a:ext>
            </a:extLst>
          </p:cNvPr>
          <p:cNvSpPr txBox="1"/>
          <p:nvPr/>
        </p:nvSpPr>
        <p:spPr>
          <a:xfrm>
            <a:off x="1066800" y="4552950"/>
            <a:ext cx="3390900" cy="24765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93A5C4"/>
                </a:solidFill>
                <a:latin typeface="PingFang SC"/>
                <a:ea typeface="PingFang SC"/>
              </a:rPr>
              <a:t>Transformer 层数（原始模型仅 6 层）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5E10460-3C27-4773-9182-9985D6C38C83}"/>
              </a:ext>
            </a:extLst>
          </p:cNvPr>
          <p:cNvSpPr txBox="1"/>
          <p:nvPr/>
        </p:nvSpPr>
        <p:spPr>
          <a:xfrm>
            <a:off x="5143500" y="1771650"/>
            <a:ext cx="6286500" cy="40957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50">
                <a:solidFill>
                  <a:srgbClr val="C7D2E8"/>
                </a:solidFill>
                <a:latin typeface="PingFang SC"/>
                <a:ea typeface="PingFang SC"/>
              </a:rPr>
              <a:t>仅保留 Transformer 的解码器部分：单向、从左到右的架构，专为文本生成与下一词预测而设计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50">
                <a:solidFill>
                  <a:srgbClr val="C7D2E8"/>
                </a:solidFill>
                <a:latin typeface="PingFang SC"/>
                <a:ea typeface="PingFang SC"/>
              </a:rPr>
              <a:t>自回归模型（Autoregressive）：把之前的输出作为下一步预测的输入，逐词生成，保证文本一致性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50">
                <a:solidFill>
                  <a:srgbClr val="C7D2E8"/>
                </a:solidFill>
                <a:latin typeface="PingFang SC"/>
                <a:ea typeface="PingFang SC"/>
              </a:rPr>
              <a:t>预训练任务仍是自监督的下一词预测：用文本自身的下一个词作为标签，无需人工标注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50" b="1">
                <a:solidFill>
                  <a:srgbClr val="FBBF24"/>
                </a:solidFill>
                <a:latin typeface="PingFang SC"/>
                <a:ea typeface="PingFang SC"/>
              </a:rPr>
              <a:t>涌现能力（Emergence）｜</a:t>
            </a:r>
            <a:r>
              <a:rPr sz="1350">
                <a:solidFill>
                  <a:srgbClr val="C7D2E8"/>
                </a:solidFill>
                <a:latin typeface="PingFang SC"/>
                <a:ea typeface="PingFang SC"/>
              </a:rPr>
              <a:t>未经专门翻译训练也能完成翻译——广泛接触多语言数据的自然结果</a:t>
            </a: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C7D2E8"/>
                </a:solidFill>
                <a:latin typeface="PingFang SC"/>
                <a:ea typeface="PingFang SC"/>
              </a:rPr>
              <a:t>GPT-3（2020）奠定了基本理念；Meta 的 Llama 等后续架构仍基于相同理念，仅作少量调整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BC4E3B0-C95B-4369-A383-CD2DF607A4AF}"/>
              </a:ext>
            </a:extLst>
          </p:cNvPr>
          <p:cNvSpPr txBox="1"/>
          <p:nvPr/>
        </p:nvSpPr>
        <p:spPr>
          <a:xfrm>
            <a:off x="762000" y="381000"/>
            <a:ext cx="66675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1.7 · 构建大语言模型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F2AB7E-0E98-4E15-AD3C-FC1C064448A1}"/>
              </a:ext>
            </a:extLst>
          </p:cNvPr>
          <p:cNvSpPr txBox="1"/>
          <p:nvPr/>
        </p:nvSpPr>
        <p:spPr>
          <a:xfrm>
            <a:off x="762000" y="647700"/>
            <a:ext cx="85725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从零构建的三阶段路线图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A16BBE9-BA68-4D9C-8FED-EDCC05E9F30B}"/>
              </a:ext>
            </a:extLst>
          </p:cNvPr>
          <p:cNvSpPr/>
          <p:nvPr/>
        </p:nvSpPr>
        <p:spPr>
          <a:xfrm>
            <a:off x="762000" y="2667000"/>
            <a:ext cx="3238500" cy="3048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D89131-020F-4842-B5D8-8976E812CEE1}"/>
              </a:ext>
            </a:extLst>
          </p:cNvPr>
          <p:cNvSpPr txBox="1"/>
          <p:nvPr/>
        </p:nvSpPr>
        <p:spPr>
          <a:xfrm>
            <a:off x="1066800" y="2895600"/>
            <a:ext cx="571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38BDF8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167FA6-D7EC-4AB0-80B5-6739A4B894E3}"/>
              </a:ext>
            </a:extLst>
          </p:cNvPr>
          <p:cNvSpPr txBox="1"/>
          <p:nvPr/>
        </p:nvSpPr>
        <p:spPr>
          <a:xfrm>
            <a:off x="1066800" y="3543300"/>
            <a:ext cx="262890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1F5F9"/>
                </a:solidFill>
                <a:latin typeface="PingFang SC"/>
                <a:ea typeface="PingFang SC"/>
              </a:rPr>
              <a:t>实现架构与准备数据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108ABA-70F5-4FF0-9761-5AA985062DC2}"/>
              </a:ext>
            </a:extLst>
          </p:cNvPr>
          <p:cNvSpPr txBox="1"/>
          <p:nvPr/>
        </p:nvSpPr>
        <p:spPr>
          <a:xfrm>
            <a:off x="1066800" y="3905250"/>
            <a:ext cx="2628900" cy="11049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学习文本预处理的基本流程；实现大语言模型的核心组件——注意力机制。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9064125-63FD-4666-9484-02226BB4E357}"/>
              </a:ext>
            </a:extLst>
          </p:cNvPr>
          <p:cNvSpPr/>
          <p:nvPr/>
        </p:nvSpPr>
        <p:spPr>
          <a:xfrm>
            <a:off x="1066800" y="5105400"/>
            <a:ext cx="1428750" cy="3429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对应第 2–3 章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832EB45-ADD2-4E4A-8FFD-5BE2779FE788}"/>
              </a:ext>
            </a:extLst>
          </p:cNvPr>
          <p:cNvSpPr/>
          <p:nvPr/>
        </p:nvSpPr>
        <p:spPr>
          <a:xfrm>
            <a:off x="4048125" y="4038600"/>
            <a:ext cx="381000" cy="3048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15D7C58-CEE9-4FF6-9A26-18026D84E5B3}"/>
              </a:ext>
            </a:extLst>
          </p:cNvPr>
          <p:cNvSpPr/>
          <p:nvPr/>
        </p:nvSpPr>
        <p:spPr>
          <a:xfrm>
            <a:off x="4476750" y="2190750"/>
            <a:ext cx="3238500" cy="352425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DD892D8-3F85-4F88-85AE-D1364633B7A3}"/>
              </a:ext>
            </a:extLst>
          </p:cNvPr>
          <p:cNvSpPr txBox="1"/>
          <p:nvPr/>
        </p:nvSpPr>
        <p:spPr>
          <a:xfrm>
            <a:off x="4781550" y="2419350"/>
            <a:ext cx="571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38BDF8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BD1EF3-A23E-41D6-806E-A3A5CD6F7069}"/>
              </a:ext>
            </a:extLst>
          </p:cNvPr>
          <p:cNvSpPr txBox="1"/>
          <p:nvPr/>
        </p:nvSpPr>
        <p:spPr>
          <a:xfrm>
            <a:off x="4781550" y="3067050"/>
            <a:ext cx="262890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1F5F9"/>
                </a:solidFill>
                <a:latin typeface="PingFang SC"/>
                <a:ea typeface="PingFang SC"/>
              </a:rPr>
              <a:t>预训练基础模型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105B741-2C47-458E-BBF5-47E10B6CC4EB}"/>
              </a:ext>
            </a:extLst>
          </p:cNvPr>
          <p:cNvSpPr txBox="1"/>
          <p:nvPr/>
        </p:nvSpPr>
        <p:spPr>
          <a:xfrm>
            <a:off x="4781550" y="3429000"/>
            <a:ext cx="2628900" cy="15811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编写预训练代码，从头预训练能生成新文本的类 GPT 模型并学习评估方法；教学用小规模数据集，消费级硬件可运行，也可加载公开权重跳过昂贵预训练。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01A726D-93C4-47B1-8D54-10A2E677717D}"/>
              </a:ext>
            </a:extLst>
          </p:cNvPr>
          <p:cNvSpPr/>
          <p:nvPr/>
        </p:nvSpPr>
        <p:spPr>
          <a:xfrm>
            <a:off x="4781550" y="5105400"/>
            <a:ext cx="1428750" cy="3429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对应第 4–5 章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A3EA197-DE7F-4116-9218-F193D96FA6B7}"/>
              </a:ext>
            </a:extLst>
          </p:cNvPr>
          <p:cNvSpPr/>
          <p:nvPr/>
        </p:nvSpPr>
        <p:spPr>
          <a:xfrm>
            <a:off x="7762875" y="4038600"/>
            <a:ext cx="381000" cy="3048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3E6F3FB-D0D7-40DE-8C27-BDD6AE96CAE8}"/>
              </a:ext>
            </a:extLst>
          </p:cNvPr>
          <p:cNvSpPr/>
          <p:nvPr/>
        </p:nvSpPr>
        <p:spPr>
          <a:xfrm>
            <a:off x="8191500" y="1714500"/>
            <a:ext cx="3238500" cy="40005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70313FF-7C62-4F1C-B299-4FBC0B167577}"/>
              </a:ext>
            </a:extLst>
          </p:cNvPr>
          <p:cNvSpPr txBox="1"/>
          <p:nvPr/>
        </p:nvSpPr>
        <p:spPr>
          <a:xfrm>
            <a:off x="8496300" y="1943100"/>
            <a:ext cx="571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38BDF8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9207415-9289-447F-9CBE-63BCADDB4DE4}"/>
              </a:ext>
            </a:extLst>
          </p:cNvPr>
          <p:cNvSpPr txBox="1"/>
          <p:nvPr/>
        </p:nvSpPr>
        <p:spPr>
          <a:xfrm>
            <a:off x="8496300" y="2590800"/>
            <a:ext cx="2628900" cy="28575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1F5F9"/>
                </a:solidFill>
                <a:latin typeface="PingFang SC"/>
                <a:ea typeface="PingFang SC"/>
              </a:rPr>
              <a:t>微调为应用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5AC3E31-CF5B-4D68-AB38-F6E789583D3A}"/>
              </a:ext>
            </a:extLst>
          </p:cNvPr>
          <p:cNvSpPr txBox="1"/>
          <p:nvPr/>
        </p:nvSpPr>
        <p:spPr>
          <a:xfrm>
            <a:off x="8496300" y="2952750"/>
            <a:ext cx="2628900" cy="20193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7D2E8"/>
                </a:solidFill>
                <a:latin typeface="PingFang SC"/>
                <a:ea typeface="PingFang SC"/>
              </a:rPr>
              <a:t>对预训练基础模型进行微调：指令微调得到能回答查询的个人助手，分类微调得到文本分类器——满足真实应用与研究需求。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C57469C-FC00-40DB-A0DD-B4E0C05942BA}"/>
              </a:ext>
            </a:extLst>
          </p:cNvPr>
          <p:cNvSpPr/>
          <p:nvPr/>
        </p:nvSpPr>
        <p:spPr>
          <a:xfrm>
            <a:off x="8496300" y="5105400"/>
            <a:ext cx="1428750" cy="3429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对应第 6–7 章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5065727-8D94-4664-9FF0-700B56DC35E4}"/>
              </a:ext>
            </a:extLst>
          </p:cNvPr>
          <p:cNvSpPr/>
          <p:nvPr/>
        </p:nvSpPr>
        <p:spPr>
          <a:xfrm>
            <a:off x="762000" y="6096000"/>
            <a:ext cx="10668000" cy="457200"/>
          </a:xfrm>
          <a:prstGeom prst="roundRect">
            <a:avLst/>
          </a:prstGeom>
          <a:solidFill>
            <a:srgbClr val="1B2540"/>
          </a:solidFill>
          <a:ln w="12700">
            <a:solidFill>
              <a:srgbClr val="2E3B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教育目的｜</a:t>
            </a:r>
            <a:r>
              <a:rPr sz="1300">
                <a:solidFill>
                  <a:srgbClr val="F1F5F9"/>
                </a:solidFill>
                <a:latin typeface="PingFang SC"/>
                <a:ea typeface="PingFang SC"/>
              </a:rPr>
              <a:t>所有计算都可在消费级硬件上执行，并提供加载公开可用模型权重的示例代码。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9898231-1303-4987-9D7D-6321A61C647A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1.8 · 小结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924585-C193-41D8-932E-A4F0B043A5E9}"/>
              </a:ext>
            </a:extLst>
          </p:cNvPr>
          <p:cNvSpPr txBox="1"/>
          <p:nvPr/>
        </p:nvSpPr>
        <p:spPr>
          <a:xfrm>
            <a:off x="762000" y="647700"/>
            <a:ext cx="85725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本章要点回顾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8BAB6AD-2216-4854-92EE-49AEDA0D197F}"/>
              </a:ext>
            </a:extLst>
          </p:cNvPr>
          <p:cNvSpPr/>
          <p:nvPr/>
        </p:nvSpPr>
        <p:spPr>
          <a:xfrm>
            <a:off x="762000" y="163830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D87AC27-A3FA-43EE-BAD5-EF7230233AB5}"/>
              </a:ext>
            </a:extLst>
          </p:cNvPr>
          <p:cNvSpPr txBox="1"/>
          <p:nvPr/>
        </p:nvSpPr>
        <p:spPr>
          <a:xfrm>
            <a:off x="1181100" y="1619250"/>
            <a:ext cx="48196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大语言模型彻底革新了 NLP：从明确规则的系统与简单统计方法，走向基于深度学习的新方法。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2D8C9AB-0BF5-482D-B27F-73C9B38EF83D}"/>
              </a:ext>
            </a:extLst>
          </p:cNvPr>
          <p:cNvSpPr/>
          <p:nvPr/>
        </p:nvSpPr>
        <p:spPr>
          <a:xfrm>
            <a:off x="762000" y="257175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2BFCE21-DDD2-4386-B1A3-768A33BBCCD1}"/>
              </a:ext>
            </a:extLst>
          </p:cNvPr>
          <p:cNvSpPr txBox="1"/>
          <p:nvPr/>
        </p:nvSpPr>
        <p:spPr>
          <a:xfrm>
            <a:off x="1181100" y="2552700"/>
            <a:ext cx="48196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两阶段训练：先在海量无标注文本上预训练（以下一个词为标签），再在小规模标注数据上微调。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CBEFE2C-BFF4-4CFF-9BC4-A55E3E189B85}"/>
              </a:ext>
            </a:extLst>
          </p:cNvPr>
          <p:cNvSpPr/>
          <p:nvPr/>
        </p:nvSpPr>
        <p:spPr>
          <a:xfrm>
            <a:off x="762000" y="350520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7EE42ED-09B3-45BF-A0C8-A926CC7F5B71}"/>
              </a:ext>
            </a:extLst>
          </p:cNvPr>
          <p:cNvSpPr txBox="1"/>
          <p:nvPr/>
        </p:nvSpPr>
        <p:spPr>
          <a:xfrm>
            <a:off x="1181100" y="3486150"/>
            <a:ext cx="48196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核心架构是 Transformer：注意力机制让模型逐词生成时能选择性关注输入的不同部分。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5ED9D44-17C8-48B0-B7FD-8C7AD80EDF29}"/>
              </a:ext>
            </a:extLst>
          </p:cNvPr>
          <p:cNvSpPr/>
          <p:nvPr/>
        </p:nvSpPr>
        <p:spPr>
          <a:xfrm>
            <a:off x="762000" y="443865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02DC674-3A2C-439D-9AAA-BB1E73F1E49C}"/>
              </a:ext>
            </a:extLst>
          </p:cNvPr>
          <p:cNvSpPr txBox="1"/>
          <p:nvPr/>
        </p:nvSpPr>
        <p:spPr>
          <a:xfrm>
            <a:off x="1181100" y="4419600"/>
            <a:ext cx="48196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原始 Transformer 由编码器（解析文本）与解码器（生成文本）组成；GPT 类模型只实现解码器。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763F940-DB34-4A0F-9DB2-2E3800860384}"/>
              </a:ext>
            </a:extLst>
          </p:cNvPr>
          <p:cNvSpPr/>
          <p:nvPr/>
        </p:nvSpPr>
        <p:spPr>
          <a:xfrm>
            <a:off x="6191250" y="163830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B72803-974B-49A8-9675-B7B0821BDA9D}"/>
              </a:ext>
            </a:extLst>
          </p:cNvPr>
          <p:cNvSpPr txBox="1"/>
          <p:nvPr/>
        </p:nvSpPr>
        <p:spPr>
          <a:xfrm>
            <a:off x="6610350" y="1619250"/>
            <a:ext cx="46291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由数十亿词元构成的大型数据集，是预训练大语言模型的关键。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F12E82A-EFBC-4DBD-A635-3898ADF250A2}"/>
              </a:ext>
            </a:extLst>
          </p:cNvPr>
          <p:cNvSpPr/>
          <p:nvPr/>
        </p:nvSpPr>
        <p:spPr>
          <a:xfrm>
            <a:off x="6191250" y="257175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88AA44D-0934-41BA-A6BF-68F32C4DAE12}"/>
              </a:ext>
            </a:extLst>
          </p:cNvPr>
          <p:cNvSpPr txBox="1"/>
          <p:nvPr/>
        </p:nvSpPr>
        <p:spPr>
          <a:xfrm>
            <a:off x="6610350" y="2552700"/>
            <a:ext cx="46291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涌现特性：仅训练下一词预测，却能完成分类、翻译、总结等未经专门训练的任务。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048CFAE-0F1D-4730-8FBD-CB93273AF607}"/>
              </a:ext>
            </a:extLst>
          </p:cNvPr>
          <p:cNvSpPr/>
          <p:nvPr/>
        </p:nvSpPr>
        <p:spPr>
          <a:xfrm>
            <a:off x="6191250" y="3505200"/>
            <a:ext cx="3048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7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5954BA3-0B6E-47BD-B26F-7B467181E618}"/>
              </a:ext>
            </a:extLst>
          </p:cNvPr>
          <p:cNvSpPr txBox="1"/>
          <p:nvPr/>
        </p:nvSpPr>
        <p:spPr>
          <a:xfrm>
            <a:off x="6610350" y="3486150"/>
            <a:ext cx="462915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预训练模型可作为基础模型被高效微调；在自定义数据集上微调可在特定任务上超越通用模型。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33BA112-7889-4869-AE3C-F0BFFD056CE8}"/>
              </a:ext>
            </a:extLst>
          </p:cNvPr>
          <p:cNvSpPr/>
          <p:nvPr/>
        </p:nvSpPr>
        <p:spPr>
          <a:xfrm>
            <a:off x="6191250" y="4438650"/>
            <a:ext cx="5238750" cy="1143000"/>
          </a:xfrm>
          <a:prstGeom prst="roundRect">
            <a:avLst/>
          </a:prstGeom>
          <a:solidFill>
            <a:srgbClr val="223154"/>
          </a:solidFill>
          <a:ln w="127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B54957C-B18E-4D59-89B0-A2FC01863DD2}"/>
              </a:ext>
            </a:extLst>
          </p:cNvPr>
          <p:cNvSpPr txBox="1"/>
          <p:nvPr/>
        </p:nvSpPr>
        <p:spPr>
          <a:xfrm>
            <a:off x="6496050" y="4629150"/>
            <a:ext cx="4629150" cy="7620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38BDF8"/>
                </a:solidFill>
                <a:latin typeface="PingFang SC"/>
                <a:ea typeface="PingFang SC"/>
              </a:rPr>
              <a:t>一句话总结｜</a:t>
            </a: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LLM ＝ Transformer 解码器 ＋ 海量数据上的下一词预测 ＋ 针对任务的微调。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9E453AE-9258-45B1-A455-F2CBC92928CB}"/>
              </a:ext>
            </a:extLst>
          </p:cNvPr>
          <p:cNvSpPr txBox="1"/>
          <p:nvPr/>
        </p:nvSpPr>
        <p:spPr>
          <a:xfrm>
            <a:off x="762000" y="3810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38BDF8"/>
                </a:solidFill>
                <a:latin typeface="PingFang SC"/>
                <a:ea typeface="PingFang SC"/>
              </a:rPr>
              <a:t>第 1 章 · 完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3E526B2-572A-4D21-A6E1-8ABFAA4C792B}"/>
              </a:ext>
            </a:extLst>
          </p:cNvPr>
          <p:cNvSpPr txBox="1"/>
          <p:nvPr/>
        </p:nvSpPr>
        <p:spPr>
          <a:xfrm>
            <a:off x="762000" y="647700"/>
            <a:ext cx="5715000" cy="5905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1F5F9"/>
                </a:solidFill>
                <a:latin typeface="PingFang SC"/>
                <a:ea typeface="PingFang SC"/>
              </a:rPr>
              <a:t>课后思考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6BF7B68-C7E6-413A-B1BE-9D5674F0E9F0}"/>
              </a:ext>
            </a:extLst>
          </p:cNvPr>
          <p:cNvSpPr/>
          <p:nvPr/>
        </p:nvSpPr>
        <p:spPr>
          <a:xfrm>
            <a:off x="762000" y="1714500"/>
            <a:ext cx="6096000" cy="13335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BFA693C-99DB-4897-9139-577DA84E5BEA}"/>
              </a:ext>
            </a:extLst>
          </p:cNvPr>
          <p:cNvSpPr/>
          <p:nvPr/>
        </p:nvSpPr>
        <p:spPr>
          <a:xfrm>
            <a:off x="1066800" y="1943100"/>
            <a:ext cx="4572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Q1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948C7C1-BEA7-470F-B7FA-FEC58D544218}"/>
              </a:ext>
            </a:extLst>
          </p:cNvPr>
          <p:cNvSpPr txBox="1"/>
          <p:nvPr/>
        </p:nvSpPr>
        <p:spPr>
          <a:xfrm>
            <a:off x="1676400" y="1943100"/>
            <a:ext cx="48768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为什么简单的“下一词预测”任务，能孕育出翻译、写代码等强大能力？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55B2CD9-AC3A-45F9-BFF0-5F7F8671042A}"/>
              </a:ext>
            </a:extLst>
          </p:cNvPr>
          <p:cNvSpPr/>
          <p:nvPr/>
        </p:nvSpPr>
        <p:spPr>
          <a:xfrm>
            <a:off x="762000" y="3200400"/>
            <a:ext cx="6096000" cy="13335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4081B47-3C30-45F6-9041-2A8D5E079238}"/>
              </a:ext>
            </a:extLst>
          </p:cNvPr>
          <p:cNvSpPr/>
          <p:nvPr/>
        </p:nvSpPr>
        <p:spPr>
          <a:xfrm>
            <a:off x="1066800" y="3429000"/>
            <a:ext cx="4572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Q2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272689-0099-4D1C-B25F-53114ACDB524}"/>
              </a:ext>
            </a:extLst>
          </p:cNvPr>
          <p:cNvSpPr txBox="1"/>
          <p:nvPr/>
        </p:nvSpPr>
        <p:spPr>
          <a:xfrm>
            <a:off x="1676400" y="3429000"/>
            <a:ext cx="48768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定制大语言模型与直接调用通用 API 相比，优势与代价分别是什么？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E979752-D534-4D3E-925D-9801AEDE5567}"/>
              </a:ext>
            </a:extLst>
          </p:cNvPr>
          <p:cNvSpPr/>
          <p:nvPr/>
        </p:nvSpPr>
        <p:spPr>
          <a:xfrm>
            <a:off x="762000" y="4686300"/>
            <a:ext cx="6096000" cy="13335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E3B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A40B778-F241-4A53-9E0B-6FE79BD39D73}"/>
              </a:ext>
            </a:extLst>
          </p:cNvPr>
          <p:cNvSpPr/>
          <p:nvPr/>
        </p:nvSpPr>
        <p:spPr>
          <a:xfrm>
            <a:off x="1066800" y="4914900"/>
            <a:ext cx="457200" cy="304800"/>
          </a:xfrm>
          <a:prstGeom prst="roundRect">
            <a:avLst/>
          </a:prstGeom>
          <a:solidFill>
            <a:srgbClr val="223154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Helvetica Neue"/>
                <a:ea typeface="Helvetica Neue"/>
              </a:rPr>
              <a:t>Q3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465C228-641B-4595-85E8-B6B2B274AC9C}"/>
              </a:ext>
            </a:extLst>
          </p:cNvPr>
          <p:cNvSpPr txBox="1"/>
          <p:nvPr/>
        </p:nvSpPr>
        <p:spPr>
          <a:xfrm>
            <a:off x="1676400" y="4914900"/>
            <a:ext cx="48768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F1F5F9"/>
                </a:solidFill>
                <a:latin typeface="PingFang SC"/>
                <a:ea typeface="PingFang SC"/>
              </a:rPr>
              <a:t>为什么 BERT 适合文本分类任务，而 GPT 适合文本生成任务？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493E47A-3968-4D40-A67F-3D2556DC9371}"/>
              </a:ext>
            </a:extLst>
          </p:cNvPr>
          <p:cNvSpPr/>
          <p:nvPr/>
        </p:nvSpPr>
        <p:spPr>
          <a:xfrm>
            <a:off x="7239000" y="1714500"/>
            <a:ext cx="4191000" cy="4305300"/>
          </a:xfrm>
          <a:prstGeom prst="roundRect">
            <a:avLst/>
          </a:prstGeom>
          <a:solidFill>
            <a:srgbClr val="223154"/>
          </a:solidFill>
          <a:ln w="127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033119-4573-4030-8B89-2FF358EB6C37}"/>
              </a:ext>
            </a:extLst>
          </p:cNvPr>
          <p:cNvSpPr txBox="1"/>
          <p:nvPr/>
        </p:nvSpPr>
        <p:spPr>
          <a:xfrm>
            <a:off x="7543800" y="2019300"/>
            <a:ext cx="35814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38BDF8"/>
                </a:solidFill>
                <a:latin typeface="PingFang SC"/>
                <a:ea typeface="PingFang SC"/>
              </a:rPr>
              <a:t>下章预告 · 第 2 章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405AE25-76AD-4EF6-80F5-9E029604A140}"/>
              </a:ext>
            </a:extLst>
          </p:cNvPr>
          <p:cNvSpPr txBox="1"/>
          <p:nvPr/>
        </p:nvSpPr>
        <p:spPr>
          <a:xfrm>
            <a:off x="7543800" y="2343150"/>
            <a:ext cx="3581400" cy="4191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1F5F9"/>
                </a:solidFill>
                <a:latin typeface="PingFang SC"/>
                <a:ea typeface="PingFang SC"/>
              </a:rPr>
              <a:t>处理文本数据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3CAC4FD-A9E1-4042-BF9A-77631C1094A1}"/>
              </a:ext>
            </a:extLst>
          </p:cNvPr>
          <p:cNvSpPr txBox="1"/>
          <p:nvPr/>
        </p:nvSpPr>
        <p:spPr>
          <a:xfrm>
            <a:off x="7543800" y="2952750"/>
            <a:ext cx="3581400" cy="2762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理解词嵌入：把文字变成数字向量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文本分词：字符串 → 词元 → 词元 ID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字节对编码（BPE）：处理未知单词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使用滑动窗口进行数据采样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C7D2E8"/>
                </a:solidFill>
                <a:latin typeface="PingFang SC"/>
                <a:ea typeface="PingFang SC"/>
              </a:rPr>
              <a:t>创建词元嵌入与位置编码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EC6184C-AE44-4C87-A6BA-58DE9BA41A65}"/>
              </a:ext>
            </a:extLst>
          </p:cNvPr>
          <p:cNvSpPr/>
          <p:nvPr/>
        </p:nvSpPr>
        <p:spPr>
          <a:xfrm>
            <a:off x="762000" y="6286500"/>
            <a:ext cx="10668000" cy="19050"/>
          </a:xfrm>
          <a:prstGeom prst="rect">
            <a:avLst/>
          </a:prstGeom>
          <a:solidFill>
            <a:srgbClr val="2E3B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10062F1-632F-4D49-B13E-D98913A5AB05}"/>
              </a:ext>
            </a:extLst>
          </p:cNvPr>
          <p:cNvSpPr txBox="1"/>
          <p:nvPr/>
        </p:nvSpPr>
        <p:spPr>
          <a:xfrm>
            <a:off x="762000" y="6438900"/>
            <a:ext cx="106680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7C8DB0"/>
                </a:solidFill>
                <a:latin typeface="PingFang SC"/>
                <a:ea typeface="PingFang SC"/>
              </a:rPr>
              <a:t>《从零构建大模型》教学课件 · 第 1 章完 · 下一章：处理文本数据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