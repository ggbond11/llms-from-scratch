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9334500" y="0"/>
            <a:ext cx="2857500" cy="2476500"/>
          </a:xfrm>
          <a:prstGeom prst="ellipse">
            <a:avLst/>
          </a:prstGeom>
          <a:solidFill>
            <a:srgbClr val="131F3A"/>
          </a:solidFill>
        </p:spPr>
        <p:txBody>
          <a:bodyPr wrap="square" rtlCol="0"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5143500"/>
            <a:ext cx="2095500" cy="1714500"/>
          </a:xfrm>
          <a:prstGeom prst="ellipse">
            <a:avLst/>
          </a:prstGeom>
          <a:solidFill>
            <a:srgbClr val="101A33"/>
          </a:solidFill>
        </p:spPr>
        <p:txBody>
          <a:bodyPr wrap="square" rtlCol="0"/>
          <a:lstStyle/>
          <a:p/>
        </p:txBody>
      </p:sp>
      <p:sp>
        <p:nvSpPr>
          <p:cNvPr id="5" name="Shape 5"/>
          <p:cNvSpPr/>
          <p:nvPr/>
        </p:nvSpPr>
        <p:spPr>
          <a:xfrm>
            <a:off x="2714625" y="1409700"/>
            <a:ext cx="1066800" cy="933450"/>
          </a:xfrm>
          <a:prstGeom prst="hexagon">
            <a:avLst/>
          </a:prstGeom>
          <a:solidFill>
            <a:srgbClr val="14264A"/>
          </a:solidFill>
          <a:ln w="19050">
            <a:solidFill>
              <a:srgbClr val="38BDF8"/>
            </a:solidFill>
          </a:ln>
        </p:spPr>
        <p:txBody>
          <a:bodyPr wrap="square" rtlCol="0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533400" y="2019300"/>
            <a:ext cx="4000500" cy="3524250"/>
          </a:xfrm>
        </p:spPr>
        <p:txBody>
          <a:bodyPr wrap="square" lIns="0" tIns="0" rIns="0" bIns="0" rtlCol="0" anchor="t"/>
          <a:lstStyle/>
          <a:p>
            <a:pPr algn="l"/>
            <a:r>
              <a:rPr sz="16000" b="1">
                <a:solidFill>
                  <a:srgbClr val="1C2B4E"/>
                </a:solidFill>
                <a:latin typeface="Helvetica Neue" panose="02000503000000020004"/>
                <a:ea typeface="Helvetica Neue" panose="02000503000000020004"/>
              </a:rPr>
              <a:t>06</a:t>
            </a:r>
            <a:endParaRPr sz="16000" b="1">
              <a:solidFill>
                <a:srgbClr val="1C2B4E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953000" y="1981200"/>
            <a:ext cx="6096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6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第 6 章 · CHAPTER 6</a:t>
            </a:r>
            <a:endParaRPr sz="16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914900" y="2362200"/>
            <a:ext cx="6858000" cy="1028700"/>
          </a:xfrm>
        </p:spPr>
        <p:txBody>
          <a:bodyPr wrap="square" lIns="0" tIns="0" rIns="0" bIns="0" rtlCol="0" anchor="t"/>
          <a:lstStyle/>
          <a:p>
            <a:pPr algn="l"/>
            <a:r>
              <a:rPr sz="5600" b="1">
                <a:solidFill>
                  <a:srgbClr val="F2F6FD"/>
                </a:solidFill>
                <a:latin typeface="PingFang SC" panose="020B0400000000000000" charset="-122"/>
                <a:ea typeface="PingFang SC" panose="020B0400000000000000" charset="-122"/>
              </a:rPr>
              <a:t>针对分类的微调</a:t>
            </a:r>
            <a:endParaRPr sz="5600" b="1">
              <a:solidFill>
                <a:srgbClr val="F2F6FD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953000" y="3562350"/>
            <a:ext cx="6667500" cy="304800"/>
          </a:xfrm>
        </p:spPr>
        <p:txBody>
          <a:bodyPr wrap="square" lIns="0" tIns="0" rIns="0" bIns="0" rtlCol="0" anchor="t"/>
          <a:lstStyle/>
          <a:p>
            <a:pPr algn="l"/>
            <a:r>
              <a:rPr sz="2000">
                <a:solidFill>
                  <a:srgbClr val="8FA3C8"/>
                </a:solidFill>
                <a:latin typeface="Helvetica Neue" panose="02000503000000020004"/>
                <a:ea typeface="Helvetica Neue" panose="02000503000000020004"/>
              </a:rPr>
              <a:t>Fine-Tuning for Classification</a:t>
            </a:r>
            <a:endParaRPr sz="2000">
              <a:solidFill>
                <a:srgbClr val="8FA3C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4953000" y="4057650"/>
            <a:ext cx="5905500" cy="9525"/>
          </a:xfrm>
          <a:prstGeom prst="rect">
            <a:avLst/>
          </a:prstGeom>
          <a:solidFill>
            <a:srgbClr val="2A3A5C"/>
          </a:solidFill>
        </p:spPr>
        <p:txBody>
          <a:bodyPr wrap="square" rtlCol="0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4953000" y="4286250"/>
            <a:ext cx="66675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500">
                <a:solidFill>
                  <a:srgbClr val="A8B8D8"/>
                </a:solidFill>
                <a:latin typeface="PingFang SC" panose="020B0400000000000000" charset="-122"/>
                <a:ea typeface="PingFang SC" panose="020B0400000000000000" charset="-122"/>
              </a:rPr>
              <a:t>《从零构建大模型》 Build a Large Language Model (From Scratch)</a:t>
            </a:r>
            <a:endParaRPr sz="1500">
              <a:solidFill>
                <a:srgbClr val="A8B8D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953000" y="4591050"/>
            <a:ext cx="6667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7E8FB5"/>
                </a:solidFill>
                <a:latin typeface="PingFang SC" panose="020B0400000000000000" charset="-122"/>
                <a:ea typeface="PingFang SC" panose="020B0400000000000000" charset="-122"/>
              </a:rPr>
              <a:t>Sebastian Raschka 著 · 覃立波、冯晓骋、刘乾 译</a:t>
            </a:r>
            <a:endParaRPr sz="1300">
              <a:solidFill>
                <a:srgbClr val="7E8FB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953000" y="5981700"/>
            <a:ext cx="40005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教学课件 · 第六章</a:t>
            </a:r>
            <a:endParaRPr sz="13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763000" y="5981700"/>
            <a:ext cx="2819400" cy="209550"/>
          </a:xfrm>
        </p:spPr>
        <p:txBody>
          <a:bodyPr wrap="square" lIns="0" tIns="0" rIns="0" bIns="0" rtlCol="0" anchor="t"/>
          <a:lstStyle/>
          <a:p>
            <a:pPr algn="r"/>
            <a:r>
              <a:rPr sz="12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LLM FROM SCRATCH</a:t>
            </a:r>
            <a:endParaRPr sz="12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3810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本章导览 · LEARNING GOALS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704850"/>
            <a:ext cx="8572500" cy="514350"/>
          </a:xfrm>
        </p:spPr>
        <p:txBody>
          <a:bodyPr wrap="square" lIns="0" tIns="0" rIns="0" bIns="0" rtlCol="0" anchor="t"/>
          <a:lstStyle/>
          <a:p>
            <a:pPr algn="l"/>
            <a:r>
              <a:rPr sz="3000" b="1">
                <a:solidFill>
                  <a:srgbClr val="F2F6FD"/>
                </a:solidFill>
                <a:latin typeface="PingFang SC" panose="020B0400000000000000" charset="-122"/>
                <a:ea typeface="PingFang SC" panose="020B0400000000000000" charset="-122"/>
              </a:rPr>
              <a:t>学习目标</a:t>
            </a:r>
            <a:endParaRPr sz="3000" b="1">
              <a:solidFill>
                <a:srgbClr val="F2F6FD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34400" y="457200"/>
            <a:ext cx="3048000" cy="19050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LLM FROM SCRATCH · 教学课件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223150"/>
          </a:solidFill>
        </p:spPr>
        <p:txBody>
          <a:bodyPr wrap="square" rtlCol="0"/>
          <a:lstStyle/>
          <a:p/>
        </p:txBody>
      </p:sp>
      <p:sp>
        <p:nvSpPr>
          <p:cNvPr id="7" name="Shape 7"/>
          <p:cNvSpPr/>
          <p:nvPr/>
        </p:nvSpPr>
        <p:spPr>
          <a:xfrm>
            <a:off x="609600" y="1676400"/>
            <a:ext cx="5334000" cy="116205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76300" y="1885950"/>
            <a:ext cx="571500" cy="323850"/>
          </a:xfrm>
        </p:spPr>
        <p:txBody>
          <a:bodyPr wrap="square" lIns="0" tIns="0" rIns="0" bIns="0" rtlCol="0" anchor="t"/>
          <a:lstStyle/>
          <a:p>
            <a:pPr algn="l"/>
            <a:r>
              <a:rPr sz="20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01</a:t>
            </a:r>
            <a:endParaRPr sz="20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24000" y="1905000"/>
            <a:ext cx="4152900" cy="762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了解大语言模型的不同微调方法</a:t>
            </a:r>
            <a:endParaRPr sz="155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</a:pPr>
            <a:r>
              <a:rPr sz="12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分类微调与指令微调的区别与适用场景</a:t>
            </a:r>
            <a:endParaRPr sz="12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6248400" y="1676400"/>
            <a:ext cx="5334000" cy="116205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515100" y="1885950"/>
            <a:ext cx="571500" cy="323850"/>
          </a:xfrm>
        </p:spPr>
        <p:txBody>
          <a:bodyPr wrap="square" lIns="0" tIns="0" rIns="0" bIns="0" rtlCol="0" anchor="t"/>
          <a:lstStyle/>
          <a:p>
            <a:pPr algn="l"/>
            <a:r>
              <a:rPr sz="20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02</a:t>
            </a:r>
            <a:endParaRPr sz="20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162800" y="1905000"/>
            <a:ext cx="4152900" cy="762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为文本分类准备数据集</a:t>
            </a:r>
            <a:endParaRPr sz="155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</a:pPr>
            <a:r>
              <a:rPr sz="12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下载、平衡类别、标签编码与数据集划分</a:t>
            </a:r>
            <a:endParaRPr sz="12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609600" y="3038475"/>
            <a:ext cx="5334000" cy="116205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876300" y="3248025"/>
            <a:ext cx="571500" cy="323850"/>
          </a:xfrm>
        </p:spPr>
        <p:txBody>
          <a:bodyPr wrap="square" lIns="0" tIns="0" rIns="0" bIns="0" rtlCol="0" anchor="t"/>
          <a:lstStyle/>
          <a:p>
            <a:pPr algn="l"/>
            <a:r>
              <a:rPr sz="20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03</a:t>
            </a:r>
            <a:endParaRPr sz="20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524000" y="3267075"/>
            <a:ext cx="4152900" cy="762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创建 PyTorch 数据加载器</a:t>
            </a:r>
            <a:endParaRPr sz="155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</a:pPr>
            <a:r>
              <a:rPr sz="12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填充词元、统一序列长度与批次处理</a:t>
            </a:r>
            <a:endParaRPr sz="12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6248400" y="3038475"/>
            <a:ext cx="5334000" cy="116205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6515100" y="3248025"/>
            <a:ext cx="571500" cy="323850"/>
          </a:xfrm>
        </p:spPr>
        <p:txBody>
          <a:bodyPr wrap="square" lIns="0" tIns="0" rIns="0" bIns="0" rtlCol="0" anchor="t"/>
          <a:lstStyle/>
          <a:p>
            <a:pPr algn="l"/>
            <a:r>
              <a:rPr sz="20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04</a:t>
            </a:r>
            <a:endParaRPr sz="20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162800" y="3267075"/>
            <a:ext cx="4152900" cy="762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修改预训练模型以进行微调</a:t>
            </a:r>
            <a:endParaRPr sz="155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</a:pPr>
            <a:r>
              <a:rPr sz="12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替换输出层（分类头）、冻结与解冻策略</a:t>
            </a:r>
            <a:endParaRPr sz="12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609600" y="4400550"/>
            <a:ext cx="5334000" cy="116205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876300" y="4610100"/>
            <a:ext cx="571500" cy="323850"/>
          </a:xfrm>
        </p:spPr>
        <p:txBody>
          <a:bodyPr wrap="square" lIns="0" tIns="0" rIns="0" bIns="0" rtlCol="0" anchor="t"/>
          <a:lstStyle/>
          <a:p>
            <a:pPr algn="l"/>
            <a:r>
              <a:rPr sz="20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05</a:t>
            </a:r>
            <a:endParaRPr sz="20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524000" y="4629150"/>
            <a:ext cx="4152900" cy="762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微调模型以识别垃圾消息</a:t>
            </a:r>
            <a:endParaRPr sz="155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</a:pPr>
            <a:r>
              <a:rPr sz="12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在有监督数据上训练，使用交叉熵损失</a:t>
            </a:r>
            <a:endParaRPr sz="12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6248400" y="4400550"/>
            <a:ext cx="5334000" cy="116205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6515100" y="4610100"/>
            <a:ext cx="571500" cy="323850"/>
          </a:xfrm>
        </p:spPr>
        <p:txBody>
          <a:bodyPr wrap="square" lIns="0" tIns="0" rIns="0" bIns="0" rtlCol="0" anchor="t"/>
          <a:lstStyle/>
          <a:p>
            <a:pPr algn="l"/>
            <a:r>
              <a:rPr sz="20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06</a:t>
            </a:r>
            <a:endParaRPr sz="20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162800" y="4629150"/>
            <a:ext cx="4152900" cy="762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评估分类准确性并对新数据分类</a:t>
            </a:r>
            <a:endParaRPr sz="155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</a:pPr>
            <a:r>
              <a:rPr sz="12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计算准确率、对新消息推理、保存模型</a:t>
            </a:r>
            <a:endParaRPr sz="12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09600" y="5829300"/>
            <a:ext cx="7620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以上内容对应书中 6.1 – 6.9 节</a:t>
            </a:r>
            <a:endParaRPr sz="12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09600" y="6572250"/>
            <a:ext cx="3810000" cy="1714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第 6 章 · 针对分类的微调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715500" y="6572250"/>
            <a:ext cx="1866900" cy="1714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02 / 23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3810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本章定位 · WHERE WE ARE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704850"/>
            <a:ext cx="8572500" cy="514350"/>
          </a:xfrm>
        </p:spPr>
        <p:txBody>
          <a:bodyPr wrap="square" lIns="0" tIns="0" rIns="0" bIns="0" rtlCol="0" anchor="t"/>
          <a:lstStyle/>
          <a:p>
            <a:pPr algn="l"/>
            <a:r>
              <a:rPr sz="3000" b="1">
                <a:solidFill>
                  <a:srgbClr val="F2F6FD"/>
                </a:solidFill>
                <a:latin typeface="PingFang SC" panose="020B0400000000000000" charset="-122"/>
                <a:ea typeface="PingFang SC" panose="020B0400000000000000" charset="-122"/>
              </a:rPr>
              <a:t>本章在构建大语言模型中的位置</a:t>
            </a:r>
            <a:endParaRPr sz="3000" b="1">
              <a:solidFill>
                <a:srgbClr val="F2F6FD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34400" y="457200"/>
            <a:ext cx="3048000" cy="19050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LLM FROM SCRATCH · 教学课件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223150"/>
          </a:solidFill>
        </p:spPr>
        <p:txBody>
          <a:bodyPr wrap="square" rtlCol="0"/>
          <a:lstStyle/>
          <a:p/>
        </p:txBody>
      </p:sp>
      <p:sp>
        <p:nvSpPr>
          <p:cNvPr id="7" name="Shape 7"/>
          <p:cNvSpPr/>
          <p:nvPr/>
        </p:nvSpPr>
        <p:spPr>
          <a:xfrm>
            <a:off x="609600" y="1809750"/>
            <a:ext cx="3352800" cy="28575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38200" y="2057400"/>
            <a:ext cx="2895600" cy="266700"/>
          </a:xfrm>
        </p:spPr>
        <p:txBody>
          <a:bodyPr wrap="square" lIns="0" tIns="0" rIns="0" bIns="0" rtlCol="0" anchor="t"/>
          <a:lstStyle/>
          <a:p>
            <a:pPr algn="l"/>
            <a:r>
              <a:rPr sz="17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阶段 1 · 预训练</a:t>
            </a:r>
            <a:endParaRPr sz="17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38200" y="2362200"/>
            <a:ext cx="289560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200">
                <a:solidFill>
                  <a:srgbClr val="38BDF8"/>
                </a:solidFill>
                <a:latin typeface="PingFang SC" panose="020B0400000000000000" charset="-122"/>
                <a:ea typeface="PingFang SC" panose="020B0400000000000000" charset="-122"/>
              </a:rPr>
              <a:t>第 1 – 5 章</a:t>
            </a:r>
            <a:endParaRPr sz="1200">
              <a:solidFill>
                <a:srgbClr val="38BD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838200" y="2686050"/>
            <a:ext cx="2895600" cy="9525"/>
          </a:xfrm>
          <a:prstGeom prst="rect">
            <a:avLst/>
          </a:prstGeom>
          <a:solidFill>
            <a:srgbClr val="26375A"/>
          </a:solidFill>
        </p:spPr>
        <p:txBody>
          <a:bodyPr wrap="square" rtlCol="0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38200" y="2730500"/>
            <a:ext cx="2895600" cy="18986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3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理解大语言模型</a:t>
            </a:r>
            <a:endParaRPr sz="13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3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处理文本数据</a:t>
            </a:r>
            <a:endParaRPr sz="13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3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编码注意力机制</a:t>
            </a:r>
            <a:endParaRPr sz="13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3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从头实现 GPT 模型</a:t>
            </a:r>
            <a:endParaRPr sz="13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</a:pPr>
            <a:r>
              <a:rPr sz="13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在无标签数据上预训练</a:t>
            </a:r>
            <a:endParaRPr sz="13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4038600" y="3067050"/>
            <a:ext cx="304800" cy="247650"/>
          </a:xfrm>
          <a:prstGeom prst="rightArrow">
            <a:avLst/>
          </a:prstGeom>
          <a:solidFill>
            <a:srgbClr val="2E3D5C"/>
          </a:solidFill>
        </p:spPr>
        <p:txBody>
          <a:bodyPr wrap="square" rtlCol="0"/>
          <a:lstStyle/>
          <a:p/>
        </p:txBody>
      </p:sp>
      <p:sp>
        <p:nvSpPr>
          <p:cNvPr id="13" name="Shape 13"/>
          <p:cNvSpPr/>
          <p:nvPr/>
        </p:nvSpPr>
        <p:spPr>
          <a:xfrm>
            <a:off x="4419600" y="1809750"/>
            <a:ext cx="3352800" cy="28575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4648200" y="2057400"/>
            <a:ext cx="2895600" cy="266700"/>
          </a:xfrm>
        </p:spPr>
        <p:txBody>
          <a:bodyPr wrap="square" lIns="0" tIns="0" rIns="0" bIns="0" rtlCol="0" anchor="t"/>
          <a:lstStyle/>
          <a:p>
            <a:pPr algn="l"/>
            <a:r>
              <a:rPr sz="17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阶段 2 · 评估与准备</a:t>
            </a:r>
            <a:endParaRPr sz="17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648200" y="2362200"/>
            <a:ext cx="289560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200">
                <a:solidFill>
                  <a:srgbClr val="38BDF8"/>
                </a:solidFill>
                <a:latin typeface="PingFang SC" panose="020B0400000000000000" charset="-122"/>
                <a:ea typeface="PingFang SC" panose="020B0400000000000000" charset="-122"/>
              </a:rPr>
              <a:t>第 5 章</a:t>
            </a:r>
            <a:endParaRPr sz="1200">
              <a:solidFill>
                <a:srgbClr val="38BD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4648200" y="2686050"/>
            <a:ext cx="2895600" cy="9525"/>
          </a:xfrm>
          <a:prstGeom prst="rect">
            <a:avLst/>
          </a:prstGeom>
          <a:solidFill>
            <a:srgbClr val="26375A"/>
          </a:solidFill>
        </p:spPr>
        <p:txBody>
          <a:bodyPr wrap="square" rtlCol="0"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4648200" y="2857500"/>
            <a:ext cx="2895600" cy="1143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3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计算文本生成损失</a:t>
            </a:r>
            <a:endParaRPr sz="13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3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温度缩放与 Top-k 采样</a:t>
            </a:r>
            <a:endParaRPr sz="13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</a:pPr>
            <a:r>
              <a:rPr sz="13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加载 OpenAI 预训练权重</a:t>
            </a:r>
            <a:endParaRPr sz="13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7848600" y="3067050"/>
            <a:ext cx="304800" cy="247650"/>
          </a:xfrm>
          <a:prstGeom prst="rightArrow">
            <a:avLst/>
          </a:prstGeom>
          <a:solidFill>
            <a:srgbClr val="2E3D5C"/>
          </a:solidFill>
        </p:spPr>
        <p:txBody>
          <a:bodyPr wrap="square" rtlCol="0"/>
          <a:lstStyle/>
          <a:p/>
        </p:txBody>
      </p:sp>
      <p:sp>
        <p:nvSpPr>
          <p:cNvPr id="19" name="Shape 19"/>
          <p:cNvSpPr/>
          <p:nvPr/>
        </p:nvSpPr>
        <p:spPr>
          <a:xfrm>
            <a:off x="8229600" y="1809750"/>
            <a:ext cx="3352800" cy="2857500"/>
          </a:xfrm>
          <a:prstGeom prst="roundRect">
            <a:avLst/>
          </a:prstGeom>
          <a:solidFill>
            <a:srgbClr val="14253E"/>
          </a:solidFill>
          <a:ln w="19050">
            <a:solidFill>
              <a:srgbClr val="38BDF8"/>
            </a:solidFill>
          </a:ln>
        </p:spPr>
        <p:txBody>
          <a:bodyPr wrap="square" rtlCol="0"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8458200" y="2057400"/>
            <a:ext cx="2895600" cy="266700"/>
          </a:xfrm>
        </p:spPr>
        <p:txBody>
          <a:bodyPr wrap="square" lIns="0" tIns="0" rIns="0" bIns="0" rtlCol="0" anchor="t"/>
          <a:lstStyle/>
          <a:p>
            <a:pPr algn="l"/>
            <a:r>
              <a:rPr sz="17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阶段 3 · 微调</a:t>
            </a:r>
            <a:endParaRPr sz="17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458200" y="2362200"/>
            <a:ext cx="289560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200" b="1">
                <a:solidFill>
                  <a:srgbClr val="38BDF8"/>
                </a:solidFill>
                <a:latin typeface="PingFang SC" panose="020B0400000000000000" charset="-122"/>
                <a:ea typeface="PingFang SC" panose="020B0400000000000000" charset="-122"/>
              </a:rPr>
              <a:t>第 6 – 7 章</a:t>
            </a:r>
            <a:endParaRPr sz="1200" b="1">
              <a:solidFill>
                <a:srgbClr val="38BD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8458200" y="2686050"/>
            <a:ext cx="2895600" cy="9525"/>
          </a:xfrm>
          <a:prstGeom prst="rect">
            <a:avLst/>
          </a:prstGeom>
          <a:solidFill>
            <a:srgbClr val="2A4568"/>
          </a:solidFill>
        </p:spPr>
        <p:txBody>
          <a:bodyPr wrap="square" rtlCol="0"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8458200" y="2895600"/>
            <a:ext cx="2895600" cy="762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针对分类的微调</a:t>
            </a:r>
            <a:endParaRPr sz="16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本章内容 · 垃圾消息分类</a:t>
            </a:r>
            <a:endParaRPr sz="120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458200" y="3752850"/>
            <a:ext cx="2895600" cy="762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sz="16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针对指令的微调</a:t>
            </a:r>
            <a:endParaRPr sz="16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第 7 章内容</a:t>
            </a:r>
            <a:endParaRPr sz="120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609600" y="5219700"/>
            <a:ext cx="10972800" cy="723900"/>
          </a:xfrm>
          <a:prstGeom prst="roundRect">
            <a:avLst/>
          </a:prstGeom>
          <a:solidFill>
            <a:srgbClr val="14253E"/>
          </a:solidFill>
          <a:ln w="12700">
            <a:solidFill>
              <a:srgbClr val="2A3A5C"/>
            </a:solidFill>
          </a:ln>
        </p:spPr>
        <p:txBody>
          <a:bodyPr wrap="square" rtlCol="0"/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876300" y="5391150"/>
            <a:ext cx="10477500" cy="4191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本章焦点（图 6-1 第 8 步）：</a:t>
            </a:r>
            <a:r>
              <a:rPr sz="1400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在特定目标任务上微调预训练的大语言模型，把通用 GPT 改造为「垃圾消息 / 非垃圾消息」文本分类器</a:t>
            </a:r>
            <a:endParaRPr sz="1400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09600" y="6572250"/>
            <a:ext cx="3810000" cy="1714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第 6 章 · 针对分类的微调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715500" y="6572250"/>
            <a:ext cx="1866900" cy="1714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03 / 23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3810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6.1 不同类型的微调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704850"/>
            <a:ext cx="8572500" cy="514350"/>
          </a:xfrm>
        </p:spPr>
        <p:txBody>
          <a:bodyPr wrap="square" lIns="0" tIns="0" rIns="0" bIns="0" rtlCol="0" anchor="t"/>
          <a:lstStyle/>
          <a:p>
            <a:pPr algn="l"/>
            <a:r>
              <a:rPr sz="3000" b="1">
                <a:solidFill>
                  <a:srgbClr val="F2F6FD"/>
                </a:solidFill>
                <a:latin typeface="PingFang SC" panose="020B0400000000000000" charset="-122"/>
                <a:ea typeface="PingFang SC" panose="020B0400000000000000" charset="-122"/>
              </a:rPr>
              <a:t>指令微调 vs 分类微调</a:t>
            </a:r>
            <a:endParaRPr sz="3000" b="1">
              <a:solidFill>
                <a:srgbClr val="F2F6FD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34400" y="457200"/>
            <a:ext cx="3048000" cy="19050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LLM FROM SCRATCH · 教学课件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223150"/>
          </a:solidFill>
        </p:spPr>
        <p:txBody>
          <a:bodyPr wrap="square" rtlCol="0"/>
          <a:lstStyle/>
          <a:p/>
        </p:txBody>
      </p:sp>
      <p:sp>
        <p:nvSpPr>
          <p:cNvPr id="7" name="Shape 7"/>
          <p:cNvSpPr/>
          <p:nvPr/>
        </p:nvSpPr>
        <p:spPr>
          <a:xfrm>
            <a:off x="609600" y="1600200"/>
            <a:ext cx="5334000" cy="409575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76300" y="1828800"/>
            <a:ext cx="48006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800" b="1">
                <a:solidFill>
                  <a:srgbClr val="38BDF8"/>
                </a:solidFill>
                <a:latin typeface="PingFang SC" panose="020B0400000000000000" charset="-122"/>
                <a:ea typeface="PingFang SC" panose="020B0400000000000000" charset="-122"/>
              </a:rPr>
              <a:t>分类微调</a:t>
            </a:r>
            <a:r>
              <a:rPr sz="12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  Fine-tuning for Classification</a:t>
            </a:r>
            <a:endParaRPr sz="12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9" name="Shape 9"/>
          <p:cNvSpPr/>
          <p:nvPr/>
        </p:nvSpPr>
        <p:spPr>
          <a:xfrm>
            <a:off x="876300" y="2228850"/>
            <a:ext cx="4800600" cy="9525"/>
          </a:xfrm>
          <a:prstGeom prst="rect">
            <a:avLst/>
          </a:prstGeom>
          <a:solidFill>
            <a:srgbClr val="26375A"/>
          </a:solidFill>
        </p:spPr>
        <p:txBody>
          <a:bodyPr wrap="square" rtlCol="0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876300" y="2400300"/>
            <a:ext cx="4800600" cy="7239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定义　</a:t>
            </a:r>
            <a:r>
              <a:rPr sz="13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训练模型识别一组特定的预定义类别标签，如「垃圾消息 / 非垃圾消息」</a:t>
            </a:r>
            <a:endParaRPr sz="13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76300" y="3238500"/>
            <a:ext cx="4800600" cy="7239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输出　</a:t>
            </a:r>
            <a:r>
              <a:rPr sz="13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只能预测训练时见过的类别，不能对输入做其他分析或说明</a:t>
            </a:r>
            <a:endParaRPr sz="13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76300" y="4076700"/>
            <a:ext cx="4800600" cy="7239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任务　</a:t>
            </a:r>
            <a:r>
              <a:rPr sz="13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情感分析、垃圾消息检测、新闻主题分类、医学影像分类等精确分类任务</a:t>
            </a:r>
            <a:endParaRPr sz="13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76300" y="4914900"/>
            <a:ext cx="4800600" cy="571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资源　</a:t>
            </a:r>
            <a:r>
              <a:rPr sz="13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所需数据与算力较少，开发专业化的模型更简单</a:t>
            </a:r>
            <a:endParaRPr sz="13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6248400" y="1600200"/>
            <a:ext cx="5334000" cy="409575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6515100" y="1828800"/>
            <a:ext cx="48006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8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指令微调</a:t>
            </a:r>
            <a:r>
              <a:rPr sz="12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  Instruction Fine-tuning</a:t>
            </a:r>
            <a:endParaRPr sz="12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6515100" y="2228850"/>
            <a:ext cx="4800600" cy="9525"/>
          </a:xfrm>
          <a:prstGeom prst="rect">
            <a:avLst/>
          </a:prstGeom>
          <a:solidFill>
            <a:srgbClr val="26375A"/>
          </a:solidFill>
        </p:spPr>
        <p:txBody>
          <a:bodyPr wrap="square" rtlCol="0"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6515100" y="2400300"/>
            <a:ext cx="4800600" cy="7239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定义　</a:t>
            </a:r>
            <a:r>
              <a:rPr sz="13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用指令数据对一组任务训练，提升模型理解并执行自然语言提示词的能力</a:t>
            </a:r>
            <a:endParaRPr sz="13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515100" y="3238500"/>
            <a:ext cx="4800600" cy="7239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输出　</a:t>
            </a:r>
            <a:r>
              <a:rPr sz="13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可执行多种任务，生成开放式、灵活的响应</a:t>
            </a:r>
            <a:endParaRPr sz="13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515100" y="4076700"/>
            <a:ext cx="4800600" cy="7239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任务　</a:t>
            </a:r>
            <a:r>
              <a:rPr sz="13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需要应对多种任务、依赖复杂用户指令的通用助手场景</a:t>
            </a:r>
            <a:endParaRPr sz="13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515100" y="4914900"/>
            <a:ext cx="4800600" cy="571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资源　</a:t>
            </a:r>
            <a:r>
              <a:rPr sz="13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需要更大的数据集与更多的计算资源</a:t>
            </a:r>
            <a:endParaRPr sz="13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609600" y="5905500"/>
            <a:ext cx="10972800" cy="495300"/>
          </a:xfrm>
          <a:prstGeom prst="roundRect">
            <a:avLst/>
          </a:prstGeom>
          <a:solidFill>
            <a:srgbClr val="14253E"/>
          </a:solidFill>
          <a:ln w="12700">
            <a:solidFill>
              <a:srgbClr val="2A3A5C"/>
            </a:solidFill>
          </a:ln>
        </p:spPr>
        <p:txBody>
          <a:bodyPr wrap="square" rtlCol="0"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876300" y="6029325"/>
            <a:ext cx="10477500" cy="266700"/>
          </a:xfrm>
        </p:spPr>
        <p:txBody>
          <a:bodyPr wrap="square" lIns="0" tIns="0" rIns="0" bIns="0" rtlCol="0" anchor="t"/>
          <a:lstStyle/>
          <a:p>
            <a:pPr algn="l"/>
            <a:r>
              <a:rPr sz="135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关键点：</a:t>
            </a:r>
            <a:r>
              <a:rPr sz="1350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分类微调模型是高度专业化的模型——开发专业化模型比开发多任务通用模型更简单</a:t>
            </a:r>
            <a:endParaRPr sz="1350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09600" y="6572250"/>
            <a:ext cx="3810000" cy="1714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第 6 章 · 针对分类的微调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715500" y="6572250"/>
            <a:ext cx="1866900" cy="1714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04 / 23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3810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6.2 准备数据集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704850"/>
            <a:ext cx="8572500" cy="514350"/>
          </a:xfrm>
        </p:spPr>
        <p:txBody>
          <a:bodyPr wrap="square" lIns="0" tIns="0" rIns="0" bIns="0" rtlCol="0" anchor="t"/>
          <a:lstStyle/>
          <a:p>
            <a:pPr algn="l"/>
            <a:r>
              <a:rPr sz="3000" b="1">
                <a:solidFill>
                  <a:srgbClr val="F2F6FD"/>
                </a:solidFill>
                <a:latin typeface="PingFang SC" panose="020B0400000000000000" charset="-122"/>
                <a:ea typeface="PingFang SC" panose="020B0400000000000000" charset="-122"/>
              </a:rPr>
              <a:t>SMS 垃圾消息数据集</a:t>
            </a:r>
            <a:endParaRPr sz="3000" b="1">
              <a:solidFill>
                <a:srgbClr val="F2F6FD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34400" y="457200"/>
            <a:ext cx="3048000" cy="19050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LLM FROM SCRATCH · 教学课件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223150"/>
          </a:solidFill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09600" y="1638300"/>
            <a:ext cx="4000500" cy="883920"/>
          </a:xfrm>
        </p:spPr>
        <p:txBody>
          <a:bodyPr wrap="square" lIns="0" tIns="0" rIns="0" bIns="0" rtlCol="0" anchor="t"/>
          <a:lstStyle/>
          <a:p>
            <a:pPr algn="l"/>
            <a:r>
              <a:rPr sz="58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5,572</a:t>
            </a:r>
            <a:endParaRPr sz="58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09600" y="2495550"/>
            <a:ext cx="40005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条文本消息</a:t>
            </a:r>
            <a:endParaRPr sz="15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09600" y="2781300"/>
            <a:ext cx="40005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UCI 机器学习库 · SMS Spam Collection</a:t>
            </a:r>
            <a:endParaRPr sz="12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609600" y="3200400"/>
            <a:ext cx="4000500" cy="25146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38200" y="3409950"/>
            <a:ext cx="35433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数据结构</a:t>
            </a:r>
            <a:endParaRPr sz="15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38200" y="3790950"/>
            <a:ext cx="3543300" cy="1714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65000"/>
              </a:lnSpc>
              <a:spcAft>
                <a:spcPts val="600"/>
              </a:spcAft>
            </a:pPr>
            <a:r>
              <a:rPr sz="13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每行 = 一条文本消息 + 类别标签</a:t>
            </a:r>
            <a:endParaRPr sz="13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65000"/>
              </a:lnSpc>
              <a:spcAft>
                <a:spcPts val="600"/>
              </a:spcAft>
            </a:pPr>
            <a:r>
              <a:rPr sz="13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两列：Label（ham / spam）与 Text</a:t>
            </a:r>
            <a:endParaRPr sz="13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65000"/>
              </a:lnSpc>
              <a:spcAft>
                <a:spcPts val="600"/>
              </a:spcAft>
            </a:pPr>
            <a:r>
              <a:rPr sz="13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制表符分隔文件，经 pandas 加载</a:t>
            </a:r>
            <a:endParaRPr sz="13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65000"/>
              </a:lnSpc>
            </a:pPr>
            <a:r>
              <a:rPr sz="13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类别严重不平衡，见右侧分布</a:t>
            </a:r>
            <a:endParaRPr sz="13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4991100" y="1600200"/>
            <a:ext cx="6591300" cy="41148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5219700" y="1828800"/>
            <a:ext cx="6134100" cy="266700"/>
          </a:xfrm>
        </p:spPr>
        <p:txBody>
          <a:bodyPr wrap="square" lIns="0" tIns="0" rIns="0" bIns="0" rtlCol="0" anchor="t"/>
          <a:lstStyle/>
          <a:p>
            <a:pPr algn="l"/>
            <a:r>
              <a:rPr sz="16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类别分布：ham 远多于 spam</a:t>
            </a:r>
            <a:endParaRPr sz="16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219700" y="2247900"/>
            <a:ext cx="61341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ham · 非垃圾消息　</a:t>
            </a:r>
            <a:r>
              <a:rPr sz="13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4,825 条（86.6%）</a:t>
            </a:r>
            <a:endParaRPr sz="13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5219700" y="2533650"/>
            <a:ext cx="5715000" cy="190500"/>
          </a:xfrm>
          <a:prstGeom prst="rect">
            <a:avLst/>
          </a:prstGeom>
          <a:solidFill>
            <a:srgbClr val="1B2946"/>
          </a:solidFill>
        </p:spPr>
        <p:txBody>
          <a:bodyPr wrap="square" rtlCol="0"/>
          <a:lstStyle/>
          <a:p/>
        </p:txBody>
      </p:sp>
      <p:sp>
        <p:nvSpPr>
          <p:cNvPr id="17" name="Shape 17"/>
          <p:cNvSpPr/>
          <p:nvPr/>
        </p:nvSpPr>
        <p:spPr>
          <a:xfrm>
            <a:off x="5219700" y="2533650"/>
            <a:ext cx="4953000" cy="190500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5219700" y="2933700"/>
            <a:ext cx="61341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spam · 垃圾消息　</a:t>
            </a:r>
            <a:r>
              <a:rPr sz="13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747 条（13.4%）</a:t>
            </a:r>
            <a:endParaRPr sz="13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5219700" y="3219450"/>
            <a:ext cx="5715000" cy="190500"/>
          </a:xfrm>
          <a:prstGeom prst="rect">
            <a:avLst/>
          </a:prstGeom>
          <a:solidFill>
            <a:srgbClr val="1B2946"/>
          </a:solidFill>
        </p:spPr>
        <p:txBody>
          <a:bodyPr wrap="square" rtlCol="0"/>
          <a:lstStyle/>
          <a:p/>
        </p:txBody>
      </p:sp>
      <p:sp>
        <p:nvSpPr>
          <p:cNvPr id="20" name="Shape 20"/>
          <p:cNvSpPr/>
          <p:nvPr/>
        </p:nvSpPr>
        <p:spPr>
          <a:xfrm>
            <a:off x="5219700" y="3219450"/>
            <a:ext cx="762000" cy="190500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21" name="Shape 21"/>
          <p:cNvSpPr/>
          <p:nvPr/>
        </p:nvSpPr>
        <p:spPr>
          <a:xfrm>
            <a:off x="5219700" y="3695700"/>
            <a:ext cx="6134100" cy="9525"/>
          </a:xfrm>
          <a:prstGeom prst="rect">
            <a:avLst/>
          </a:prstGeom>
          <a:solidFill>
            <a:srgbClr val="26375A"/>
          </a:solidFill>
        </p:spPr>
        <p:txBody>
          <a:bodyPr wrap="square" rtlCol="0"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5219700" y="3848100"/>
            <a:ext cx="6134100" cy="515112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处理方式：</a:t>
            </a:r>
            <a:r>
              <a:rPr sz="13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对 ham 随机下采样至 747 条，得到平衡数据集 747 / 747（random_state=123，简化并加速微调）</a:t>
            </a:r>
            <a:endParaRPr sz="13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5219700" y="4400550"/>
            <a:ext cx="6134100" cy="1066800"/>
          </a:xfrm>
          <a:prstGeom prst="roundRect">
            <a:avLst/>
          </a:prstGeom>
          <a:solidFill>
            <a:srgbClr val="0D1830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5410200" y="4552950"/>
            <a:ext cx="5753100" cy="8382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print(df["Label"].value_counts())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45000"/>
              </a:lnSpc>
            </a:pPr>
            <a:r>
              <a:rPr sz="1150">
                <a:solidFill>
                  <a:srgbClr val="38BDF8"/>
                </a:solidFill>
                <a:latin typeface="Menlo" panose="020B0609030804020204"/>
                <a:ea typeface="Menlo" panose="020B0609030804020204"/>
              </a:rPr>
              <a:t>ham 4825    spam 747</a:t>
            </a:r>
            <a:endParaRPr sz="1150">
              <a:solidFill>
                <a:srgbClr val="38BDF8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09600" y="6572250"/>
            <a:ext cx="3810000" cy="1714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第 6 章 · 针对分类的微调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715500" y="6572250"/>
            <a:ext cx="1866900" cy="1714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05 / 23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3810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6.2 准备数据集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704850"/>
            <a:ext cx="8572500" cy="514350"/>
          </a:xfrm>
        </p:spPr>
        <p:txBody>
          <a:bodyPr wrap="square" lIns="0" tIns="0" rIns="0" bIns="0" rtlCol="0" anchor="t"/>
          <a:lstStyle/>
          <a:p>
            <a:pPr algn="l"/>
            <a:r>
              <a:rPr sz="3000" b="1">
                <a:solidFill>
                  <a:srgbClr val="F2F6FD"/>
                </a:solidFill>
                <a:latin typeface="PingFang SC" panose="020B0400000000000000" charset="-122"/>
                <a:ea typeface="PingFang SC" panose="020B0400000000000000" charset="-122"/>
              </a:rPr>
              <a:t>数据准备五步流程</a:t>
            </a:r>
            <a:endParaRPr sz="3000" b="1">
              <a:solidFill>
                <a:srgbClr val="F2F6FD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34400" y="457200"/>
            <a:ext cx="3048000" cy="19050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LLM FROM SCRATCH · 教学课件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223150"/>
          </a:solidFill>
        </p:spPr>
        <p:txBody>
          <a:bodyPr wrap="square" rtlCol="0"/>
          <a:lstStyle/>
          <a:p/>
        </p:txBody>
      </p:sp>
      <p:sp>
        <p:nvSpPr>
          <p:cNvPr id="7" name="Shape 7"/>
          <p:cNvSpPr/>
          <p:nvPr/>
        </p:nvSpPr>
        <p:spPr>
          <a:xfrm>
            <a:off x="1600200" y="1990725"/>
            <a:ext cx="8991600" cy="19050"/>
          </a:xfrm>
          <a:prstGeom prst="rect">
            <a:avLst/>
          </a:prstGeom>
          <a:solidFill>
            <a:srgbClr val="26375A"/>
          </a:solidFill>
        </p:spPr>
        <p:txBody>
          <a:bodyPr wrap="square" rtlCol="0"/>
          <a:lstStyle/>
          <a:p/>
        </p:txBody>
      </p:sp>
      <p:sp>
        <p:nvSpPr>
          <p:cNvPr id="8" name="Shape 8"/>
          <p:cNvSpPr/>
          <p:nvPr/>
        </p:nvSpPr>
        <p:spPr>
          <a:xfrm>
            <a:off x="1390650" y="1790700"/>
            <a:ext cx="419100" cy="419100"/>
          </a:xfrm>
          <a:prstGeom prst="ellipse">
            <a:avLst/>
          </a:prstGeom>
          <a:solidFill>
            <a:srgbClr val="182136"/>
          </a:solidFill>
          <a:ln w="19050">
            <a:solidFill>
              <a:srgbClr val="38BDF8"/>
            </a:solidFill>
          </a:ln>
        </p:spPr>
        <p:txBody>
          <a:bodyPr wrap="square" rtlCol="0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1390650" y="1876425"/>
            <a:ext cx="419100" cy="266700"/>
          </a:xfrm>
        </p:spPr>
        <p:txBody>
          <a:bodyPr wrap="square" lIns="0" tIns="0" rIns="0" bIns="0" rtlCol="0" anchor="t"/>
          <a:lstStyle/>
          <a:p>
            <a:pPr algn="ctr"/>
            <a:r>
              <a:rPr sz="16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1</a:t>
            </a:r>
            <a:endParaRPr sz="16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3638550" y="1790700"/>
            <a:ext cx="419100" cy="419100"/>
          </a:xfrm>
          <a:prstGeom prst="ellipse">
            <a:avLst/>
          </a:prstGeom>
          <a:solidFill>
            <a:srgbClr val="182136"/>
          </a:solidFill>
          <a:ln w="19050">
            <a:solidFill>
              <a:srgbClr val="38BDF8"/>
            </a:solidFill>
          </a:ln>
        </p:spPr>
        <p:txBody>
          <a:bodyPr wrap="square" rtlCol="0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3638550" y="1876425"/>
            <a:ext cx="419100" cy="266700"/>
          </a:xfrm>
        </p:spPr>
        <p:txBody>
          <a:bodyPr wrap="square" lIns="0" tIns="0" rIns="0" bIns="0" rtlCol="0" anchor="t"/>
          <a:lstStyle/>
          <a:p>
            <a:pPr algn="ctr"/>
            <a:r>
              <a:rPr sz="16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2</a:t>
            </a:r>
            <a:endParaRPr sz="16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5886450" y="1790700"/>
            <a:ext cx="419100" cy="419100"/>
          </a:xfrm>
          <a:prstGeom prst="ellipse">
            <a:avLst/>
          </a:prstGeom>
          <a:solidFill>
            <a:srgbClr val="182136"/>
          </a:solidFill>
          <a:ln w="19050">
            <a:solidFill>
              <a:srgbClr val="38BDF8"/>
            </a:solidFill>
          </a:ln>
        </p:spPr>
        <p:txBody>
          <a:bodyPr wrap="square" rtlCol="0"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5886450" y="1876425"/>
            <a:ext cx="419100" cy="266700"/>
          </a:xfrm>
        </p:spPr>
        <p:txBody>
          <a:bodyPr wrap="square" lIns="0" tIns="0" rIns="0" bIns="0" rtlCol="0" anchor="t"/>
          <a:lstStyle/>
          <a:p>
            <a:pPr algn="ctr"/>
            <a:r>
              <a:rPr sz="16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3</a:t>
            </a:r>
            <a:endParaRPr sz="16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8134350" y="1790700"/>
            <a:ext cx="419100" cy="419100"/>
          </a:xfrm>
          <a:prstGeom prst="ellipse">
            <a:avLst/>
          </a:prstGeom>
          <a:solidFill>
            <a:srgbClr val="182136"/>
          </a:solidFill>
          <a:ln w="19050">
            <a:solidFill>
              <a:srgbClr val="38BDF8"/>
            </a:solidFill>
          </a:ln>
        </p:spPr>
        <p:txBody>
          <a:bodyPr wrap="square" rtlCol="0"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8134350" y="1876425"/>
            <a:ext cx="419100" cy="266700"/>
          </a:xfrm>
        </p:spPr>
        <p:txBody>
          <a:bodyPr wrap="square" lIns="0" tIns="0" rIns="0" bIns="0" rtlCol="0" anchor="t"/>
          <a:lstStyle/>
          <a:p>
            <a:pPr algn="ctr"/>
            <a:r>
              <a:rPr sz="16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4</a:t>
            </a:r>
            <a:endParaRPr sz="16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10382250" y="1790700"/>
            <a:ext cx="419100" cy="419100"/>
          </a:xfrm>
          <a:prstGeom prst="ellipse">
            <a:avLst/>
          </a:prstGeom>
          <a:solidFill>
            <a:srgbClr val="182136"/>
          </a:solidFill>
          <a:ln w="19050">
            <a:solidFill>
              <a:srgbClr val="38BDF8"/>
            </a:solidFill>
          </a:ln>
        </p:spPr>
        <p:txBody>
          <a:bodyPr wrap="square" rtlCol="0"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10382250" y="1876425"/>
            <a:ext cx="419100" cy="266700"/>
          </a:xfrm>
        </p:spPr>
        <p:txBody>
          <a:bodyPr wrap="square" lIns="0" tIns="0" rIns="0" bIns="0" rtlCol="0" anchor="t"/>
          <a:lstStyle/>
          <a:p>
            <a:pPr algn="ctr"/>
            <a:r>
              <a:rPr sz="16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5</a:t>
            </a:r>
            <a:endParaRPr sz="16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609600" y="2400300"/>
            <a:ext cx="1981200" cy="238125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838200" y="2628900"/>
            <a:ext cx="15240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45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下载与解压</a:t>
            </a:r>
            <a:endParaRPr sz="145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38200" y="2971800"/>
            <a:ext cx="1524000" cy="16002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从 UCI 获取 zip 文件，解压并重命名为 SMSSpamCollection.tsv</a:t>
            </a:r>
            <a:endParaRPr sz="12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2857500" y="2400300"/>
            <a:ext cx="1981200" cy="238125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3086100" y="2628900"/>
            <a:ext cx="15240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45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平衡数据集</a:t>
            </a:r>
            <a:endParaRPr sz="145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086100" y="2971800"/>
            <a:ext cx="1524000" cy="16002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对 ham 随机下采样至 747 条，与 spam 数量一致（random_state=123）</a:t>
            </a:r>
            <a:endParaRPr sz="12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5105400" y="2400300"/>
            <a:ext cx="1981200" cy="238125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5334000" y="2628900"/>
            <a:ext cx="15240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45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标签映射</a:t>
            </a:r>
            <a:endParaRPr sz="145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334000" y="2971800"/>
            <a:ext cx="1524000" cy="16002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ham → 0，spam → 1；类似文本转词元 ID，但词表只有 2 个词元</a:t>
            </a:r>
            <a:endParaRPr sz="12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7353300" y="2400300"/>
            <a:ext cx="1981200" cy="238125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7581900" y="2628900"/>
            <a:ext cx="15240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45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随机划分</a:t>
            </a:r>
            <a:endParaRPr sz="145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581900" y="2971800"/>
            <a:ext cx="1524000" cy="16002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打乱整个 DataFrame 后按 70% / 10% / 20% 拆分训练、验证、测试集</a:t>
            </a:r>
            <a:endParaRPr sz="12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Shape 30"/>
          <p:cNvSpPr/>
          <p:nvPr/>
        </p:nvSpPr>
        <p:spPr>
          <a:xfrm>
            <a:off x="9601200" y="2400300"/>
            <a:ext cx="1981200" cy="238125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31" name="TextBox 31"/>
          <p:cNvSpPr txBox="1"/>
          <p:nvPr/>
        </p:nvSpPr>
        <p:spPr>
          <a:xfrm>
            <a:off x="9829800" y="2628900"/>
            <a:ext cx="15240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45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保存 CSV</a:t>
            </a:r>
            <a:endParaRPr sz="145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829800" y="2971800"/>
            <a:ext cx="1524000" cy="16002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train.csv / validation.csv / test.csv，便于后续复用</a:t>
            </a:r>
            <a:endParaRPr sz="12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3" name="Shape 33"/>
          <p:cNvSpPr/>
          <p:nvPr/>
        </p:nvSpPr>
        <p:spPr>
          <a:xfrm>
            <a:off x="609600" y="5219700"/>
            <a:ext cx="10972800" cy="838200"/>
          </a:xfrm>
          <a:prstGeom prst="roundRect">
            <a:avLst/>
          </a:prstGeom>
          <a:solidFill>
            <a:srgbClr val="14253E"/>
          </a:solidFill>
          <a:ln w="12700">
            <a:solidFill>
              <a:srgbClr val="2A3A5C"/>
            </a:solidFill>
          </a:ln>
        </p:spPr>
        <p:txBody>
          <a:bodyPr wrap="square" rtlCol="0"/>
          <a:lstStyle/>
          <a:p/>
        </p:txBody>
      </p:sp>
      <p:sp>
        <p:nvSpPr>
          <p:cNvPr id="34" name="TextBox 34"/>
          <p:cNvSpPr txBox="1"/>
          <p:nvPr/>
        </p:nvSpPr>
        <p:spPr>
          <a:xfrm>
            <a:off x="876300" y="5429250"/>
            <a:ext cx="10477500" cy="26670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划分结果　</a:t>
            </a:r>
            <a:r>
              <a:rPr sz="1400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平衡后 1,494 条 → 训练集 1,045（70%）· 验证集 149（10%）· 测试集 300（20%）</a:t>
            </a:r>
            <a:endParaRPr sz="1400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76300" y="5715000"/>
            <a:ext cx="104775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0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random_split(balanced_df, 0.7, 0.1)，random_state=123 保证可复现</a:t>
            </a:r>
            <a:endParaRPr sz="120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609600" y="6572250"/>
            <a:ext cx="3810000" cy="1714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第 6 章 · 针对分类的微调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9715500" y="6572250"/>
            <a:ext cx="1866900" cy="1714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06 / 23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3810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6.3 创建数据加载器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704850"/>
            <a:ext cx="8572500" cy="514350"/>
          </a:xfrm>
        </p:spPr>
        <p:txBody>
          <a:bodyPr wrap="square" lIns="0" tIns="0" rIns="0" bIns="0" rtlCol="0" anchor="t"/>
          <a:lstStyle/>
          <a:p>
            <a:pPr algn="l"/>
            <a:r>
              <a:rPr sz="3000" b="1">
                <a:solidFill>
                  <a:srgbClr val="F2F6FD"/>
                </a:solidFill>
                <a:latin typeface="PingFang SC" panose="020B0400000000000000" charset="-122"/>
                <a:ea typeface="PingFang SC" panose="020B0400000000000000" charset="-122"/>
              </a:rPr>
              <a:t>统一序列长度：截断还是填充？</a:t>
            </a:r>
            <a:endParaRPr sz="3000" b="1">
              <a:solidFill>
                <a:srgbClr val="F2F6FD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34400" y="457200"/>
            <a:ext cx="3048000" cy="19050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LLM FROM SCRATCH · 教学课件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223150"/>
          </a:solidFill>
        </p:spPr>
        <p:txBody>
          <a:bodyPr wrap="square" rtlCol="0"/>
          <a:lstStyle/>
          <a:p/>
        </p:txBody>
      </p:sp>
      <p:sp>
        <p:nvSpPr>
          <p:cNvPr id="7" name="Shape 7"/>
          <p:cNvSpPr/>
          <p:nvPr/>
        </p:nvSpPr>
        <p:spPr>
          <a:xfrm>
            <a:off x="609600" y="1600200"/>
            <a:ext cx="5334000" cy="38100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76300" y="1847850"/>
            <a:ext cx="3429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8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方案一 · 截断</a:t>
            </a:r>
            <a:endParaRPr sz="18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4838700" y="1828800"/>
            <a:ext cx="876300" cy="285750"/>
          </a:xfrm>
          <a:prstGeom prst="roundRect">
            <a:avLst/>
          </a:prstGeom>
          <a:solidFill>
            <a:srgbClr val="1B294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838700" y="1876425"/>
            <a:ext cx="876300" cy="209550"/>
          </a:xfrm>
        </p:spPr>
        <p:txBody>
          <a:bodyPr wrap="square" lIns="0" tIns="0" rIns="0" bIns="0" rtlCol="0" anchor="t"/>
          <a:lstStyle/>
          <a:p>
            <a:pPr algn="ctr"/>
            <a:r>
              <a:rPr sz="1200" b="1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不选用</a:t>
            </a:r>
            <a:endParaRPr sz="1200" b="1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876300" y="2324100"/>
            <a:ext cx="4800600" cy="9525"/>
          </a:xfrm>
          <a:prstGeom prst="rect">
            <a:avLst/>
          </a:prstGeom>
          <a:solidFill>
            <a:srgbClr val="26375A"/>
          </a:solidFill>
        </p:spPr>
        <p:txBody>
          <a:bodyPr wrap="square" rtlCol="0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876300" y="2533650"/>
            <a:ext cx="4800600" cy="2095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spcAft>
                <a:spcPts val="1600"/>
              </a:spcAft>
            </a:pPr>
            <a:r>
              <a:rPr sz="125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做法　</a:t>
            </a:r>
            <a:r>
              <a:rPr sz="13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将所有消息截断到数据集中最短消息的长度或批次长度</a:t>
            </a:r>
            <a:endParaRPr sz="13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  <a:spcAft>
                <a:spcPts val="1600"/>
              </a:spcAft>
            </a:pPr>
            <a:r>
              <a:rPr sz="125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优点　</a:t>
            </a:r>
            <a:r>
              <a:rPr sz="13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计算开销更少</a:t>
            </a:r>
            <a:endParaRPr sz="13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</a:pPr>
            <a:r>
              <a:rPr sz="125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风险　</a:t>
            </a:r>
            <a:r>
              <a:rPr sz="13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较短的消息远小于平均长度时会导致信息丢失，从而降低模型性能</a:t>
            </a:r>
            <a:endParaRPr sz="13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876300" y="4762500"/>
            <a:ext cx="4800600" cy="419100"/>
          </a:xfrm>
          <a:prstGeom prst="roundRect">
            <a:avLst/>
          </a:prstGeom>
          <a:solidFill>
            <a:srgbClr val="0D1830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1066800" y="4867275"/>
            <a:ext cx="44196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信息丢失的风险不可取</a:t>
            </a:r>
            <a:endParaRPr sz="130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6248400" y="1600200"/>
            <a:ext cx="5334000" cy="3810000"/>
          </a:xfrm>
          <a:prstGeom prst="roundRect">
            <a:avLst/>
          </a:prstGeom>
          <a:solidFill>
            <a:srgbClr val="14253E"/>
          </a:solidFill>
          <a:ln w="19050">
            <a:solidFill>
              <a:srgbClr val="38BDF8"/>
            </a:solidFill>
          </a:ln>
        </p:spPr>
        <p:txBody>
          <a:bodyPr wrap="square" rtlCol="0"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6515100" y="1847850"/>
            <a:ext cx="3429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8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方案二 · 填充</a:t>
            </a:r>
            <a:endParaRPr sz="18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10477500" y="1828800"/>
            <a:ext cx="876300" cy="285750"/>
          </a:xfrm>
          <a:prstGeom prst="roundRect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10477500" y="1876425"/>
            <a:ext cx="876300" cy="209550"/>
          </a:xfrm>
        </p:spPr>
        <p:txBody>
          <a:bodyPr wrap="square" lIns="0" tIns="0" rIns="0" bIns="0" rtlCol="0" anchor="t"/>
          <a:lstStyle/>
          <a:p>
            <a:pPr algn="ctr"/>
            <a:r>
              <a:rPr sz="1200" b="1">
                <a:solidFill>
                  <a:srgbClr val="0B1120"/>
                </a:solidFill>
                <a:latin typeface="PingFang SC" panose="020B0400000000000000" charset="-122"/>
                <a:ea typeface="PingFang SC" panose="020B0400000000000000" charset="-122"/>
              </a:rPr>
              <a:t>本章选用</a:t>
            </a:r>
            <a:endParaRPr sz="1200" b="1">
              <a:solidFill>
                <a:srgbClr val="0B112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6515100" y="2324100"/>
            <a:ext cx="4800600" cy="9525"/>
          </a:xfrm>
          <a:prstGeom prst="rect">
            <a:avLst/>
          </a:prstGeom>
          <a:solidFill>
            <a:srgbClr val="2A4568"/>
          </a:solidFill>
        </p:spPr>
        <p:txBody>
          <a:bodyPr wrap="square" rtlCol="0"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6515100" y="2533650"/>
            <a:ext cx="4800600" cy="2095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spcAft>
                <a:spcPts val="1600"/>
              </a:spcAft>
            </a:pPr>
            <a:r>
              <a:rPr sz="125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做法　</a:t>
            </a:r>
            <a:r>
              <a:rPr sz="13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将所有消息填充到数据集中最长消息的长度或批次长度</a:t>
            </a:r>
            <a:endParaRPr sz="13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  <a:spcAft>
                <a:spcPts val="1600"/>
              </a:spcAft>
            </a:pPr>
            <a:r>
              <a:rPr sz="125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词元　</a:t>
            </a:r>
            <a:r>
              <a:rPr sz="13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填充词元 &lt;|endoftext|&gt;，对应 GPT-2 词表中的 ID 50256</a:t>
            </a:r>
            <a:endParaRPr sz="13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</a:pPr>
            <a:r>
              <a:rPr sz="125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优点　</a:t>
            </a:r>
            <a:r>
              <a:rPr sz="13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保留所有消息的完整内容</a:t>
            </a:r>
            <a:endParaRPr sz="13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6515100" y="4762500"/>
            <a:ext cx="4800600" cy="419100"/>
          </a:xfrm>
          <a:prstGeom prst="roundRect">
            <a:avLst/>
          </a:prstGeom>
          <a:solidFill>
            <a:srgbClr val="0D1830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6705600" y="4867275"/>
            <a:ext cx="44196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实现：向编码后的词元 ID 序列追加 50256，而非追加字符串</a:t>
            </a:r>
            <a:endParaRPr sz="130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609600" y="5676900"/>
            <a:ext cx="10972800" cy="609600"/>
          </a:xfrm>
          <a:prstGeom prst="roundRect">
            <a:avLst/>
          </a:prstGeom>
          <a:solidFill>
            <a:srgbClr val="0D1830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876300" y="5772150"/>
            <a:ext cx="10477500" cy="571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sz="125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验证　</a:t>
            </a:r>
            <a:r>
              <a:rPr sz="12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tiktoken.get_encoding("gpt2").encode("&lt;|endoftext|&gt;", allowed_special={"&lt;|endoftext|&gt;"})</a:t>
            </a:r>
            <a:endParaRPr sz="12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0000"/>
              </a:lnSpc>
            </a:pPr>
            <a:r>
              <a:rPr sz="12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返回 [50256]，填充词元 ID 核对无误</a:t>
            </a:r>
            <a:endParaRPr sz="12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09600" y="6572250"/>
            <a:ext cx="3810000" cy="1714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第 6 章 · 针对分类的微调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715500" y="6572250"/>
            <a:ext cx="1866900" cy="1714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07 / 23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3810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6.3 创建数据加载器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704850"/>
            <a:ext cx="8572500" cy="514350"/>
          </a:xfrm>
        </p:spPr>
        <p:txBody>
          <a:bodyPr wrap="square" lIns="0" tIns="0" rIns="0" bIns="0" rtlCol="0" anchor="t"/>
          <a:lstStyle/>
          <a:p>
            <a:pPr algn="l"/>
            <a:r>
              <a:rPr sz="3000" b="1">
                <a:solidFill>
                  <a:srgbClr val="F2F6FD"/>
                </a:solidFill>
                <a:latin typeface="PingFang SC" panose="020B0400000000000000" charset="-122"/>
                <a:ea typeface="PingFang SC" panose="020B0400000000000000" charset="-122"/>
              </a:rPr>
              <a:t>SpamDataset：分词、截断与填充</a:t>
            </a:r>
            <a:endParaRPr sz="3000" b="1">
              <a:solidFill>
                <a:srgbClr val="F2F6FD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34400" y="457200"/>
            <a:ext cx="3048000" cy="19050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LLM FROM SCRATCH · 教学课件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223150"/>
          </a:solidFill>
        </p:spPr>
        <p:txBody>
          <a:bodyPr wrap="square" rtlCol="0"/>
          <a:lstStyle/>
          <a:p/>
        </p:txBody>
      </p:sp>
      <p:sp>
        <p:nvSpPr>
          <p:cNvPr id="7" name="Shape 7"/>
          <p:cNvSpPr/>
          <p:nvPr/>
        </p:nvSpPr>
        <p:spPr>
          <a:xfrm>
            <a:off x="609600" y="1600200"/>
            <a:ext cx="4191000" cy="36195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38200" y="1828800"/>
            <a:ext cx="37338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关键职责</a:t>
            </a:r>
            <a:endParaRPr sz="15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38200" y="2228850"/>
            <a:ext cx="3733800" cy="27622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spcAft>
                <a:spcPts val="1300"/>
              </a:spcAft>
            </a:pPr>
            <a:r>
              <a:rPr sz="13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读取 CSV，用 GPT-2 分词器（tiktoken）编码每条消息</a:t>
            </a:r>
            <a:endParaRPr sz="13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  <a:spcAft>
                <a:spcPts val="1300"/>
              </a:spcAft>
            </a:pPr>
            <a:r>
              <a:rPr sz="13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识别训练集中最长序列：</a:t>
            </a:r>
            <a:r>
              <a:rPr sz="1300" b="1">
                <a:solidFill>
                  <a:srgbClr val="38BDF8"/>
                </a:solidFill>
                <a:latin typeface="Menlo" panose="020B0609030804020204"/>
                <a:ea typeface="Menlo" panose="020B0609030804020204"/>
              </a:rPr>
              <a:t>max_length = 120</a:t>
            </a:r>
            <a:endParaRPr sz="1300" b="1">
              <a:solidFill>
                <a:srgbClr val="38BDF8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0000"/>
              </a:lnSpc>
              <a:spcAft>
                <a:spcPts val="1300"/>
              </a:spcAft>
            </a:pPr>
            <a:r>
              <a:rPr sz="13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序列超长则截断到 max_length</a:t>
            </a:r>
            <a:endParaRPr sz="13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  <a:spcAft>
                <a:spcPts val="1300"/>
              </a:spcAft>
            </a:pPr>
            <a:r>
              <a:rPr sz="13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短序列用 50256 填充至统一长度</a:t>
            </a:r>
            <a:endParaRPr sz="13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__getitem__ 返回（词元张量, 标签张量）</a:t>
            </a:r>
            <a:endParaRPr sz="13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609600" y="5410200"/>
            <a:ext cx="4191000" cy="609600"/>
          </a:xfrm>
          <a:prstGeom prst="roundRect">
            <a:avLst/>
          </a:prstGeom>
          <a:solidFill>
            <a:srgbClr val="14253E"/>
          </a:solidFill>
          <a:ln w="12700">
            <a:solidFill>
              <a:srgbClr val="2A3A5C"/>
            </a:solidFill>
          </a:ln>
        </p:spPr>
        <p:txBody>
          <a:bodyPr wrap="square" rtlCol="0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38200" y="5524500"/>
            <a:ext cx="3771900" cy="475488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模型上下文上限 1024 词元；数据更长时可设 max_length=1024（练习 6.1）</a:t>
            </a:r>
            <a:endParaRPr sz="12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5105400" y="1600200"/>
            <a:ext cx="6477000" cy="4419600"/>
          </a:xfrm>
          <a:prstGeom prst="roundRect">
            <a:avLst/>
          </a:prstGeom>
          <a:solidFill>
            <a:srgbClr val="0D1830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5334000" y="1809750"/>
            <a:ext cx="6019800" cy="403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52000"/>
              </a:lnSpc>
            </a:pPr>
            <a:r>
              <a:rPr sz="1150">
                <a:solidFill>
                  <a:srgbClr val="7EE0A3"/>
                </a:solidFill>
                <a:latin typeface="Menlo" panose="020B0609030804020204"/>
                <a:ea typeface="Menlo" panose="020B0609030804020204"/>
              </a:rPr>
              <a:t>class SpamDataset(Dataset):</a:t>
            </a:r>
            <a:endParaRPr sz="1150">
              <a:solidFill>
                <a:srgbClr val="7EE0A3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2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def __init__(self, csv_file, tokenizer,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2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             max_length=None, pad_token_id=50256):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2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    self.data = pd.read_csv(csv_file)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2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    self.encoded_texts = [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2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        tokenizer.encode(t) for t in self.data["Text"]]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2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    if max_length is None: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2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        self.max_length = self._longest_encoded_length()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2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    else: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2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        self.max_length = max_length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2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    self.encoded_texts = [e[:self.max_length]</a:t>
            </a:r>
            <a:r>
              <a:rPr sz="115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  # 截断</a:t>
            </a:r>
            <a:endParaRPr sz="115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2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                        for e in self.encoded_texts]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2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    self.encoded_texts = [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2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        e + [pad_token_id] * (self.max_length - len(e))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2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        for e in self.encoded_texts]</a:t>
            </a:r>
            <a:r>
              <a:rPr sz="115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  # 填充</a:t>
            </a:r>
            <a:endParaRPr sz="115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09600" y="6572250"/>
            <a:ext cx="3810000" cy="1714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第 6 章 · 针对分类的微调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715500" y="6572250"/>
            <a:ext cx="1866900" cy="1714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08 / 23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3810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6.3 创建数据加载器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704850"/>
            <a:ext cx="8572500" cy="514350"/>
          </a:xfrm>
        </p:spPr>
        <p:txBody>
          <a:bodyPr wrap="square" lIns="0" tIns="0" rIns="0" bIns="0" rtlCol="0" anchor="t"/>
          <a:lstStyle/>
          <a:p>
            <a:pPr algn="l"/>
            <a:r>
              <a:rPr sz="3000" b="1">
                <a:solidFill>
                  <a:srgbClr val="F2F6FD"/>
                </a:solidFill>
                <a:latin typeface="PingFang SC" panose="020B0400000000000000" charset="-122"/>
                <a:ea typeface="PingFang SC" panose="020B0400000000000000" charset="-122"/>
              </a:rPr>
              <a:t>批次构成与数据规模</a:t>
            </a:r>
            <a:endParaRPr sz="3000" b="1">
              <a:solidFill>
                <a:srgbClr val="F2F6FD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34400" y="457200"/>
            <a:ext cx="3048000" cy="19050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LLM FROM SCRATCH · 教学课件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223150"/>
          </a:solidFill>
        </p:spPr>
        <p:txBody>
          <a:bodyPr wrap="square" rtlCol="0"/>
          <a:lstStyle/>
          <a:p/>
        </p:txBody>
      </p:sp>
      <p:sp>
        <p:nvSpPr>
          <p:cNvPr id="7" name="Shape 7"/>
          <p:cNvSpPr/>
          <p:nvPr/>
        </p:nvSpPr>
        <p:spPr>
          <a:xfrm>
            <a:off x="609600" y="1600200"/>
            <a:ext cx="5905500" cy="41148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38200" y="1828800"/>
            <a:ext cx="28575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一个训练批次</a:t>
            </a:r>
            <a:endParaRPr sz="15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4000500" y="1885950"/>
            <a:ext cx="133350" cy="95250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191000" y="1828800"/>
            <a:ext cx="66675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消息词元</a:t>
            </a:r>
            <a:endParaRPr sz="110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4914900" y="1885950"/>
            <a:ext cx="133350" cy="95250"/>
          </a:xfrm>
          <a:prstGeom prst="rect">
            <a:avLst/>
          </a:prstGeom>
          <a:solidFill>
            <a:srgbClr val="22314F"/>
          </a:solidFill>
        </p:spPr>
        <p:txBody>
          <a:bodyPr wrap="square" rtlCol="0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5105400" y="1828800"/>
            <a:ext cx="114300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填充词元 50256</a:t>
            </a:r>
            <a:endParaRPr sz="110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838200" y="2286000"/>
            <a:ext cx="3143250" cy="228600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14" name="Shape 14"/>
          <p:cNvSpPr/>
          <p:nvPr/>
        </p:nvSpPr>
        <p:spPr>
          <a:xfrm>
            <a:off x="3981450" y="2286000"/>
            <a:ext cx="1047750" cy="228600"/>
          </a:xfrm>
          <a:prstGeom prst="rect">
            <a:avLst/>
          </a:prstGeom>
          <a:solidFill>
            <a:srgbClr val="22314F"/>
          </a:solidFill>
        </p:spPr>
        <p:txBody>
          <a:bodyPr wrap="square" rtlCol="0"/>
          <a:lstStyle/>
          <a:p/>
        </p:txBody>
      </p:sp>
      <p:sp>
        <p:nvSpPr>
          <p:cNvPr id="15" name="Shape 15"/>
          <p:cNvSpPr/>
          <p:nvPr/>
        </p:nvSpPr>
        <p:spPr>
          <a:xfrm>
            <a:off x="838200" y="2571750"/>
            <a:ext cx="2095500" cy="228600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16" name="Shape 16"/>
          <p:cNvSpPr/>
          <p:nvPr/>
        </p:nvSpPr>
        <p:spPr>
          <a:xfrm>
            <a:off x="2933700" y="2571750"/>
            <a:ext cx="2095500" cy="228600"/>
          </a:xfrm>
          <a:prstGeom prst="rect">
            <a:avLst/>
          </a:prstGeom>
          <a:solidFill>
            <a:srgbClr val="22314F"/>
          </a:solidFill>
        </p:spPr>
        <p:txBody>
          <a:bodyPr wrap="square" rtlCol="0"/>
          <a:lstStyle/>
          <a:p/>
        </p:txBody>
      </p:sp>
      <p:sp>
        <p:nvSpPr>
          <p:cNvPr id="17" name="Shape 17"/>
          <p:cNvSpPr/>
          <p:nvPr/>
        </p:nvSpPr>
        <p:spPr>
          <a:xfrm>
            <a:off x="838200" y="2857500"/>
            <a:ext cx="3838575" cy="228600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18" name="Shape 18"/>
          <p:cNvSpPr/>
          <p:nvPr/>
        </p:nvSpPr>
        <p:spPr>
          <a:xfrm>
            <a:off x="4676775" y="2857500"/>
            <a:ext cx="352425" cy="228600"/>
          </a:xfrm>
          <a:prstGeom prst="rect">
            <a:avLst/>
          </a:prstGeom>
          <a:solidFill>
            <a:srgbClr val="22314F"/>
          </a:solidFill>
        </p:spPr>
        <p:txBody>
          <a:bodyPr wrap="square" rtlCol="0"/>
          <a:lstStyle/>
          <a:p/>
        </p:txBody>
      </p:sp>
      <p:sp>
        <p:nvSpPr>
          <p:cNvPr id="19" name="Shape 19"/>
          <p:cNvSpPr/>
          <p:nvPr/>
        </p:nvSpPr>
        <p:spPr>
          <a:xfrm>
            <a:off x="838200" y="3143250"/>
            <a:ext cx="2619375" cy="228600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20" name="Shape 20"/>
          <p:cNvSpPr/>
          <p:nvPr/>
        </p:nvSpPr>
        <p:spPr>
          <a:xfrm>
            <a:off x="3457575" y="3143250"/>
            <a:ext cx="1571625" cy="228600"/>
          </a:xfrm>
          <a:prstGeom prst="rect">
            <a:avLst/>
          </a:prstGeom>
          <a:solidFill>
            <a:srgbClr val="22314F"/>
          </a:solidFill>
        </p:spPr>
        <p:txBody>
          <a:bodyPr wrap="square" rtlCol="0"/>
          <a:lstStyle/>
          <a:p/>
        </p:txBody>
      </p:sp>
      <p:sp>
        <p:nvSpPr>
          <p:cNvPr id="21" name="Shape 21"/>
          <p:cNvSpPr/>
          <p:nvPr/>
        </p:nvSpPr>
        <p:spPr>
          <a:xfrm>
            <a:off x="838200" y="3429000"/>
            <a:ext cx="3495675" cy="228600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22" name="Shape 22"/>
          <p:cNvSpPr/>
          <p:nvPr/>
        </p:nvSpPr>
        <p:spPr>
          <a:xfrm>
            <a:off x="4333875" y="3429000"/>
            <a:ext cx="695325" cy="228600"/>
          </a:xfrm>
          <a:prstGeom prst="rect">
            <a:avLst/>
          </a:prstGeom>
          <a:solidFill>
            <a:srgbClr val="22314F"/>
          </a:solidFill>
        </p:spPr>
        <p:txBody>
          <a:bodyPr wrap="square" rtlCol="0"/>
          <a:lstStyle/>
          <a:p/>
        </p:txBody>
      </p:sp>
      <p:sp>
        <p:nvSpPr>
          <p:cNvPr id="23" name="Shape 23"/>
          <p:cNvSpPr/>
          <p:nvPr/>
        </p:nvSpPr>
        <p:spPr>
          <a:xfrm>
            <a:off x="838200" y="3714750"/>
            <a:ext cx="1924050" cy="228600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24" name="Shape 24"/>
          <p:cNvSpPr/>
          <p:nvPr/>
        </p:nvSpPr>
        <p:spPr>
          <a:xfrm>
            <a:off x="2762250" y="3714750"/>
            <a:ext cx="2266950" cy="228600"/>
          </a:xfrm>
          <a:prstGeom prst="rect">
            <a:avLst/>
          </a:prstGeom>
          <a:solidFill>
            <a:srgbClr val="22314F"/>
          </a:solidFill>
        </p:spPr>
        <p:txBody>
          <a:bodyPr wrap="square" rtlCol="0"/>
          <a:lstStyle/>
          <a:p/>
        </p:txBody>
      </p:sp>
      <p:sp>
        <p:nvSpPr>
          <p:cNvPr id="25" name="Shape 25"/>
          <p:cNvSpPr/>
          <p:nvPr/>
        </p:nvSpPr>
        <p:spPr>
          <a:xfrm>
            <a:off x="838200" y="4000500"/>
            <a:ext cx="2971800" cy="228600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26" name="Shape 26"/>
          <p:cNvSpPr/>
          <p:nvPr/>
        </p:nvSpPr>
        <p:spPr>
          <a:xfrm>
            <a:off x="3810000" y="4000500"/>
            <a:ext cx="1219200" cy="228600"/>
          </a:xfrm>
          <a:prstGeom prst="rect">
            <a:avLst/>
          </a:prstGeom>
          <a:solidFill>
            <a:srgbClr val="22314F"/>
          </a:solidFill>
        </p:spPr>
        <p:txBody>
          <a:bodyPr wrap="square" rtlCol="0"/>
          <a:lstStyle/>
          <a:p/>
        </p:txBody>
      </p:sp>
      <p:sp>
        <p:nvSpPr>
          <p:cNvPr id="27" name="Shape 27"/>
          <p:cNvSpPr/>
          <p:nvPr/>
        </p:nvSpPr>
        <p:spPr>
          <a:xfrm>
            <a:off x="838200" y="4286250"/>
            <a:ext cx="3667125" cy="228600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28" name="Shape 28"/>
          <p:cNvSpPr/>
          <p:nvPr/>
        </p:nvSpPr>
        <p:spPr>
          <a:xfrm>
            <a:off x="4505325" y="4286250"/>
            <a:ext cx="523875" cy="228600"/>
          </a:xfrm>
          <a:prstGeom prst="rect">
            <a:avLst/>
          </a:prstGeom>
          <a:solidFill>
            <a:srgbClr val="22314F"/>
          </a:solidFill>
        </p:spPr>
        <p:txBody>
          <a:bodyPr wrap="square" rtlCol="0"/>
          <a:lstStyle/>
          <a:p/>
        </p:txBody>
      </p:sp>
      <p:sp>
        <p:nvSpPr>
          <p:cNvPr id="29" name="Shape 29"/>
          <p:cNvSpPr/>
          <p:nvPr/>
        </p:nvSpPr>
        <p:spPr>
          <a:xfrm>
            <a:off x="5181600" y="2286000"/>
            <a:ext cx="609600" cy="2228850"/>
          </a:xfrm>
          <a:prstGeom prst="roundRect">
            <a:avLst/>
          </a:prstGeom>
          <a:solidFill>
            <a:srgbClr val="1B294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30" name="TextBox 30"/>
          <p:cNvSpPr txBox="1"/>
          <p:nvPr/>
        </p:nvSpPr>
        <p:spPr>
          <a:xfrm>
            <a:off x="5181600" y="2324100"/>
            <a:ext cx="609600" cy="2263140"/>
          </a:xfrm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sz="1200" b="1">
                <a:solidFill>
                  <a:srgbClr val="C9D6F2"/>
                </a:solidFill>
                <a:latin typeface="Helvetica Neue" panose="02000503000000020004"/>
                <a:ea typeface="Helvetica Neue" panose="02000503000000020004"/>
              </a:rPr>
              <a:t>0</a:t>
            </a:r>
            <a:endParaRPr sz="1200" b="1">
              <a:solidFill>
                <a:srgbClr val="C9D6F2"/>
              </a:solidFill>
              <a:latin typeface="Helvetica Neue" panose="02000503000000020004"/>
              <a:ea typeface="Helvetica Neue" panose="02000503000000020004"/>
            </a:endParaRPr>
          </a:p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sz="12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1</a:t>
            </a:r>
            <a:endParaRPr sz="12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sz="1200" b="1">
                <a:solidFill>
                  <a:srgbClr val="C9D6F2"/>
                </a:solidFill>
                <a:latin typeface="Helvetica Neue" panose="02000503000000020004"/>
                <a:ea typeface="Helvetica Neue" panose="02000503000000020004"/>
              </a:rPr>
              <a:t>0</a:t>
            </a:r>
            <a:endParaRPr sz="1200" b="1">
              <a:solidFill>
                <a:srgbClr val="C9D6F2"/>
              </a:solidFill>
              <a:latin typeface="Helvetica Neue" panose="02000503000000020004"/>
              <a:ea typeface="Helvetica Neue" panose="02000503000000020004"/>
            </a:endParaRPr>
          </a:p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sz="1200" b="1">
                <a:solidFill>
                  <a:srgbClr val="C9D6F2"/>
                </a:solidFill>
                <a:latin typeface="Helvetica Neue" panose="02000503000000020004"/>
                <a:ea typeface="Helvetica Neue" panose="02000503000000020004"/>
              </a:rPr>
              <a:t>0</a:t>
            </a:r>
            <a:endParaRPr sz="1200" b="1">
              <a:solidFill>
                <a:srgbClr val="C9D6F2"/>
              </a:solidFill>
              <a:latin typeface="Helvetica Neue" panose="02000503000000020004"/>
              <a:ea typeface="Helvetica Neue" panose="02000503000000020004"/>
            </a:endParaRPr>
          </a:p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sz="12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1</a:t>
            </a:r>
            <a:endParaRPr sz="12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sz="1200" b="1">
                <a:solidFill>
                  <a:srgbClr val="C9D6F2"/>
                </a:solidFill>
                <a:latin typeface="Helvetica Neue" panose="02000503000000020004"/>
                <a:ea typeface="Helvetica Neue" panose="02000503000000020004"/>
              </a:rPr>
              <a:t>0</a:t>
            </a:r>
            <a:endParaRPr sz="1200" b="1">
              <a:solidFill>
                <a:srgbClr val="C9D6F2"/>
              </a:solidFill>
              <a:latin typeface="Helvetica Neue" panose="02000503000000020004"/>
              <a:ea typeface="Helvetica Neue" panose="02000503000000020004"/>
            </a:endParaRPr>
          </a:p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sz="12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1</a:t>
            </a:r>
            <a:endParaRPr sz="12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C9D6F2"/>
                </a:solidFill>
                <a:latin typeface="Helvetica Neue" panose="02000503000000020004"/>
                <a:ea typeface="Helvetica Neue" panose="02000503000000020004"/>
              </a:rPr>
              <a:t>0</a:t>
            </a:r>
            <a:endParaRPr sz="1200" b="1">
              <a:solidFill>
                <a:srgbClr val="C9D6F2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38200" y="4876800"/>
            <a:ext cx="54483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50" b="1">
                <a:solidFill>
                  <a:srgbClr val="38BDF8"/>
                </a:solidFill>
                <a:latin typeface="Menlo" panose="020B0609030804020204"/>
                <a:ea typeface="Menlo" panose="020B0609030804020204"/>
              </a:rPr>
              <a:t>输入批次 [8, 120]</a:t>
            </a:r>
            <a:r>
              <a:rPr sz="12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　8 条消息 × 120 词元；右侧标签批次 [8]</a:t>
            </a:r>
            <a:endParaRPr sz="12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38200" y="5143500"/>
            <a:ext cx="54483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0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标签取值：0 = 非垃圾消息（ham），1 = 垃圾消息（spam）</a:t>
            </a:r>
            <a:endParaRPr sz="120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3" name="Shape 33"/>
          <p:cNvSpPr/>
          <p:nvPr/>
        </p:nvSpPr>
        <p:spPr>
          <a:xfrm>
            <a:off x="6896100" y="1600200"/>
            <a:ext cx="4686300" cy="12192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34" name="TextBox 34"/>
          <p:cNvSpPr txBox="1"/>
          <p:nvPr/>
        </p:nvSpPr>
        <p:spPr>
          <a:xfrm>
            <a:off x="7162800" y="1866900"/>
            <a:ext cx="1524000" cy="518160"/>
          </a:xfrm>
        </p:spPr>
        <p:txBody>
          <a:bodyPr wrap="square" lIns="0" tIns="0" rIns="0" bIns="0" rtlCol="0" anchor="t"/>
          <a:lstStyle/>
          <a:p>
            <a:pPr algn="l"/>
            <a:r>
              <a:rPr sz="34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130</a:t>
            </a:r>
            <a:endParaRPr sz="34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858250" y="1771650"/>
            <a:ext cx="24765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训练批次</a:t>
            </a:r>
            <a:endParaRPr sz="15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8858250" y="2019300"/>
            <a:ext cx="24765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00">
                <a:solidFill>
                  <a:srgbClr val="8FA3C8"/>
                </a:solidFill>
                <a:latin typeface="Menlo" panose="020B0609030804020204"/>
                <a:ea typeface="Menlo" panose="020B0609030804020204"/>
              </a:rPr>
              <a:t>shuffle=Tru</a:t>
            </a:r>
            <a:r>
              <a:rPr lang="en-US" sz="1200">
                <a:solidFill>
                  <a:srgbClr val="8FA3C8"/>
                </a:solidFill>
                <a:latin typeface="Menlo" panose="020B0609030804020204"/>
                <a:ea typeface="Menlo" panose="020B0609030804020204"/>
              </a:rPr>
              <a:t>e</a:t>
            </a:r>
            <a:endParaRPr lang="en-US" sz="1200">
              <a:solidFill>
                <a:srgbClr val="8FA3C8"/>
              </a:solidFill>
              <a:latin typeface="Menlo" panose="020B0609030804020204"/>
              <a:ea typeface="Menlo" panose="020B0609030804020204"/>
            </a:endParaRPr>
          </a:p>
          <a:p>
            <a:pPr algn="l"/>
            <a:r>
              <a:rPr sz="1200">
                <a:solidFill>
                  <a:srgbClr val="8FA3C8"/>
                </a:solidFill>
                <a:latin typeface="Menlo" panose="020B0609030804020204"/>
                <a:ea typeface="Menlo" panose="020B0609030804020204"/>
              </a:rPr>
              <a:t>drop_last=True</a:t>
            </a:r>
            <a:endParaRPr sz="1200">
              <a:solidFill>
                <a:srgbClr val="8FA3C8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7162800" y="2457450"/>
            <a:ext cx="415290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150">
                <a:solidFill>
                  <a:srgbClr val="5E7099"/>
                </a:solidFill>
                <a:latin typeface="Menlo" panose="020B0609030804020204"/>
                <a:ea typeface="Menlo" panose="020B0609030804020204"/>
              </a:rPr>
              <a:t>batch_size = 8 · num_workers = 0</a:t>
            </a:r>
            <a:endParaRPr sz="1150">
              <a:solidFill>
                <a:srgbClr val="5E7099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38" name="Shape 38"/>
          <p:cNvSpPr/>
          <p:nvPr/>
        </p:nvSpPr>
        <p:spPr>
          <a:xfrm>
            <a:off x="6896100" y="3048000"/>
            <a:ext cx="4686300" cy="12192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39" name="TextBox 39"/>
          <p:cNvSpPr txBox="1"/>
          <p:nvPr/>
        </p:nvSpPr>
        <p:spPr>
          <a:xfrm>
            <a:off x="7162800" y="3314700"/>
            <a:ext cx="1524000" cy="518160"/>
          </a:xfrm>
        </p:spPr>
        <p:txBody>
          <a:bodyPr wrap="square" lIns="0" tIns="0" rIns="0" bIns="0" rtlCol="0" anchor="t"/>
          <a:lstStyle/>
          <a:p>
            <a:pPr algn="l"/>
            <a:r>
              <a:rPr sz="34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19</a:t>
            </a:r>
            <a:endParaRPr sz="34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8858250" y="3295650"/>
            <a:ext cx="24765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验证批次</a:t>
            </a:r>
            <a:endParaRPr sz="15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8858250" y="3581400"/>
            <a:ext cx="24765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00">
                <a:solidFill>
                  <a:srgbClr val="8FA3C8"/>
                </a:solidFill>
                <a:latin typeface="Menlo" panose="020B0609030804020204"/>
                <a:ea typeface="Menlo" panose="020B0609030804020204"/>
              </a:rPr>
              <a:t>drop_last=False</a:t>
            </a:r>
            <a:endParaRPr sz="1200">
              <a:solidFill>
                <a:srgbClr val="8FA3C8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7162800" y="3905250"/>
            <a:ext cx="415290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15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用于训练中评估泛化能力</a:t>
            </a:r>
            <a:endParaRPr sz="115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3" name="Shape 43"/>
          <p:cNvSpPr/>
          <p:nvPr/>
        </p:nvSpPr>
        <p:spPr>
          <a:xfrm>
            <a:off x="6896100" y="4495800"/>
            <a:ext cx="4686300" cy="12192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44" name="TextBox 44"/>
          <p:cNvSpPr txBox="1"/>
          <p:nvPr/>
        </p:nvSpPr>
        <p:spPr>
          <a:xfrm>
            <a:off x="7162800" y="4762500"/>
            <a:ext cx="1524000" cy="518160"/>
          </a:xfrm>
        </p:spPr>
        <p:txBody>
          <a:bodyPr wrap="square" lIns="0" tIns="0" rIns="0" bIns="0" rtlCol="0" anchor="t"/>
          <a:lstStyle/>
          <a:p>
            <a:pPr algn="l"/>
            <a:r>
              <a:rPr sz="34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38</a:t>
            </a:r>
            <a:endParaRPr sz="34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8858250" y="4743450"/>
            <a:ext cx="24765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测试批次</a:t>
            </a:r>
            <a:endParaRPr sz="15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8858250" y="5029200"/>
            <a:ext cx="24765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00">
                <a:solidFill>
                  <a:srgbClr val="8FA3C8"/>
                </a:solidFill>
                <a:latin typeface="Menlo" panose="020B0609030804020204"/>
                <a:ea typeface="Menlo" panose="020B0609030804020204"/>
              </a:rPr>
              <a:t>drop_last=False</a:t>
            </a:r>
            <a:endParaRPr sz="1200">
              <a:solidFill>
                <a:srgbClr val="8FA3C8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7162800" y="5353050"/>
            <a:ext cx="415290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15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训练完成后做最终评估</a:t>
            </a:r>
            <a:endParaRPr sz="115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609600" y="6572250"/>
            <a:ext cx="3810000" cy="1714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第 6 章 · 针对分类的微调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9715500" y="6572250"/>
            <a:ext cx="1866900" cy="1714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09 / 23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3810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6.4 初始化带有预训练权重的模型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704850"/>
            <a:ext cx="8572500" cy="514350"/>
          </a:xfrm>
        </p:spPr>
        <p:txBody>
          <a:bodyPr wrap="square" lIns="0" tIns="0" rIns="0" bIns="0" rtlCol="0" anchor="t"/>
          <a:lstStyle/>
          <a:p>
            <a:pPr algn="l"/>
            <a:r>
              <a:rPr sz="3000" b="1">
                <a:solidFill>
                  <a:srgbClr val="F2F6FD"/>
                </a:solidFill>
                <a:latin typeface="PingFang SC" panose="020B0400000000000000" charset="-122"/>
                <a:ea typeface="PingFang SC" panose="020B0400000000000000" charset="-122"/>
              </a:rPr>
              <a:t>加载 GPT-2 预训练权重</a:t>
            </a:r>
            <a:endParaRPr sz="3000" b="1">
              <a:solidFill>
                <a:srgbClr val="F2F6FD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34400" y="457200"/>
            <a:ext cx="3048000" cy="19050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LLM FROM SCRATCH · 教学课件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223150"/>
          </a:solidFill>
        </p:spPr>
        <p:txBody>
          <a:bodyPr wrap="square" rtlCol="0"/>
          <a:lstStyle/>
          <a:p/>
        </p:txBody>
      </p:sp>
      <p:sp>
        <p:nvSpPr>
          <p:cNvPr id="7" name="Shape 7"/>
          <p:cNvSpPr/>
          <p:nvPr/>
        </p:nvSpPr>
        <p:spPr>
          <a:xfrm>
            <a:off x="609600" y="1600200"/>
            <a:ext cx="4572000" cy="276225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38200" y="1828800"/>
            <a:ext cx="41148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模型配置（沿用预训练配置）</a:t>
            </a:r>
            <a:endParaRPr sz="15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38200" y="2171700"/>
            <a:ext cx="171450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200" b="1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模型</a:t>
            </a:r>
            <a:endParaRPr sz="1200" b="1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743200" y="2171700"/>
            <a:ext cx="76200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200" b="1">
                <a:solidFill>
                  <a:srgbClr val="5E7099"/>
                </a:solidFill>
                <a:latin typeface="Menlo" panose="020B0609030804020204"/>
                <a:ea typeface="Menlo" panose="020B0609030804020204"/>
              </a:rPr>
              <a:t>emb_dim</a:t>
            </a:r>
            <a:endParaRPr sz="1200" b="1">
              <a:solidFill>
                <a:srgbClr val="5E7099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695700" y="2171700"/>
            <a:ext cx="47625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200" b="1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层</a:t>
            </a:r>
            <a:endParaRPr sz="1200" b="1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267200" y="2171700"/>
            <a:ext cx="47625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200" b="1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头</a:t>
            </a:r>
            <a:endParaRPr sz="1200" b="1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762000" y="2362200"/>
            <a:ext cx="4267200" cy="381000"/>
          </a:xfrm>
          <a:prstGeom prst="roundRect">
            <a:avLst/>
          </a:prstGeom>
          <a:solidFill>
            <a:srgbClr val="14253E"/>
          </a:solidFill>
        </p:spPr>
        <p:txBody>
          <a:bodyPr wrap="square" rtlCol="0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838200" y="2457450"/>
            <a:ext cx="17145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38BDF8"/>
                </a:solidFill>
                <a:latin typeface="Menlo" panose="020B0609030804020204"/>
                <a:ea typeface="Menlo" panose="020B0609030804020204"/>
              </a:rPr>
              <a:t>gpt2-small 124M</a:t>
            </a:r>
            <a:endParaRPr sz="1300" b="1">
              <a:solidFill>
                <a:srgbClr val="38BDF8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743200" y="2457450"/>
            <a:ext cx="762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</a:rPr>
              <a:t>768</a:t>
            </a:r>
            <a:endParaRPr sz="1300" b="1">
              <a:solidFill>
                <a:srgbClr val="E8EE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695700" y="2457450"/>
            <a:ext cx="47625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</a:rPr>
              <a:t>12</a:t>
            </a:r>
            <a:endParaRPr sz="1300" b="1">
              <a:solidFill>
                <a:srgbClr val="E8EE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267200" y="2457450"/>
            <a:ext cx="47625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</a:rPr>
              <a:t>12</a:t>
            </a:r>
            <a:endParaRPr sz="1300" b="1">
              <a:solidFill>
                <a:srgbClr val="E8EE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38200" y="2838450"/>
            <a:ext cx="17145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gpt2-medium 355M</a:t>
            </a:r>
            <a:endParaRPr sz="130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743200" y="2838450"/>
            <a:ext cx="762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C9D6F2"/>
                </a:solidFill>
                <a:latin typeface="Helvetica Neue" panose="02000503000000020004"/>
                <a:ea typeface="Helvetica Neue" panose="02000503000000020004"/>
              </a:rPr>
              <a:t>1024</a:t>
            </a:r>
            <a:endParaRPr sz="1300">
              <a:solidFill>
                <a:srgbClr val="C9D6F2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695700" y="2838450"/>
            <a:ext cx="47625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C9D6F2"/>
                </a:solidFill>
                <a:latin typeface="Helvetica Neue" panose="02000503000000020004"/>
                <a:ea typeface="Helvetica Neue" panose="02000503000000020004"/>
              </a:rPr>
              <a:t>24</a:t>
            </a:r>
            <a:endParaRPr sz="1300">
              <a:solidFill>
                <a:srgbClr val="C9D6F2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267200" y="2838450"/>
            <a:ext cx="47625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C9D6F2"/>
                </a:solidFill>
                <a:latin typeface="Helvetica Neue" panose="02000503000000020004"/>
                <a:ea typeface="Helvetica Neue" panose="02000503000000020004"/>
              </a:rPr>
              <a:t>16</a:t>
            </a:r>
            <a:endParaRPr sz="1300">
              <a:solidFill>
                <a:srgbClr val="C9D6F2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38200" y="3219450"/>
            <a:ext cx="17145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gpt2-large 774M</a:t>
            </a:r>
            <a:endParaRPr sz="130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743200" y="3219450"/>
            <a:ext cx="762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C9D6F2"/>
                </a:solidFill>
                <a:latin typeface="Helvetica Neue" panose="02000503000000020004"/>
                <a:ea typeface="Helvetica Neue" panose="02000503000000020004"/>
              </a:rPr>
              <a:t>1280</a:t>
            </a:r>
            <a:endParaRPr sz="1300">
              <a:solidFill>
                <a:srgbClr val="C9D6F2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695700" y="3219450"/>
            <a:ext cx="47625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C9D6F2"/>
                </a:solidFill>
                <a:latin typeface="Helvetica Neue" panose="02000503000000020004"/>
                <a:ea typeface="Helvetica Neue" panose="02000503000000020004"/>
              </a:rPr>
              <a:t>36</a:t>
            </a:r>
            <a:endParaRPr sz="1300">
              <a:solidFill>
                <a:srgbClr val="C9D6F2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267200" y="3219450"/>
            <a:ext cx="47625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C9D6F2"/>
                </a:solidFill>
                <a:latin typeface="Helvetica Neue" panose="02000503000000020004"/>
                <a:ea typeface="Helvetica Neue" panose="02000503000000020004"/>
              </a:rPr>
              <a:t>20</a:t>
            </a:r>
            <a:endParaRPr sz="1300">
              <a:solidFill>
                <a:srgbClr val="C9D6F2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38200" y="3600450"/>
            <a:ext cx="17145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gpt2-xl 1558M</a:t>
            </a:r>
            <a:endParaRPr sz="130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743200" y="3600450"/>
            <a:ext cx="762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C9D6F2"/>
                </a:solidFill>
                <a:latin typeface="Helvetica Neue" panose="02000503000000020004"/>
                <a:ea typeface="Helvetica Neue" panose="02000503000000020004"/>
              </a:rPr>
              <a:t>1600</a:t>
            </a:r>
            <a:endParaRPr sz="1300">
              <a:solidFill>
                <a:srgbClr val="C9D6F2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3695700" y="3600450"/>
            <a:ext cx="47625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C9D6F2"/>
                </a:solidFill>
                <a:latin typeface="Helvetica Neue" panose="02000503000000020004"/>
                <a:ea typeface="Helvetica Neue" panose="02000503000000020004"/>
              </a:rPr>
              <a:t>48</a:t>
            </a:r>
            <a:endParaRPr sz="1300">
              <a:solidFill>
                <a:srgbClr val="C9D6F2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267200" y="3600450"/>
            <a:ext cx="47625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C9D6F2"/>
                </a:solidFill>
                <a:latin typeface="Helvetica Neue" panose="02000503000000020004"/>
                <a:ea typeface="Helvetica Neue" panose="02000503000000020004"/>
              </a:rPr>
              <a:t>25</a:t>
            </a:r>
            <a:endParaRPr sz="1300">
              <a:solidFill>
                <a:srgbClr val="C9D6F2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30" name="Shape 30"/>
          <p:cNvSpPr/>
          <p:nvPr/>
        </p:nvSpPr>
        <p:spPr>
          <a:xfrm>
            <a:off x="609600" y="4514850"/>
            <a:ext cx="4572000" cy="917575"/>
          </a:xfrm>
          <a:prstGeom prst="roundRect">
            <a:avLst/>
          </a:prstGeom>
          <a:solidFill>
            <a:srgbClr val="14253E"/>
          </a:solidFill>
          <a:ln w="12700">
            <a:solidFill>
              <a:srgbClr val="2A3A5C"/>
            </a:solidFill>
          </a:ln>
        </p:spPr>
        <p:txBody>
          <a:bodyPr wrap="square" rtlCol="0"/>
          <a:lstStyle/>
          <a:p/>
        </p:txBody>
      </p:sp>
      <p:sp>
        <p:nvSpPr>
          <p:cNvPr id="31" name="TextBox 31"/>
          <p:cNvSpPr txBox="1"/>
          <p:nvPr/>
        </p:nvSpPr>
        <p:spPr>
          <a:xfrm>
            <a:off x="838200" y="4629150"/>
            <a:ext cx="4114800" cy="5143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BASE_CONFIG：vocab_size=50257 · context_length=1024</a:t>
            </a:r>
            <a:endParaRPr sz="120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drop_rate=0.0 · qkv_bias=True</a:t>
            </a:r>
            <a:endParaRPr sz="120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32" name="Shape 32"/>
          <p:cNvSpPr/>
          <p:nvPr/>
        </p:nvSpPr>
        <p:spPr>
          <a:xfrm>
            <a:off x="5295900" y="1600200"/>
            <a:ext cx="6286500" cy="3619500"/>
          </a:xfrm>
          <a:prstGeom prst="roundRect">
            <a:avLst/>
          </a:prstGeom>
          <a:solidFill>
            <a:srgbClr val="0D1830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33" name="TextBox 33"/>
          <p:cNvSpPr txBox="1"/>
          <p:nvPr/>
        </p:nvSpPr>
        <p:spPr>
          <a:xfrm>
            <a:off x="5524500" y="1847850"/>
            <a:ext cx="5829300" cy="3200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sz="1200">
                <a:solidFill>
                  <a:srgbClr val="7EE0A3"/>
                </a:solidFill>
                <a:latin typeface="Menlo" panose="020B0609030804020204"/>
                <a:ea typeface="Menlo" panose="020B0609030804020204"/>
              </a:rPr>
              <a:t>from gpt_download import download_and_load_gpt2</a:t>
            </a:r>
            <a:endParaRPr sz="1200">
              <a:solidFill>
                <a:srgbClr val="7EE0A3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5000"/>
              </a:lnSpc>
            </a:pPr>
            <a:r>
              <a:rPr sz="1200">
                <a:solidFill>
                  <a:srgbClr val="7EE0A3"/>
                </a:solidFill>
                <a:latin typeface="Menlo" panose="020B0609030804020204"/>
                <a:ea typeface="Menlo" panose="020B0609030804020204"/>
              </a:rPr>
              <a:t>from chapter05 import GPTModel, load_weights_into_gpt</a:t>
            </a:r>
            <a:endParaRPr sz="1200">
              <a:solidFill>
                <a:srgbClr val="7EE0A3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5000"/>
              </a:lnSpc>
            </a:pPr>
          </a:p>
          <a:p>
            <a:pPr algn="l">
              <a:lnSpc>
                <a:spcPct val="155000"/>
              </a:lnSpc>
            </a:pPr>
            <a:r>
              <a:rPr sz="120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settings, params = download_and_load_gpt2(</a:t>
            </a:r>
            <a:endParaRPr sz="120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5000"/>
              </a:lnSpc>
            </a:pPr>
            <a:r>
              <a:rPr sz="120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model_size="124M", models_dir="gpt2")</a:t>
            </a:r>
            <a:endParaRPr sz="120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5000"/>
              </a:lnSpc>
            </a:pPr>
            <a:r>
              <a:rPr sz="120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model = GPTModel(BASE_CONFIG)</a:t>
            </a:r>
            <a:endParaRPr sz="120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5000"/>
              </a:lnSpc>
            </a:pPr>
            <a:r>
              <a:rPr sz="120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load_weights_into_gpt(model, params)</a:t>
            </a:r>
            <a:endParaRPr sz="120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5000"/>
              </a:lnSpc>
            </a:pPr>
            <a:r>
              <a:rPr sz="120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model.eval()</a:t>
            </a:r>
            <a:endParaRPr sz="120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34" name="Shape 34"/>
          <p:cNvSpPr/>
          <p:nvPr/>
        </p:nvSpPr>
        <p:spPr>
          <a:xfrm>
            <a:off x="5295900" y="5410200"/>
            <a:ext cx="6286500" cy="838200"/>
          </a:xfrm>
          <a:prstGeom prst="roundRect">
            <a:avLst/>
          </a:prstGeom>
          <a:solidFill>
            <a:srgbClr val="14253E"/>
          </a:solidFill>
          <a:ln w="12700">
            <a:solidFill>
              <a:srgbClr val="2A3A5C"/>
            </a:solidFill>
          </a:ln>
        </p:spPr>
        <p:txBody>
          <a:bodyPr wrap="square" rtlCol="0"/>
          <a:lstStyle/>
          <a:p/>
        </p:txBody>
      </p:sp>
      <p:sp>
        <p:nvSpPr>
          <p:cNvPr id="35" name="TextBox 35"/>
          <p:cNvSpPr txBox="1"/>
          <p:nvPr/>
        </p:nvSpPr>
        <p:spPr>
          <a:xfrm>
            <a:off x="5524500" y="5543550"/>
            <a:ext cx="5829300" cy="590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sz="12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复用第 4、5 章的 GPTModel 与权重加载函数</a:t>
            </a:r>
            <a:endParaRPr sz="12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权重加载后模型即第 5 章的预训练 GPT-2（124M）</a:t>
            </a:r>
            <a:endParaRPr sz="12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609600" y="6572250"/>
            <a:ext cx="3810000" cy="1714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第 6 章 · 针对分类的微调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9715500" y="6572250"/>
            <a:ext cx="1866900" cy="1714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10 / 23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3810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6.4 初始化带有预训练权重的模型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704850"/>
            <a:ext cx="8572500" cy="514350"/>
          </a:xfrm>
        </p:spPr>
        <p:txBody>
          <a:bodyPr wrap="square" lIns="0" tIns="0" rIns="0" bIns="0" rtlCol="0" anchor="t"/>
          <a:lstStyle/>
          <a:p>
            <a:pPr algn="l"/>
            <a:r>
              <a:rPr sz="3000" b="1">
                <a:solidFill>
                  <a:srgbClr val="F2F6FD"/>
                </a:solidFill>
                <a:latin typeface="PingFang SC" panose="020B0400000000000000" charset="-122"/>
                <a:ea typeface="PingFang SC" panose="020B0400000000000000" charset="-122"/>
              </a:rPr>
              <a:t>微调前：基线能力测试</a:t>
            </a:r>
            <a:endParaRPr sz="3000" b="1">
              <a:solidFill>
                <a:srgbClr val="F2F6FD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34400" y="457200"/>
            <a:ext cx="3048000" cy="19050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LLM FROM SCRATCH · 教学课件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223150"/>
          </a:solidFill>
        </p:spPr>
        <p:txBody>
          <a:bodyPr wrap="square" rtlCol="0"/>
          <a:lstStyle/>
          <a:p/>
        </p:txBody>
      </p:sp>
      <p:sp>
        <p:nvSpPr>
          <p:cNvPr id="7" name="Shape 7"/>
          <p:cNvSpPr/>
          <p:nvPr/>
        </p:nvSpPr>
        <p:spPr>
          <a:xfrm>
            <a:off x="609600" y="1600200"/>
            <a:ext cx="5334000" cy="447675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76300" y="1847850"/>
            <a:ext cx="36195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7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文本续写测试</a:t>
            </a:r>
            <a:endParaRPr sz="17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4838700" y="1828800"/>
            <a:ext cx="876300" cy="285750"/>
          </a:xfrm>
          <a:prstGeom prst="roundRect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838700" y="1876425"/>
            <a:ext cx="876300" cy="209550"/>
          </a:xfrm>
        </p:spPr>
        <p:txBody>
          <a:bodyPr wrap="square" lIns="0" tIns="0" rIns="0" bIns="0" rtlCol="0" anchor="t"/>
          <a:lstStyle/>
          <a:p>
            <a:pPr algn="ctr"/>
            <a:r>
              <a:rPr sz="1200" b="1">
                <a:solidFill>
                  <a:srgbClr val="0B1120"/>
                </a:solidFill>
                <a:latin typeface="PingFang SC" panose="020B0400000000000000" charset="-122"/>
                <a:ea typeface="PingFang SC" panose="020B0400000000000000" charset="-122"/>
              </a:rPr>
              <a:t>通过</a:t>
            </a:r>
            <a:endParaRPr sz="1200" b="1">
              <a:solidFill>
                <a:srgbClr val="0B112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876300" y="2305050"/>
            <a:ext cx="4800600" cy="9525"/>
          </a:xfrm>
          <a:prstGeom prst="rect">
            <a:avLst/>
          </a:prstGeom>
          <a:solidFill>
            <a:srgbClr val="26375A"/>
          </a:solidFill>
        </p:spPr>
        <p:txBody>
          <a:bodyPr wrap="square" rtlCol="0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876300" y="2495550"/>
            <a:ext cx="190500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2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输入</a:t>
            </a:r>
            <a:endParaRPr sz="12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76300" y="2743200"/>
            <a:ext cx="48006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"Every effort moves you"</a:t>
            </a:r>
            <a:endParaRPr sz="130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76300" y="3238500"/>
            <a:ext cx="190500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2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模型输出</a:t>
            </a:r>
            <a:endParaRPr sz="12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76300" y="3486150"/>
            <a:ext cx="4800600" cy="914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"Every effort moves you forward. The first step is to understand the importance of your work"</a:t>
            </a:r>
            <a:endParaRPr sz="130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876300" y="5219700"/>
            <a:ext cx="4800600" cy="533400"/>
          </a:xfrm>
          <a:prstGeom prst="roundRect">
            <a:avLst/>
          </a:prstGeom>
          <a:solidFill>
            <a:srgbClr val="0D1830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1066800" y="5353050"/>
            <a:ext cx="44196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生成连贯文本 → 预训练权重已正确加载</a:t>
            </a:r>
            <a:endParaRPr sz="13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6248400" y="1600200"/>
            <a:ext cx="5334000" cy="4476750"/>
          </a:xfrm>
          <a:prstGeom prst="roundRect">
            <a:avLst/>
          </a:prstGeom>
          <a:solidFill>
            <a:srgbClr val="182136"/>
          </a:solidFill>
          <a:ln w="19050">
            <a:solidFill>
              <a:srgbClr val="F5A623"/>
            </a:solidFill>
          </a:ln>
        </p:spPr>
        <p:txBody>
          <a:bodyPr wrap="square" rtlCol="0"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6515100" y="1847850"/>
            <a:ext cx="36195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7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指令遵循测试</a:t>
            </a:r>
            <a:endParaRPr sz="17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10477500" y="1828800"/>
            <a:ext cx="876300" cy="285750"/>
          </a:xfrm>
          <a:prstGeom prst="round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10477500" y="1876425"/>
            <a:ext cx="876300" cy="209550"/>
          </a:xfrm>
        </p:spPr>
        <p:txBody>
          <a:bodyPr wrap="square" lIns="0" tIns="0" rIns="0" bIns="0" rtlCol="0" anchor="t"/>
          <a:lstStyle/>
          <a:p>
            <a:pPr algn="ctr"/>
            <a:r>
              <a:rPr sz="1200" b="1">
                <a:solidFill>
                  <a:srgbClr val="0B1120"/>
                </a:solidFill>
                <a:latin typeface="PingFang SC" panose="020B0400000000000000" charset="-122"/>
                <a:ea typeface="PingFang SC" panose="020B0400000000000000" charset="-122"/>
              </a:rPr>
              <a:t>未通过</a:t>
            </a:r>
            <a:endParaRPr sz="1200" b="1">
              <a:solidFill>
                <a:srgbClr val="0B112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6515100" y="2305050"/>
            <a:ext cx="4800600" cy="9525"/>
          </a:xfrm>
          <a:prstGeom prst="rect">
            <a:avLst/>
          </a:prstGeom>
          <a:solidFill>
            <a:srgbClr val="3A3A4A"/>
          </a:solidFill>
        </p:spPr>
        <p:txBody>
          <a:bodyPr wrap="square" rtlCol="0"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6515100" y="2495550"/>
            <a:ext cx="190500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2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输入</a:t>
            </a:r>
            <a:endParaRPr sz="12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515100" y="2743200"/>
            <a:ext cx="4800600" cy="8001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sz="12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"Is the following text 'spam'? Answer with 'yes' or 'no': 'You are a winner you have been specially selected to receive $1000 cash or a $2000 award.'"</a:t>
            </a:r>
            <a:endParaRPr sz="12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515100" y="3562350"/>
            <a:ext cx="190500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2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模型输出</a:t>
            </a:r>
            <a:endParaRPr sz="12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515100" y="3810000"/>
            <a:ext cx="4800600" cy="6858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模型只是复述输入文本，无法回答 "yes" 或 "no"</a:t>
            </a:r>
            <a:endParaRPr sz="13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6515100" y="5219700"/>
            <a:ext cx="4800600" cy="533400"/>
          </a:xfrm>
          <a:prstGeom prst="roundRect">
            <a:avLst/>
          </a:prstGeom>
          <a:solidFill>
            <a:srgbClr val="0D1830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6705600" y="5353050"/>
            <a:ext cx="44196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仅预训练的模型缺乏指令能力 → 需要分类微调</a:t>
            </a:r>
            <a:endParaRPr sz="13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09600" y="6572250"/>
            <a:ext cx="3810000" cy="1714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第 6 章 · 针对分类的微调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715500" y="6572250"/>
            <a:ext cx="1866900" cy="1714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11 / 23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3810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6.5 添加分类头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704850"/>
            <a:ext cx="8572500" cy="514350"/>
          </a:xfrm>
        </p:spPr>
        <p:txBody>
          <a:bodyPr wrap="square" lIns="0" tIns="0" rIns="0" bIns="0" rtlCol="0" anchor="t"/>
          <a:lstStyle/>
          <a:p>
            <a:pPr algn="l"/>
            <a:r>
              <a:rPr sz="3000" b="1">
                <a:solidFill>
                  <a:srgbClr val="F2F6FD"/>
                </a:solidFill>
                <a:latin typeface="PingFang SC" panose="020B0400000000000000" charset="-122"/>
                <a:ea typeface="PingFang SC" panose="020B0400000000000000" charset="-122"/>
              </a:rPr>
              <a:t>替换输出层：50 257 个词元 → 2 个类别</a:t>
            </a:r>
            <a:endParaRPr sz="3000" b="1">
              <a:solidFill>
                <a:srgbClr val="F2F6FD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34400" y="457200"/>
            <a:ext cx="3048000" cy="19050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LLM FROM SCRATCH · 教学课件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223150"/>
          </a:solidFill>
        </p:spPr>
        <p:txBody>
          <a:bodyPr wrap="square" rtlCol="0"/>
          <a:lstStyle/>
          <a:p/>
        </p:txBody>
      </p:sp>
      <p:sp>
        <p:nvSpPr>
          <p:cNvPr id="7" name="Shape 7"/>
          <p:cNvSpPr/>
          <p:nvPr/>
        </p:nvSpPr>
        <p:spPr>
          <a:xfrm>
            <a:off x="609600" y="2381250"/>
            <a:ext cx="2343150" cy="161925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38200" y="2609850"/>
            <a:ext cx="188595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GPT 主干输出</a:t>
            </a:r>
            <a:endParaRPr sz="15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38200" y="2933700"/>
            <a:ext cx="1885950" cy="419100"/>
          </a:xfrm>
        </p:spPr>
        <p:txBody>
          <a:bodyPr wrap="square" lIns="0" tIns="0" rIns="0" bIns="0" rtlCol="0" anchor="t"/>
          <a:lstStyle/>
          <a:p>
            <a:pPr algn="l"/>
            <a:r>
              <a:rPr sz="26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768</a:t>
            </a:r>
            <a:endParaRPr sz="26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38200" y="3371850"/>
            <a:ext cx="1885950" cy="381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final_norm 之后的隐藏状态</a:t>
            </a:r>
            <a:endParaRPr sz="120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952750" y="2781300"/>
            <a:ext cx="571500" cy="171450"/>
          </a:xfrm>
        </p:spPr>
        <p:txBody>
          <a:bodyPr wrap="square" lIns="0" tIns="0" rIns="0" bIns="0" rtlCol="0" anchor="t"/>
          <a:lstStyle/>
          <a:p>
            <a:pPr algn="ctr"/>
            <a:r>
              <a:rPr sz="11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替换</a:t>
            </a:r>
            <a:endParaRPr sz="11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3028950" y="3048000"/>
            <a:ext cx="419100" cy="266700"/>
          </a:xfrm>
          <a:prstGeom prst="rightArrow">
            <a:avLst/>
          </a:prstGeom>
          <a:solidFill>
            <a:srgbClr val="2E3D5C"/>
          </a:solidFill>
        </p:spPr>
        <p:txBody>
          <a:bodyPr wrap="square" rtlCol="0"/>
          <a:lstStyle/>
          <a:p/>
        </p:txBody>
      </p:sp>
      <p:sp>
        <p:nvSpPr>
          <p:cNvPr id="13" name="Shape 13"/>
          <p:cNvSpPr/>
          <p:nvPr/>
        </p:nvSpPr>
        <p:spPr>
          <a:xfrm>
            <a:off x="3524250" y="2381250"/>
            <a:ext cx="2381250" cy="1619250"/>
          </a:xfrm>
          <a:prstGeom prst="roundRect">
            <a:avLst/>
          </a:prstGeom>
          <a:solidFill>
            <a:srgbClr val="151D30"/>
          </a:solidFill>
          <a:ln w="12700">
            <a:solidFill>
              <a:srgbClr val="3A3A4A"/>
            </a:solidFill>
          </a:ln>
        </p:spPr>
        <p:txBody>
          <a:bodyPr wrap="square" rtlCol="0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3752850" y="2609850"/>
            <a:ext cx="104775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原始输出层</a:t>
            </a:r>
            <a:endParaRPr sz="1500" b="1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4895850" y="2571750"/>
            <a:ext cx="781050" cy="247650"/>
          </a:xfrm>
          <a:prstGeom prst="roundRect">
            <a:avLst/>
          </a:prstGeom>
          <a:solidFill>
            <a:srgbClr val="1B2946"/>
          </a:solidFill>
          <a:ln w="12700">
            <a:solidFill>
              <a:srgbClr val="3A3A4A"/>
            </a:solidFill>
          </a:ln>
        </p:spPr>
        <p:txBody>
          <a:bodyPr wrap="square" rtlCol="0"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4895850" y="2609850"/>
            <a:ext cx="781050" cy="190500"/>
          </a:xfrm>
        </p:spPr>
        <p:txBody>
          <a:bodyPr wrap="square" lIns="0" tIns="0" rIns="0" bIns="0" rtlCol="0" anchor="t"/>
          <a:lstStyle/>
          <a:p>
            <a:pPr algn="ctr"/>
            <a:r>
              <a:rPr sz="1100" b="1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已替换</a:t>
            </a:r>
            <a:endParaRPr sz="1100" b="1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752850" y="2971800"/>
            <a:ext cx="192405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8FA3C8"/>
                </a:solidFill>
                <a:latin typeface="Menlo" panose="020B0609030804020204"/>
                <a:ea typeface="Menlo" panose="020B0609030804020204"/>
              </a:rPr>
              <a:t>Linear(768 → 50257)</a:t>
            </a:r>
            <a:endParaRPr sz="1250">
              <a:solidFill>
                <a:srgbClr val="8FA3C8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752850" y="3276600"/>
            <a:ext cx="1924050" cy="533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将隐藏状态映射到 50 257 个词元的词汇表</a:t>
            </a:r>
            <a:endParaRPr sz="12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5943600" y="3048000"/>
            <a:ext cx="419100" cy="266700"/>
          </a:xfrm>
          <a:prstGeom prst="rightArrow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20" name="Shape 20"/>
          <p:cNvSpPr/>
          <p:nvPr/>
        </p:nvSpPr>
        <p:spPr>
          <a:xfrm>
            <a:off x="6438900" y="2381250"/>
            <a:ext cx="2381250" cy="1619250"/>
          </a:xfrm>
          <a:prstGeom prst="roundRect">
            <a:avLst/>
          </a:prstGeom>
          <a:solidFill>
            <a:srgbClr val="14253E"/>
          </a:solidFill>
          <a:ln w="19050">
            <a:solidFill>
              <a:srgbClr val="38BDF8"/>
            </a:solidFill>
          </a:ln>
        </p:spPr>
        <p:txBody>
          <a:bodyPr wrap="square" rtlCol="0"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667500" y="2609850"/>
            <a:ext cx="104775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新分类头</a:t>
            </a:r>
            <a:endParaRPr sz="15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7810500" y="2571750"/>
            <a:ext cx="781050" cy="247650"/>
          </a:xfrm>
          <a:prstGeom prst="roundRect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7810500" y="2609850"/>
            <a:ext cx="781050" cy="190500"/>
          </a:xfrm>
        </p:spPr>
        <p:txBody>
          <a:bodyPr wrap="square" lIns="0" tIns="0" rIns="0" bIns="0" rtlCol="0" anchor="t"/>
          <a:lstStyle/>
          <a:p>
            <a:pPr algn="ctr"/>
            <a:r>
              <a:rPr sz="1100" b="1">
                <a:solidFill>
                  <a:srgbClr val="0B1120"/>
                </a:solidFill>
                <a:latin typeface="PingFang SC" panose="020B0400000000000000" charset="-122"/>
                <a:ea typeface="PingFang SC" panose="020B0400000000000000" charset="-122"/>
              </a:rPr>
              <a:t>可训练</a:t>
            </a:r>
            <a:endParaRPr sz="1100" b="1">
              <a:solidFill>
                <a:srgbClr val="0B112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667500" y="2971800"/>
            <a:ext cx="192405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38BDF8"/>
                </a:solidFill>
                <a:latin typeface="Menlo" panose="020B0609030804020204"/>
                <a:ea typeface="Menlo" panose="020B0609030804020204"/>
              </a:rPr>
              <a:t>Linear(768 → 2)</a:t>
            </a:r>
            <a:endParaRPr sz="1250">
              <a:solidFill>
                <a:srgbClr val="38BDF8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667500" y="3276600"/>
            <a:ext cx="1924050" cy="533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输出节点数 = 类别数（二分类 → 2 个节点）</a:t>
            </a:r>
            <a:endParaRPr sz="12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8858250" y="3048000"/>
            <a:ext cx="419100" cy="266700"/>
          </a:xfrm>
          <a:prstGeom prst="rightArrow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27" name="Shape 27"/>
          <p:cNvSpPr/>
          <p:nvPr/>
        </p:nvSpPr>
        <p:spPr>
          <a:xfrm>
            <a:off x="9353550" y="2381250"/>
            <a:ext cx="2228850" cy="161925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9582150" y="2609850"/>
            <a:ext cx="177165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类别标签</a:t>
            </a:r>
            <a:endParaRPr sz="15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582150" y="2952750"/>
            <a:ext cx="1771650" cy="396240"/>
          </a:xfrm>
        </p:spPr>
        <p:txBody>
          <a:bodyPr wrap="square" lIns="0" tIns="0" rIns="0" bIns="0" rtlCol="0" anchor="t"/>
          <a:lstStyle/>
          <a:p>
            <a:pPr algn="l"/>
            <a:r>
              <a:rPr sz="26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0 / 1</a:t>
            </a:r>
            <a:endParaRPr sz="26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582150" y="3390900"/>
            <a:ext cx="1771650" cy="475488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2 维 logits → argmax 得标签</a:t>
            </a:r>
            <a:endParaRPr sz="120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1" name="Shape 31"/>
          <p:cNvSpPr/>
          <p:nvPr/>
        </p:nvSpPr>
        <p:spPr>
          <a:xfrm>
            <a:off x="609600" y="4476750"/>
            <a:ext cx="5334000" cy="142875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838200" y="4686300"/>
            <a:ext cx="48768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45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为什么用 2 个输出节点？</a:t>
            </a:r>
            <a:endParaRPr sz="145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38200" y="5029200"/>
            <a:ext cx="4876800" cy="828675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二分类也可用 1 个输出节点，但需修改损失函数；更通用的做法是让输出节点数与类别数一致，如三分类（科技/体育/政治）用 3 个节点。</a:t>
            </a:r>
            <a:endParaRPr sz="12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4" name="Shape 34"/>
          <p:cNvSpPr/>
          <p:nvPr/>
        </p:nvSpPr>
        <p:spPr>
          <a:xfrm>
            <a:off x="6172200" y="4476750"/>
            <a:ext cx="5410200" cy="1718945"/>
          </a:xfrm>
          <a:prstGeom prst="roundRect">
            <a:avLst/>
          </a:prstGeom>
          <a:solidFill>
            <a:srgbClr val="0D1830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35" name="TextBox 35"/>
          <p:cNvSpPr txBox="1"/>
          <p:nvPr/>
        </p:nvSpPr>
        <p:spPr>
          <a:xfrm>
            <a:off x="6400800" y="4686300"/>
            <a:ext cx="49530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250" b="1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代码清单 6-7 · 添加分类层</a:t>
            </a:r>
            <a:endParaRPr sz="1250" b="1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6400800" y="5029200"/>
            <a:ext cx="4953000" cy="109728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sz="120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torch.manual_seed(123)</a:t>
            </a:r>
            <a:endParaRPr sz="120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model.out_head = torch.nn.Linear(</a:t>
            </a:r>
            <a:endParaRPr sz="120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in_features=BASE_CONFIG["emb_dim"],  # 768</a:t>
            </a:r>
            <a:endParaRPr sz="120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out_features=2)  # num_classes</a:t>
            </a:r>
            <a:endParaRPr sz="120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09600" y="6572250"/>
            <a:ext cx="3810000" cy="1714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第 6 章 · 针对分类的微调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9715500" y="6572250"/>
            <a:ext cx="1866900" cy="1714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12 / 23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3810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6.5 添加分类头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704850"/>
            <a:ext cx="8572500" cy="514350"/>
          </a:xfrm>
        </p:spPr>
        <p:txBody>
          <a:bodyPr wrap="square" lIns="0" tIns="0" rIns="0" bIns="0" rtlCol="0" anchor="t"/>
          <a:lstStyle/>
          <a:p>
            <a:pPr algn="l"/>
            <a:r>
              <a:rPr sz="3000" b="1">
                <a:solidFill>
                  <a:srgbClr val="F2F6FD"/>
                </a:solidFill>
                <a:latin typeface="PingFang SC" panose="020B0400000000000000" charset="-122"/>
                <a:ea typeface="PingFang SC" panose="020B0400000000000000" charset="-122"/>
              </a:rPr>
              <a:t>微调哪些层：冻结与解冻</a:t>
            </a:r>
            <a:endParaRPr sz="3000" b="1">
              <a:solidFill>
                <a:srgbClr val="F2F6FD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34400" y="457200"/>
            <a:ext cx="3048000" cy="19050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LLM FROM SCRATCH · 教学课件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223150"/>
          </a:solidFill>
        </p:spPr>
        <p:txBody>
          <a:bodyPr wrap="square" rtlCol="0"/>
          <a:lstStyle/>
          <a:p/>
        </p:txBody>
      </p:sp>
      <p:sp>
        <p:nvSpPr>
          <p:cNvPr id="7" name="Shape 7"/>
          <p:cNvSpPr/>
          <p:nvPr/>
        </p:nvSpPr>
        <p:spPr>
          <a:xfrm>
            <a:off x="609600" y="1600200"/>
            <a:ext cx="5334000" cy="43815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38200" y="1809750"/>
            <a:ext cx="2857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45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可训练层一览</a:t>
            </a:r>
            <a:endParaRPr sz="145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838200" y="2171700"/>
            <a:ext cx="4838700" cy="400050"/>
          </a:xfrm>
          <a:prstGeom prst="roundRect">
            <a:avLst/>
          </a:prstGeom>
          <a:solidFill>
            <a:srgbClr val="151D30"/>
          </a:solidFill>
          <a:ln w="12700">
            <a:solidFill>
              <a:srgbClr val="3A3A4A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2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tok_emb + pos_emb 嵌入层（冻结）</a:t>
            </a:r>
            <a:endParaRPr sz="12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3048000" y="2647950"/>
            <a:ext cx="228600" cy="247650"/>
          </a:xfrm>
          <a:prstGeom prst="downArrow">
            <a:avLst/>
          </a:prstGeom>
          <a:solidFill>
            <a:srgbClr val="2E3D5C"/>
          </a:solidFill>
        </p:spPr>
        <p:txBody>
          <a:bodyPr wrap="square" rtlCol="0"/>
          <a:lstStyle/>
          <a:p/>
        </p:txBody>
      </p:sp>
      <p:sp>
        <p:nvSpPr>
          <p:cNvPr id="11" name="Shape 11"/>
          <p:cNvSpPr/>
          <p:nvPr/>
        </p:nvSpPr>
        <p:spPr>
          <a:xfrm>
            <a:off x="838200" y="2971800"/>
            <a:ext cx="742950" cy="323850"/>
          </a:xfrm>
          <a:prstGeom prst="roundRect">
            <a:avLst/>
          </a:prstGeom>
          <a:solidFill>
            <a:srgbClr val="151D30"/>
          </a:solidFill>
          <a:ln w="12700">
            <a:solidFill>
              <a:srgbClr val="3A3A4A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1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1657350" y="2971800"/>
            <a:ext cx="742950" cy="323850"/>
          </a:xfrm>
          <a:prstGeom prst="roundRect">
            <a:avLst/>
          </a:prstGeom>
          <a:solidFill>
            <a:srgbClr val="151D30"/>
          </a:solidFill>
          <a:ln w="12700">
            <a:solidFill>
              <a:srgbClr val="3A3A4A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2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2476500" y="2971800"/>
            <a:ext cx="742950" cy="323850"/>
          </a:xfrm>
          <a:prstGeom prst="roundRect">
            <a:avLst/>
          </a:prstGeom>
          <a:solidFill>
            <a:srgbClr val="151D30"/>
          </a:solidFill>
          <a:ln w="12700">
            <a:solidFill>
              <a:srgbClr val="3A3A4A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3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3295650" y="2971800"/>
            <a:ext cx="742950" cy="323850"/>
          </a:xfrm>
          <a:prstGeom prst="roundRect">
            <a:avLst/>
          </a:prstGeom>
          <a:solidFill>
            <a:srgbClr val="151D30"/>
          </a:solidFill>
          <a:ln w="12700">
            <a:solidFill>
              <a:srgbClr val="3A3A4A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4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4114800" y="2971800"/>
            <a:ext cx="742950" cy="323850"/>
          </a:xfrm>
          <a:prstGeom prst="roundRect">
            <a:avLst/>
          </a:prstGeom>
          <a:solidFill>
            <a:srgbClr val="151D30"/>
          </a:solidFill>
          <a:ln w="12700">
            <a:solidFill>
              <a:srgbClr val="3A3A4A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5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4933950" y="2971800"/>
            <a:ext cx="742950" cy="323850"/>
          </a:xfrm>
          <a:prstGeom prst="roundRect">
            <a:avLst/>
          </a:prstGeom>
          <a:solidFill>
            <a:srgbClr val="151D30"/>
          </a:solidFill>
          <a:ln w="12700">
            <a:solidFill>
              <a:srgbClr val="3A3A4A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6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838200" y="3371850"/>
            <a:ext cx="742950" cy="323850"/>
          </a:xfrm>
          <a:prstGeom prst="roundRect">
            <a:avLst/>
          </a:prstGeom>
          <a:solidFill>
            <a:srgbClr val="151D30"/>
          </a:solidFill>
          <a:ln w="12700">
            <a:solidFill>
              <a:srgbClr val="3A3A4A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7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1657350" y="3371850"/>
            <a:ext cx="742950" cy="323850"/>
          </a:xfrm>
          <a:prstGeom prst="roundRect">
            <a:avLst/>
          </a:prstGeom>
          <a:solidFill>
            <a:srgbClr val="151D30"/>
          </a:solidFill>
          <a:ln w="12700">
            <a:solidFill>
              <a:srgbClr val="3A3A4A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8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2476500" y="3371850"/>
            <a:ext cx="742950" cy="323850"/>
          </a:xfrm>
          <a:prstGeom prst="roundRect">
            <a:avLst/>
          </a:prstGeom>
          <a:solidFill>
            <a:srgbClr val="151D30"/>
          </a:solidFill>
          <a:ln w="12700">
            <a:solidFill>
              <a:srgbClr val="3A3A4A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9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3295650" y="3371850"/>
            <a:ext cx="742950" cy="323850"/>
          </a:xfrm>
          <a:prstGeom prst="roundRect">
            <a:avLst/>
          </a:prstGeom>
          <a:solidFill>
            <a:srgbClr val="151D30"/>
          </a:solidFill>
          <a:ln w="12700">
            <a:solidFill>
              <a:srgbClr val="3A3A4A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10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4114800" y="3371850"/>
            <a:ext cx="742950" cy="323850"/>
          </a:xfrm>
          <a:prstGeom prst="roundRect">
            <a:avLst/>
          </a:prstGeom>
          <a:solidFill>
            <a:srgbClr val="151D30"/>
          </a:solidFill>
          <a:ln w="12700">
            <a:solidFill>
              <a:srgbClr val="3A3A4A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11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4933950" y="3371850"/>
            <a:ext cx="742950" cy="323850"/>
          </a:xfrm>
          <a:prstGeom prst="roundRect">
            <a:avLst/>
          </a:prstGeom>
          <a:solidFill>
            <a:srgbClr val="38BDF8"/>
          </a:solidFill>
        </p:spPr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Helvetica Neue" panose="02000503000000020004"/>
                <a:ea typeface="Helvetica Neue" panose="02000503000000020004"/>
              </a:rPr>
              <a:t>12</a:t>
            </a:r>
            <a:endParaRPr sz="1100" b="1">
              <a:solidFill>
                <a:srgbClr val="0B1120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38200" y="3810000"/>
            <a:ext cx="483870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1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Transformer 块 1–11 冻结　·　块 12 可训练</a:t>
            </a:r>
            <a:endParaRPr sz="11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3048000" y="4095750"/>
            <a:ext cx="228600" cy="247650"/>
          </a:xfrm>
          <a:prstGeom prst="downArrow">
            <a:avLst/>
          </a:prstGeom>
          <a:solidFill>
            <a:srgbClr val="2E3D5C"/>
          </a:solidFill>
        </p:spPr>
        <p:txBody>
          <a:bodyPr wrap="square" rtlCol="0"/>
          <a:lstStyle/>
          <a:p/>
        </p:txBody>
      </p:sp>
      <p:sp>
        <p:nvSpPr>
          <p:cNvPr id="25" name="Shape 25"/>
          <p:cNvSpPr/>
          <p:nvPr/>
        </p:nvSpPr>
        <p:spPr>
          <a:xfrm>
            <a:off x="838200" y="4419600"/>
            <a:ext cx="4838700" cy="400050"/>
          </a:xfrm>
          <a:prstGeom prst="roundRect">
            <a:avLst/>
          </a:prstGeom>
          <a:solidFill>
            <a:srgbClr val="38BDF8"/>
          </a:solidFill>
        </p:spPr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0B1120"/>
                </a:solidFill>
                <a:latin typeface="PingFang SC" panose="020B0400000000000000" charset="-122"/>
                <a:ea typeface="PingFang SC" panose="020B0400000000000000" charset="-122"/>
              </a:rPr>
              <a:t>final_norm（可训练）</a:t>
            </a:r>
            <a:endParaRPr sz="1200" b="1">
              <a:solidFill>
                <a:srgbClr val="0B112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3048000" y="4895850"/>
            <a:ext cx="228600" cy="247650"/>
          </a:xfrm>
          <a:prstGeom prst="downArrow">
            <a:avLst/>
          </a:prstGeom>
          <a:solidFill>
            <a:srgbClr val="2E3D5C"/>
          </a:solidFill>
        </p:spPr>
        <p:txBody>
          <a:bodyPr wrap="square" rtlCol="0"/>
          <a:lstStyle/>
          <a:p/>
        </p:txBody>
      </p:sp>
      <p:sp>
        <p:nvSpPr>
          <p:cNvPr id="27" name="Shape 27"/>
          <p:cNvSpPr/>
          <p:nvPr/>
        </p:nvSpPr>
        <p:spPr>
          <a:xfrm>
            <a:off x="838200" y="5219700"/>
            <a:ext cx="4838700" cy="400050"/>
          </a:xfrm>
          <a:prstGeom prst="roundRect">
            <a:avLst/>
          </a:prstGeom>
          <a:solidFill>
            <a:srgbClr val="38BDF8"/>
          </a:solidFill>
        </p:spPr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0B1120"/>
                </a:solidFill>
                <a:latin typeface="PingFang SC" panose="020B0400000000000000" charset="-122"/>
                <a:ea typeface="PingFang SC" panose="020B0400000000000000" charset="-122"/>
              </a:rPr>
              <a:t>out_head · Linear(768 → 2)（可训练，替换后的新层）</a:t>
            </a:r>
            <a:endParaRPr sz="1200" b="1">
              <a:solidFill>
                <a:srgbClr val="0B1120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6324600" y="1600200"/>
            <a:ext cx="5257800" cy="25908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6553200" y="1809750"/>
            <a:ext cx="2857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45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操作步骤</a:t>
            </a:r>
            <a:endParaRPr sz="145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553200" y="2171700"/>
            <a:ext cx="4800600" cy="571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1　</a:t>
            </a:r>
            <a:r>
              <a:rPr sz="13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冻结全部参数：</a:t>
            </a:r>
            <a:r>
              <a:rPr sz="120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for param in model.parameters(): param.requires_grad = False</a:t>
            </a:r>
            <a:endParaRPr sz="120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553200" y="2819400"/>
            <a:ext cx="4800600" cy="571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2　</a:t>
            </a:r>
            <a:r>
              <a:rPr sz="13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替换输出层：</a:t>
            </a:r>
            <a:r>
              <a:rPr sz="12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新 out_head 的 requires_grad 默认为 True，是唯一必训层</a:t>
            </a:r>
            <a:endParaRPr sz="12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553200" y="3467100"/>
            <a:ext cx="4800600" cy="571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3　</a:t>
            </a:r>
            <a:r>
              <a:rPr sz="13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解冻块 12 与 final_norm：</a:t>
            </a:r>
            <a:r>
              <a:rPr sz="12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实验证明可显著提升预测性能</a:t>
            </a:r>
            <a:endParaRPr sz="12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3" name="Shape 33"/>
          <p:cNvSpPr/>
          <p:nvPr/>
        </p:nvSpPr>
        <p:spPr>
          <a:xfrm>
            <a:off x="6324600" y="4457700"/>
            <a:ext cx="5257800" cy="1524000"/>
          </a:xfrm>
          <a:prstGeom prst="roundRect">
            <a:avLst/>
          </a:prstGeom>
          <a:solidFill>
            <a:srgbClr val="14253E"/>
          </a:solidFill>
          <a:ln w="12700">
            <a:solidFill>
              <a:srgbClr val="2A3A5C"/>
            </a:solidFill>
          </a:ln>
        </p:spPr>
        <p:txBody>
          <a:bodyPr wrap="square" rtlCol="0"/>
          <a:lstStyle/>
          <a:p/>
        </p:txBody>
      </p:sp>
      <p:sp>
        <p:nvSpPr>
          <p:cNvPr id="34" name="TextBox 34"/>
          <p:cNvSpPr txBox="1"/>
          <p:nvPr/>
        </p:nvSpPr>
        <p:spPr>
          <a:xfrm>
            <a:off x="6553200" y="4667250"/>
            <a:ext cx="48006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45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为什么只微调最后几层？</a:t>
            </a:r>
            <a:endParaRPr sz="145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6553200" y="5010150"/>
            <a:ext cx="4800600" cy="8382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较低层捕捉基本语言结构与语义，适用于广泛任务；最后几层更侧重细微语言模式与任务特定特征。仅微调少量层在计算上也更高效（附注 B 有逐层微调实验）。</a:t>
            </a:r>
            <a:endParaRPr sz="12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609600" y="6572250"/>
            <a:ext cx="3810000" cy="1714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第 6 章 · 针对分类的微调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9715500" y="6572250"/>
            <a:ext cx="1866900" cy="1714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13 / 23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3810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6.5 添加分类头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704850"/>
            <a:ext cx="8572500" cy="514350"/>
          </a:xfrm>
        </p:spPr>
        <p:txBody>
          <a:bodyPr wrap="square" lIns="0" tIns="0" rIns="0" bIns="0" rtlCol="0" anchor="t"/>
          <a:lstStyle/>
          <a:p>
            <a:pPr algn="l"/>
            <a:r>
              <a:rPr sz="3000" b="1">
                <a:solidFill>
                  <a:srgbClr val="F2F6FD"/>
                </a:solidFill>
                <a:latin typeface="PingFang SC" panose="020B0400000000000000" charset="-122"/>
                <a:ea typeface="PingFang SC" panose="020B0400000000000000" charset="-122"/>
              </a:rPr>
              <a:t>取最后一个输出词元</a:t>
            </a:r>
            <a:endParaRPr sz="3000" b="1">
              <a:solidFill>
                <a:srgbClr val="F2F6FD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34400" y="457200"/>
            <a:ext cx="3048000" cy="19050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LLM FROM SCRATCH · 教学课件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223150"/>
          </a:solidFill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1428750" y="1866900"/>
            <a:ext cx="819150" cy="228600"/>
          </a:xfrm>
        </p:spPr>
        <p:txBody>
          <a:bodyPr wrap="square" lIns="0" tIns="0" rIns="0" bIns="0" rtlCol="0" anchor="t"/>
          <a:lstStyle/>
          <a:p>
            <a:pPr algn="ctr"/>
            <a:r>
              <a:rPr sz="1200" b="1">
                <a:solidFill>
                  <a:srgbClr val="8FA3C8"/>
                </a:solidFill>
                <a:latin typeface="Menlo" panose="020B0609030804020204"/>
                <a:ea typeface="Menlo" panose="020B0609030804020204"/>
              </a:rPr>
              <a:t>Do</a:t>
            </a:r>
            <a:endParaRPr sz="1200" b="1">
              <a:solidFill>
                <a:srgbClr val="8FA3C8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286000" y="1866900"/>
            <a:ext cx="819150" cy="228600"/>
          </a:xfrm>
        </p:spPr>
        <p:txBody>
          <a:bodyPr wrap="square" lIns="0" tIns="0" rIns="0" bIns="0" rtlCol="0" anchor="t"/>
          <a:lstStyle/>
          <a:p>
            <a:pPr algn="ctr"/>
            <a:r>
              <a:rPr sz="1200" b="1">
                <a:solidFill>
                  <a:srgbClr val="8FA3C8"/>
                </a:solidFill>
                <a:latin typeface="Menlo" panose="020B0609030804020204"/>
                <a:ea typeface="Menlo" panose="020B0609030804020204"/>
              </a:rPr>
              <a:t>you</a:t>
            </a:r>
            <a:endParaRPr sz="1200" b="1">
              <a:solidFill>
                <a:srgbClr val="8FA3C8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143250" y="1866900"/>
            <a:ext cx="819150" cy="228600"/>
          </a:xfrm>
        </p:spPr>
        <p:txBody>
          <a:bodyPr wrap="square" lIns="0" tIns="0" rIns="0" bIns="0" rtlCol="0" anchor="t"/>
          <a:lstStyle/>
          <a:p>
            <a:pPr algn="ctr"/>
            <a:r>
              <a:rPr sz="1200" b="1">
                <a:solidFill>
                  <a:srgbClr val="8FA3C8"/>
                </a:solidFill>
                <a:latin typeface="Menlo" panose="020B0609030804020204"/>
                <a:ea typeface="Menlo" panose="020B0609030804020204"/>
              </a:rPr>
              <a:t>have</a:t>
            </a:r>
            <a:endParaRPr sz="1200" b="1">
              <a:solidFill>
                <a:srgbClr val="8FA3C8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000500" y="1866900"/>
            <a:ext cx="819150" cy="228600"/>
          </a:xfrm>
        </p:spPr>
        <p:txBody>
          <a:bodyPr wrap="square" lIns="0" tIns="0" rIns="0" bIns="0" rtlCol="0" anchor="t"/>
          <a:lstStyle/>
          <a:p>
            <a:pPr algn="ctr"/>
            <a:r>
              <a:rPr sz="1200" b="1">
                <a:solidFill>
                  <a:srgbClr val="38BDF8"/>
                </a:solidFill>
                <a:latin typeface="Menlo" panose="020B0609030804020204"/>
                <a:ea typeface="Menlo" panose="020B0609030804020204"/>
              </a:rPr>
              <a:t>time</a:t>
            </a:r>
            <a:endParaRPr sz="1200" b="1">
              <a:solidFill>
                <a:srgbClr val="38BDF8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52500" y="2286000"/>
            <a:ext cx="419100" cy="228600"/>
          </a:xfrm>
        </p:spPr>
        <p:txBody>
          <a:bodyPr wrap="square" lIns="0" tIns="0" rIns="0" bIns="0" rtlCol="0" anchor="t"/>
          <a:lstStyle/>
          <a:p>
            <a:pPr algn="ctr"/>
            <a:r>
              <a:rPr sz="1200" b="1">
                <a:solidFill>
                  <a:srgbClr val="8FA3C8"/>
                </a:solidFill>
                <a:latin typeface="Menlo" panose="020B0609030804020204"/>
                <a:ea typeface="Menlo" panose="020B0609030804020204"/>
              </a:rPr>
              <a:t>Do</a:t>
            </a:r>
            <a:endParaRPr sz="1200" b="1">
              <a:solidFill>
                <a:srgbClr val="8FA3C8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1428750" y="2152650"/>
            <a:ext cx="819150" cy="495300"/>
          </a:xfrm>
          <a:prstGeom prst="roundRect">
            <a:avLst/>
          </a:prstGeom>
          <a:solidFill>
            <a:srgbClr val="1F3A63"/>
          </a:solidFill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</a:rPr>
              <a:t>0.28</a:t>
            </a:r>
            <a:endParaRPr sz="1100">
              <a:solidFill>
                <a:srgbClr val="E8EE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2286000" y="2152650"/>
            <a:ext cx="819150" cy="495300"/>
          </a:xfrm>
          <a:prstGeom prst="roundRect">
            <a:avLst/>
          </a:prstGeom>
          <a:solidFill>
            <a:srgbClr val="151D30"/>
          </a:solidFill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3A4A6B"/>
                </a:solidFill>
                <a:latin typeface="Helvetica Neue" panose="02000503000000020004"/>
                <a:ea typeface="Helvetica Neue" panose="02000503000000020004"/>
              </a:rPr>
              <a:t>·</a:t>
            </a:r>
            <a:endParaRPr sz="1100">
              <a:solidFill>
                <a:srgbClr val="3A4A6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3143250" y="2152650"/>
            <a:ext cx="819150" cy="495300"/>
          </a:xfrm>
          <a:prstGeom prst="roundRect">
            <a:avLst/>
          </a:prstGeom>
          <a:solidFill>
            <a:srgbClr val="151D30"/>
          </a:solidFill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3A4A6B"/>
                </a:solidFill>
                <a:latin typeface="Helvetica Neue" panose="02000503000000020004"/>
                <a:ea typeface="Helvetica Neue" panose="02000503000000020004"/>
              </a:rPr>
              <a:t>·</a:t>
            </a:r>
            <a:endParaRPr sz="1100">
              <a:solidFill>
                <a:srgbClr val="3A4A6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4000500" y="2152650"/>
            <a:ext cx="819150" cy="495300"/>
          </a:xfrm>
          <a:prstGeom prst="roundRect">
            <a:avLst/>
          </a:prstGeom>
          <a:solidFill>
            <a:srgbClr val="151D30"/>
          </a:solidFill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3A4A6B"/>
                </a:solidFill>
                <a:latin typeface="Helvetica Neue" panose="02000503000000020004"/>
                <a:ea typeface="Helvetica Neue" panose="02000503000000020004"/>
              </a:rPr>
              <a:t>·</a:t>
            </a:r>
            <a:endParaRPr sz="1100">
              <a:solidFill>
                <a:srgbClr val="3A4A6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52500" y="2819400"/>
            <a:ext cx="419100" cy="228600"/>
          </a:xfrm>
        </p:spPr>
        <p:txBody>
          <a:bodyPr wrap="square" lIns="0" tIns="0" rIns="0" bIns="0" rtlCol="0" anchor="t"/>
          <a:lstStyle/>
          <a:p>
            <a:pPr algn="ctr"/>
            <a:r>
              <a:rPr sz="1200" b="1">
                <a:solidFill>
                  <a:srgbClr val="8FA3C8"/>
                </a:solidFill>
                <a:latin typeface="Menlo" panose="020B0609030804020204"/>
                <a:ea typeface="Menlo" panose="020B0609030804020204"/>
              </a:rPr>
              <a:t>you</a:t>
            </a:r>
            <a:endParaRPr sz="1200" b="1">
              <a:solidFill>
                <a:srgbClr val="8FA3C8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1428750" y="2686050"/>
            <a:ext cx="819150" cy="495300"/>
          </a:xfrm>
          <a:prstGeom prst="roundRect">
            <a:avLst/>
          </a:prstGeom>
          <a:solidFill>
            <a:srgbClr val="1F3A63"/>
          </a:solidFill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</a:rPr>
              <a:t>0.12</a:t>
            </a:r>
            <a:endParaRPr sz="1100">
              <a:solidFill>
                <a:srgbClr val="E8EE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2286000" y="2686050"/>
            <a:ext cx="819150" cy="495300"/>
          </a:xfrm>
          <a:prstGeom prst="roundRect">
            <a:avLst/>
          </a:prstGeom>
          <a:solidFill>
            <a:srgbClr val="1F3A63"/>
          </a:solidFill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</a:rPr>
              <a:t>0.88</a:t>
            </a:r>
            <a:endParaRPr sz="1100">
              <a:solidFill>
                <a:srgbClr val="E8EE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3143250" y="2686050"/>
            <a:ext cx="819150" cy="495300"/>
          </a:xfrm>
          <a:prstGeom prst="roundRect">
            <a:avLst/>
          </a:prstGeom>
          <a:solidFill>
            <a:srgbClr val="151D30"/>
          </a:solidFill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3A4A6B"/>
                </a:solidFill>
                <a:latin typeface="Helvetica Neue" panose="02000503000000020004"/>
                <a:ea typeface="Helvetica Neue" panose="02000503000000020004"/>
              </a:rPr>
              <a:t>·</a:t>
            </a:r>
            <a:endParaRPr sz="1100">
              <a:solidFill>
                <a:srgbClr val="3A4A6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4000500" y="2686050"/>
            <a:ext cx="819150" cy="495300"/>
          </a:xfrm>
          <a:prstGeom prst="roundRect">
            <a:avLst/>
          </a:prstGeom>
          <a:solidFill>
            <a:srgbClr val="151D30"/>
          </a:solidFill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3A4A6B"/>
                </a:solidFill>
                <a:latin typeface="Helvetica Neue" panose="02000503000000020004"/>
                <a:ea typeface="Helvetica Neue" panose="02000503000000020004"/>
              </a:rPr>
              <a:t>·</a:t>
            </a:r>
            <a:endParaRPr sz="1100">
              <a:solidFill>
                <a:srgbClr val="3A4A6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52500" y="3352800"/>
            <a:ext cx="419100" cy="228600"/>
          </a:xfrm>
        </p:spPr>
        <p:txBody>
          <a:bodyPr wrap="square" lIns="0" tIns="0" rIns="0" bIns="0" rtlCol="0" anchor="t"/>
          <a:lstStyle/>
          <a:p>
            <a:pPr algn="ctr"/>
            <a:r>
              <a:rPr sz="1200" b="1">
                <a:solidFill>
                  <a:srgbClr val="8FA3C8"/>
                </a:solidFill>
                <a:latin typeface="Menlo" panose="020B0609030804020204"/>
                <a:ea typeface="Menlo" panose="020B0609030804020204"/>
              </a:rPr>
              <a:t>have</a:t>
            </a:r>
            <a:endParaRPr sz="1200" b="1">
              <a:solidFill>
                <a:srgbClr val="8FA3C8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1428750" y="3219450"/>
            <a:ext cx="819150" cy="495300"/>
          </a:xfrm>
          <a:prstGeom prst="roundRect">
            <a:avLst/>
          </a:prstGeom>
          <a:solidFill>
            <a:srgbClr val="1F3A63"/>
          </a:solidFill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</a:rPr>
              <a:t>0.05</a:t>
            </a:r>
            <a:endParaRPr sz="1100">
              <a:solidFill>
                <a:srgbClr val="E8EE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2286000" y="3219450"/>
            <a:ext cx="819150" cy="495300"/>
          </a:xfrm>
          <a:prstGeom prst="roundRect">
            <a:avLst/>
          </a:prstGeom>
          <a:solidFill>
            <a:srgbClr val="1F3A63"/>
          </a:solidFill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</a:rPr>
              <a:t>0.15</a:t>
            </a:r>
            <a:endParaRPr sz="1100">
              <a:solidFill>
                <a:srgbClr val="E8EE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3143250" y="3219450"/>
            <a:ext cx="819150" cy="495300"/>
          </a:xfrm>
          <a:prstGeom prst="roundRect">
            <a:avLst/>
          </a:prstGeom>
          <a:solidFill>
            <a:srgbClr val="1F3A63"/>
          </a:solidFill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E8EEF8"/>
                </a:solidFill>
                <a:latin typeface="Helvetica Neue" panose="02000503000000020004"/>
                <a:ea typeface="Helvetica Neue" panose="02000503000000020004"/>
              </a:rPr>
              <a:t>0.80</a:t>
            </a:r>
            <a:endParaRPr sz="1100">
              <a:solidFill>
                <a:srgbClr val="E8EE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4000500" y="3219450"/>
            <a:ext cx="819150" cy="495300"/>
          </a:xfrm>
          <a:prstGeom prst="roundRect">
            <a:avLst/>
          </a:prstGeom>
          <a:solidFill>
            <a:srgbClr val="151D30"/>
          </a:solidFill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3A4A6B"/>
                </a:solidFill>
                <a:latin typeface="Helvetica Neue" panose="02000503000000020004"/>
                <a:ea typeface="Helvetica Neue" panose="02000503000000020004"/>
              </a:rPr>
              <a:t>·</a:t>
            </a:r>
            <a:endParaRPr sz="1100">
              <a:solidFill>
                <a:srgbClr val="3A4A6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52500" y="3886200"/>
            <a:ext cx="419100" cy="228600"/>
          </a:xfrm>
        </p:spPr>
        <p:txBody>
          <a:bodyPr wrap="square" lIns="0" tIns="0" rIns="0" bIns="0" rtlCol="0" anchor="t"/>
          <a:lstStyle/>
          <a:p>
            <a:pPr algn="ctr"/>
            <a:r>
              <a:rPr sz="1200" b="1">
                <a:solidFill>
                  <a:srgbClr val="38BDF8"/>
                </a:solidFill>
                <a:latin typeface="Menlo" panose="020B0609030804020204"/>
                <a:ea typeface="Menlo" panose="020B0609030804020204"/>
              </a:rPr>
              <a:t>time</a:t>
            </a:r>
            <a:endParaRPr sz="1200" b="1">
              <a:solidFill>
                <a:srgbClr val="38BDF8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1428750" y="3752850"/>
            <a:ext cx="819150" cy="495300"/>
          </a:xfrm>
          <a:prstGeom prst="roundRect">
            <a:avLst/>
          </a:prstGeom>
          <a:solidFill>
            <a:srgbClr val="38BDF8"/>
          </a:solidFill>
        </p:spPr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Helvetica Neue" panose="02000503000000020004"/>
                <a:ea typeface="Helvetica Neue" panose="02000503000000020004"/>
              </a:rPr>
              <a:t>0.04</a:t>
            </a:r>
            <a:endParaRPr sz="1100" b="1">
              <a:solidFill>
                <a:srgbClr val="0B1120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2286000" y="3752850"/>
            <a:ext cx="819150" cy="495300"/>
          </a:xfrm>
          <a:prstGeom prst="roundRect">
            <a:avLst/>
          </a:prstGeom>
          <a:solidFill>
            <a:srgbClr val="38BDF8"/>
          </a:solidFill>
        </p:spPr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Helvetica Neue" panose="02000503000000020004"/>
                <a:ea typeface="Helvetica Neue" panose="02000503000000020004"/>
              </a:rPr>
              <a:t>0.10</a:t>
            </a:r>
            <a:endParaRPr sz="1100" b="1">
              <a:solidFill>
                <a:srgbClr val="0B1120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3143250" y="3752850"/>
            <a:ext cx="819150" cy="495300"/>
          </a:xfrm>
          <a:prstGeom prst="roundRect">
            <a:avLst/>
          </a:prstGeom>
          <a:solidFill>
            <a:srgbClr val="38BDF8"/>
          </a:solidFill>
        </p:spPr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Helvetica Neue" panose="02000503000000020004"/>
                <a:ea typeface="Helvetica Neue" panose="02000503000000020004"/>
              </a:rPr>
              <a:t>0.21</a:t>
            </a:r>
            <a:endParaRPr sz="1100" b="1">
              <a:solidFill>
                <a:srgbClr val="0B1120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30" name="Shape 30"/>
          <p:cNvSpPr/>
          <p:nvPr/>
        </p:nvSpPr>
        <p:spPr>
          <a:xfrm>
            <a:off x="4000500" y="3752850"/>
            <a:ext cx="819150" cy="495300"/>
          </a:xfrm>
          <a:prstGeom prst="roundRect">
            <a:avLst/>
          </a:prstGeom>
          <a:solidFill>
            <a:srgbClr val="38BDF8"/>
          </a:solidFill>
        </p:spPr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0B1120"/>
                </a:solidFill>
                <a:latin typeface="Helvetica Neue" panose="02000503000000020004"/>
                <a:ea typeface="Helvetica Neue" panose="02000503000000020004"/>
              </a:rPr>
              <a:t>0.65</a:t>
            </a:r>
            <a:endParaRPr sz="1100" b="1">
              <a:solidFill>
                <a:srgbClr val="0B1120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52500" y="4400550"/>
            <a:ext cx="400050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1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行 = 查询词元，列 = 被关注词元；空白 = 因果掩码</a:t>
            </a:r>
            <a:endParaRPr sz="11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2" name="Shape 32"/>
          <p:cNvSpPr/>
          <p:nvPr/>
        </p:nvSpPr>
        <p:spPr>
          <a:xfrm>
            <a:off x="5334000" y="1600200"/>
            <a:ext cx="6248400" cy="299085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33" name="TextBox 33"/>
          <p:cNvSpPr txBox="1"/>
          <p:nvPr/>
        </p:nvSpPr>
        <p:spPr>
          <a:xfrm>
            <a:off x="5562600" y="1809750"/>
            <a:ext cx="57912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为什么只看最后一个词元？</a:t>
            </a:r>
            <a:endParaRPr sz="15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562600" y="2190750"/>
            <a:ext cx="5791200" cy="2190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3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因果掩码（第 3 章）限制每个词元只能关注自己与之前的词元，不能关注未来</a:t>
            </a:r>
            <a:endParaRPr sz="13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3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最后一个词元 time 唯一能访问序列中所有前面的信息，累积了最多内容</a:t>
            </a:r>
            <a:endParaRPr sz="13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300" b="1">
                <a:solidFill>
                  <a:srgbClr val="38BDF8"/>
                </a:solidFill>
                <a:latin typeface="PingFang SC" panose="020B0400000000000000" charset="-122"/>
                <a:ea typeface="PingFang SC" panose="020B0400000000000000" charset="-122"/>
              </a:rPr>
              <a:t>因此垃圾消息分类只取最后一个输出词元：outputs[:, -1, :]</a:t>
            </a:r>
            <a:endParaRPr sz="1300" b="1">
              <a:solidFill>
                <a:srgbClr val="38BDF8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</a:pPr>
            <a:r>
              <a:rPr sz="12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微调第一个词元会怎样？参见练习 6.3</a:t>
            </a:r>
            <a:endParaRPr sz="12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5" name="Shape 35"/>
          <p:cNvSpPr/>
          <p:nvPr/>
        </p:nvSpPr>
        <p:spPr>
          <a:xfrm>
            <a:off x="609600" y="4857750"/>
            <a:ext cx="5334000" cy="1333500"/>
          </a:xfrm>
          <a:prstGeom prst="roundRect">
            <a:avLst/>
          </a:prstGeom>
          <a:solidFill>
            <a:srgbClr val="0D1830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36" name="TextBox 36"/>
          <p:cNvSpPr txBox="1"/>
          <p:nvPr/>
        </p:nvSpPr>
        <p:spPr>
          <a:xfrm>
            <a:off x="838200" y="5029200"/>
            <a:ext cx="48768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50" b="1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代码 · 提取最后一个输出词元</a:t>
            </a:r>
            <a:endParaRPr sz="1250" b="1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838200" y="5334000"/>
            <a:ext cx="4876800" cy="109728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sz="120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with torch.no_grad():</a:t>
            </a:r>
            <a:endParaRPr sz="120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outputs = model(inputs)      # [1, 4, 2]</a:t>
            </a:r>
            <a:endParaRPr sz="120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print(outputs[:, -1, :])</a:t>
            </a:r>
            <a:endParaRPr sz="120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38BDF8"/>
                </a:solidFill>
                <a:latin typeface="Menlo" panose="020B0609030804020204"/>
                <a:ea typeface="Menlo" panose="020B0609030804020204"/>
              </a:rPr>
              <a:t># tensor([[-3.5983,  3.9902]])</a:t>
            </a:r>
            <a:endParaRPr sz="1200">
              <a:solidFill>
                <a:srgbClr val="38BDF8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38" name="Shape 38"/>
          <p:cNvSpPr/>
          <p:nvPr/>
        </p:nvSpPr>
        <p:spPr>
          <a:xfrm>
            <a:off x="6172200" y="4857750"/>
            <a:ext cx="5410200" cy="13335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39" name="TextBox 39"/>
          <p:cNvSpPr txBox="1"/>
          <p:nvPr/>
        </p:nvSpPr>
        <p:spPr>
          <a:xfrm>
            <a:off x="6400800" y="5029200"/>
            <a:ext cx="4953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50" b="1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输出形状的变化</a:t>
            </a:r>
            <a:endParaRPr sz="1250" b="1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6400800" y="5295900"/>
            <a:ext cx="4953000" cy="8572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sz="12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原输出层：[1, 4, 50257]（4 个词元 × 词表）</a:t>
            </a:r>
            <a:endParaRPr sz="12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</a:pPr>
            <a:r>
              <a:rPr sz="12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新分类头：[1, 4, 2]（4 个词元 × 2 个类别）</a:t>
            </a:r>
            <a:endParaRPr sz="12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</a:pPr>
            <a:r>
              <a:rPr sz="12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只需最后一行 logits，即可用于分类损失与准确率计算</a:t>
            </a:r>
            <a:endParaRPr sz="12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609600" y="6572250"/>
            <a:ext cx="3810000" cy="1714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第 6 章 · 针对分类的微调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9715500" y="6572250"/>
            <a:ext cx="1866900" cy="1714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14 / 23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3810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6.6 计算分类损失和准确率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704850"/>
            <a:ext cx="8572500" cy="514350"/>
          </a:xfrm>
        </p:spPr>
        <p:txBody>
          <a:bodyPr wrap="square" lIns="0" tIns="0" rIns="0" bIns="0" rtlCol="0" anchor="t"/>
          <a:lstStyle/>
          <a:p>
            <a:pPr algn="l"/>
            <a:r>
              <a:rPr sz="3000" b="1">
                <a:solidFill>
                  <a:srgbClr val="F2F6FD"/>
                </a:solidFill>
                <a:latin typeface="PingFang SC" panose="020B0400000000000000" charset="-122"/>
                <a:ea typeface="PingFang SC" panose="020B0400000000000000" charset="-122"/>
              </a:rPr>
              <a:t>从 logits 到类别标签</a:t>
            </a:r>
            <a:endParaRPr sz="3000" b="1">
              <a:solidFill>
                <a:srgbClr val="F2F6FD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34400" y="457200"/>
            <a:ext cx="3048000" cy="19050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LLM FROM SCRATCH · 教学课件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223150"/>
          </a:solidFill>
        </p:spPr>
        <p:txBody>
          <a:bodyPr wrap="square" rtlCol="0"/>
          <a:lstStyle/>
          <a:p/>
        </p:txBody>
      </p:sp>
      <p:sp>
        <p:nvSpPr>
          <p:cNvPr id="7" name="Shape 7"/>
          <p:cNvSpPr/>
          <p:nvPr/>
        </p:nvSpPr>
        <p:spPr>
          <a:xfrm>
            <a:off x="609600" y="1600200"/>
            <a:ext cx="2381250" cy="9144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00100" y="1733550"/>
            <a:ext cx="200025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5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最后一个词元 logits</a:t>
            </a:r>
            <a:endParaRPr sz="135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00100" y="2019300"/>
            <a:ext cx="2000250" cy="381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8FA3C8"/>
                </a:solidFill>
                <a:latin typeface="Menlo" panose="020B0609030804020204"/>
                <a:ea typeface="Menlo" panose="020B0609030804020204"/>
              </a:rPr>
              <a:t>outputs[:, -1, :] 形状 [batch, 2]</a:t>
            </a:r>
            <a:endParaRPr sz="1150">
              <a:solidFill>
                <a:srgbClr val="8FA3C8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3067050" y="1924050"/>
            <a:ext cx="342900" cy="266700"/>
          </a:xfrm>
          <a:prstGeom prst="rightArrow">
            <a:avLst/>
          </a:prstGeom>
          <a:solidFill>
            <a:srgbClr val="2E3D5C"/>
          </a:solidFill>
        </p:spPr>
        <p:txBody>
          <a:bodyPr wrap="square" rtlCol="0"/>
          <a:lstStyle/>
          <a:p/>
        </p:txBody>
      </p:sp>
      <p:sp>
        <p:nvSpPr>
          <p:cNvPr id="11" name="Shape 11"/>
          <p:cNvSpPr/>
          <p:nvPr/>
        </p:nvSpPr>
        <p:spPr>
          <a:xfrm>
            <a:off x="3486150" y="1600200"/>
            <a:ext cx="2190750" cy="9144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3676650" y="1733550"/>
            <a:ext cx="180975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5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softmax（可选）</a:t>
            </a:r>
            <a:endParaRPr sz="135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676650" y="2019300"/>
            <a:ext cx="1809750" cy="381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把 logits 转为概率分数</a:t>
            </a:r>
            <a:endParaRPr sz="11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5753100" y="1924050"/>
            <a:ext cx="342900" cy="266700"/>
          </a:xfrm>
          <a:prstGeom prst="rightArrow">
            <a:avLst/>
          </a:prstGeom>
          <a:solidFill>
            <a:srgbClr val="2E3D5C"/>
          </a:solidFill>
        </p:spPr>
        <p:txBody>
          <a:bodyPr wrap="square" rtlCol="0"/>
          <a:lstStyle/>
          <a:p/>
        </p:txBody>
      </p:sp>
      <p:sp>
        <p:nvSpPr>
          <p:cNvPr id="15" name="Shape 15"/>
          <p:cNvSpPr/>
          <p:nvPr/>
        </p:nvSpPr>
        <p:spPr>
          <a:xfrm>
            <a:off x="6172200" y="1600200"/>
            <a:ext cx="2190750" cy="9144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6362700" y="1733550"/>
            <a:ext cx="180975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50" b="1">
                <a:solidFill>
                  <a:srgbClr val="E8EEF8"/>
                </a:solidFill>
                <a:latin typeface="Menlo" panose="020B0609030804020204"/>
                <a:ea typeface="Menlo" panose="020B0609030804020204"/>
              </a:rPr>
              <a:t>argmax</a:t>
            </a:r>
            <a:endParaRPr sz="1350" b="1">
              <a:solidFill>
                <a:srgbClr val="E8EEF8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362700" y="2019300"/>
            <a:ext cx="1809750" cy="381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取最高分数的索引位置</a:t>
            </a:r>
            <a:endParaRPr sz="11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8439150" y="1924050"/>
            <a:ext cx="342900" cy="266700"/>
          </a:xfrm>
          <a:prstGeom prst="rightArrow">
            <a:avLst/>
          </a:prstGeom>
          <a:solidFill>
            <a:srgbClr val="2E3D5C"/>
          </a:solidFill>
        </p:spPr>
        <p:txBody>
          <a:bodyPr wrap="square" rtlCol="0"/>
          <a:lstStyle/>
          <a:p/>
        </p:txBody>
      </p:sp>
      <p:sp>
        <p:nvSpPr>
          <p:cNvPr id="19" name="Shape 19"/>
          <p:cNvSpPr/>
          <p:nvPr/>
        </p:nvSpPr>
        <p:spPr>
          <a:xfrm>
            <a:off x="8858250" y="1600200"/>
            <a:ext cx="2724150" cy="914400"/>
          </a:xfrm>
          <a:prstGeom prst="roundRect">
            <a:avLst/>
          </a:prstGeom>
          <a:solidFill>
            <a:srgbClr val="14253E"/>
          </a:solidFill>
          <a:ln w="19050">
            <a:solidFill>
              <a:srgbClr val="38BDF8"/>
            </a:solidFill>
          </a:ln>
        </p:spPr>
        <p:txBody>
          <a:bodyPr wrap="square" rtlCol="0"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9048750" y="1733550"/>
            <a:ext cx="234315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5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类别标签</a:t>
            </a:r>
            <a:endParaRPr sz="135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048750" y="1981200"/>
            <a:ext cx="2343150" cy="419100"/>
          </a:xfrm>
        </p:spPr>
        <p:txBody>
          <a:bodyPr wrap="square" lIns="0" tIns="0" rIns="0" bIns="0" rtlCol="0" anchor="t"/>
          <a:lstStyle/>
          <a:p>
            <a:pPr algn="l"/>
            <a:r>
              <a:rPr sz="22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0</a:t>
            </a:r>
            <a:r>
              <a:rPr sz="120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 非垃圾　</a:t>
            </a:r>
            <a:r>
              <a:rPr sz="2200" b="1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1</a:t>
            </a:r>
            <a:r>
              <a:rPr sz="120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 垃圾</a:t>
            </a:r>
            <a:endParaRPr sz="120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609600" y="2857500"/>
            <a:ext cx="6286500" cy="3333750"/>
          </a:xfrm>
          <a:prstGeom prst="roundRect">
            <a:avLst/>
          </a:prstGeom>
          <a:solidFill>
            <a:srgbClr val="0D1830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838200" y="3048000"/>
            <a:ext cx="58293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50" b="1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代码清单 6-8 · 计算分类准确率</a:t>
            </a:r>
            <a:endParaRPr sz="1250" b="1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38200" y="3333750"/>
            <a:ext cx="5829300" cy="2944368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sz="1150">
                <a:solidFill>
                  <a:srgbClr val="7EE0A3"/>
                </a:solidFill>
                <a:latin typeface="Menlo" panose="020B0609030804020204"/>
                <a:ea typeface="Menlo" panose="020B0609030804020204"/>
              </a:rPr>
              <a:t>def calc_accuracy_loader(data_loader, model, device,</a:t>
            </a:r>
            <a:endParaRPr sz="1150">
              <a:solidFill>
                <a:srgbClr val="7EE0A3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7EE0A3"/>
                </a:solidFill>
                <a:latin typeface="Menlo" panose="020B0609030804020204"/>
                <a:ea typeface="Menlo" panose="020B0609030804020204"/>
              </a:rPr>
              <a:t>                         num_batches=None):</a:t>
            </a:r>
            <a:endParaRPr sz="1150">
              <a:solidFill>
                <a:srgbClr val="7EE0A3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model.eval()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correct, num_examples = 0, 0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for i, (input_batch, target_batch) in enumerate(data_loader):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    if i &gt;= (num_batches or len(data_loader)): break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    with torch.no_grad():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        logits = model(input_batch.to(device))[:, -1, :]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    predicted = torch.argmax(logits, dim=-1)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    num_examples += predicted.shape[0]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    correct += (predicted == target_batch.to(device)).sum().item()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return correct / num_examples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7277100" y="2857500"/>
            <a:ext cx="4305300" cy="1524000"/>
          </a:xfrm>
          <a:prstGeom prst="roundRect">
            <a:avLst/>
          </a:prstGeom>
          <a:solidFill>
            <a:srgbClr val="0D1830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7505700" y="3028950"/>
            <a:ext cx="38481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50" b="1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预测示例</a:t>
            </a:r>
            <a:endParaRPr sz="1250" b="1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505700" y="3314700"/>
            <a:ext cx="3848100" cy="914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probas = torch.softmax(outputs[:, -1, :], dim=-1)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0000"/>
              </a:lnSpc>
            </a:pPr>
            <a:r>
              <a:rPr sz="1150">
                <a:solidFill>
                  <a:srgbClr val="38BDF8"/>
                </a:solidFill>
                <a:latin typeface="Menlo" panose="020B0609030804020204"/>
                <a:ea typeface="Menlo" panose="020B0609030804020204"/>
              </a:rPr>
              <a:t>label = torch.argmax(probas)  # 1 → 垃圾消息</a:t>
            </a:r>
            <a:endParaRPr sz="1150">
              <a:solidFill>
                <a:srgbClr val="38BDF8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0000"/>
              </a:lnSpc>
            </a:pPr>
            <a:r>
              <a:rPr sz="115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# 最大 logit 即最高概率，softmax 可省略</a:t>
            </a:r>
            <a:endParaRPr sz="115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7277100" y="4610100"/>
            <a:ext cx="4305300" cy="158115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7505700" y="4781550"/>
            <a:ext cx="38481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5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分类准确率</a:t>
            </a:r>
            <a:endParaRPr sz="125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505700" y="5067300"/>
            <a:ext cx="3848100" cy="11049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数据集中被正确预测的样本所占比例；与预训练的 calc_loss_loader 对应，这里改为跟踪准确率。</a:t>
            </a:r>
            <a:endParaRPr sz="12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45000"/>
              </a:lnSpc>
            </a:pPr>
            <a:r>
              <a:rPr sz="12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评估时用前 10 个批次估计以提速（num_batches=10）。</a:t>
            </a:r>
            <a:endParaRPr sz="12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09600" y="6572250"/>
            <a:ext cx="3810000" cy="1714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第 6 章 · 针对分类的微调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715500" y="6572250"/>
            <a:ext cx="1866900" cy="1714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15 / 23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3810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6.6 计算分类损失和准确率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704850"/>
            <a:ext cx="8572500" cy="514350"/>
          </a:xfrm>
        </p:spPr>
        <p:txBody>
          <a:bodyPr wrap="square" lIns="0" tIns="0" rIns="0" bIns="0" rtlCol="0" anchor="t"/>
          <a:lstStyle/>
          <a:p>
            <a:pPr algn="l"/>
            <a:r>
              <a:rPr sz="3000" b="1">
                <a:solidFill>
                  <a:srgbClr val="F2F6FD"/>
                </a:solidFill>
                <a:latin typeface="PingFang SC" panose="020B0400000000000000" charset="-122"/>
                <a:ea typeface="PingFang SC" panose="020B0400000000000000" charset="-122"/>
              </a:rPr>
              <a:t>微调前的基线表现</a:t>
            </a:r>
            <a:endParaRPr sz="3000" b="1">
              <a:solidFill>
                <a:srgbClr val="F2F6FD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34400" y="457200"/>
            <a:ext cx="3048000" cy="19050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LLM FROM SCRATCH · 教学课件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223150"/>
          </a:solidFill>
        </p:spPr>
        <p:txBody>
          <a:bodyPr wrap="square" rtlCol="0"/>
          <a:lstStyle/>
          <a:p/>
        </p:txBody>
      </p:sp>
      <p:sp>
        <p:nvSpPr>
          <p:cNvPr id="7" name="Shape 7"/>
          <p:cNvSpPr/>
          <p:nvPr/>
        </p:nvSpPr>
        <p:spPr>
          <a:xfrm>
            <a:off x="609600" y="1600200"/>
            <a:ext cx="4572000" cy="28575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914400" y="1943100"/>
            <a:ext cx="3962400" cy="1005840"/>
          </a:xfrm>
        </p:spPr>
        <p:txBody>
          <a:bodyPr wrap="square" lIns="0" tIns="0" rIns="0" bIns="0" rtlCol="0" anchor="t"/>
          <a:lstStyle/>
          <a:p>
            <a:pPr algn="l"/>
            <a:r>
              <a:rPr sz="6600" b="1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≈ 50%</a:t>
            </a:r>
            <a:endParaRPr sz="6600" b="1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4400" y="2971800"/>
            <a:ext cx="39624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6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微调前：与随机猜测无异</a:t>
            </a:r>
            <a:endParaRPr sz="16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14400" y="3352800"/>
            <a:ext cx="3962400" cy="762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测试集准确率仅 48.75%；训练 / 验证集同样接近随机水平，说明预训练权重尚未适配分类任务</a:t>
            </a:r>
            <a:endParaRPr sz="12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5562600" y="1600200"/>
            <a:ext cx="1866900" cy="13335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5791200" y="1828800"/>
            <a:ext cx="1409700" cy="419100"/>
          </a:xfrm>
        </p:spPr>
        <p:txBody>
          <a:bodyPr wrap="square" lIns="0" tIns="0" rIns="0" bIns="0" rtlCol="0" anchor="t"/>
          <a:lstStyle/>
          <a:p>
            <a:pPr algn="l"/>
            <a:r>
              <a:rPr sz="26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46.25%</a:t>
            </a:r>
            <a:endParaRPr sz="26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791200" y="2305050"/>
            <a:ext cx="14097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50" b="1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训练准确率</a:t>
            </a:r>
            <a:endParaRPr sz="1250" b="1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791200" y="2571750"/>
            <a:ext cx="140970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050">
                <a:solidFill>
                  <a:srgbClr val="5E7099"/>
                </a:solidFill>
                <a:latin typeface="Menlo" panose="020B0609030804020204"/>
                <a:ea typeface="Menlo" panose="020B0609030804020204"/>
              </a:rPr>
              <a:t>num_batches=10</a:t>
            </a:r>
            <a:endParaRPr sz="1050">
              <a:solidFill>
                <a:srgbClr val="5E7099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7639050" y="1600200"/>
            <a:ext cx="1866900" cy="13335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7867650" y="1828800"/>
            <a:ext cx="1409700" cy="419100"/>
          </a:xfrm>
        </p:spPr>
        <p:txBody>
          <a:bodyPr wrap="square" lIns="0" tIns="0" rIns="0" bIns="0" rtlCol="0" anchor="t"/>
          <a:lstStyle/>
          <a:p>
            <a:pPr algn="l"/>
            <a:r>
              <a:rPr sz="26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45.00%</a:t>
            </a:r>
            <a:endParaRPr sz="26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867650" y="2305050"/>
            <a:ext cx="14097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50" b="1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验证准确率</a:t>
            </a:r>
            <a:endParaRPr sz="1250" b="1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867650" y="2571750"/>
            <a:ext cx="140970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050">
                <a:solidFill>
                  <a:srgbClr val="5E7099"/>
                </a:solidFill>
                <a:latin typeface="Menlo" panose="020B0609030804020204"/>
                <a:ea typeface="Menlo" panose="020B0609030804020204"/>
              </a:rPr>
              <a:t>num_batches=10</a:t>
            </a:r>
            <a:endParaRPr sz="1050">
              <a:solidFill>
                <a:srgbClr val="5E7099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9715500" y="1600200"/>
            <a:ext cx="1866900" cy="13335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9944100" y="1828800"/>
            <a:ext cx="1409700" cy="419100"/>
          </a:xfrm>
        </p:spPr>
        <p:txBody>
          <a:bodyPr wrap="square" lIns="0" tIns="0" rIns="0" bIns="0" rtlCol="0" anchor="t"/>
          <a:lstStyle/>
          <a:p>
            <a:pPr algn="l"/>
            <a:r>
              <a:rPr sz="26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48.75%</a:t>
            </a:r>
            <a:endParaRPr sz="26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944100" y="2305050"/>
            <a:ext cx="14097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50" b="1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测试准确率</a:t>
            </a:r>
            <a:endParaRPr sz="1250" b="1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944100" y="2571750"/>
            <a:ext cx="140970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050">
                <a:solidFill>
                  <a:srgbClr val="5E7099"/>
                </a:solidFill>
                <a:latin typeface="Menlo" panose="020B0609030804020204"/>
                <a:ea typeface="Menlo" panose="020B0609030804020204"/>
              </a:rPr>
              <a:t>num_batches=10</a:t>
            </a:r>
            <a:endParaRPr sz="1050">
              <a:solidFill>
                <a:srgbClr val="5E7099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5562600" y="3162300"/>
            <a:ext cx="6019800" cy="12954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5791200" y="3371850"/>
            <a:ext cx="55626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初始交叉熵损失（5 个批次估计）</a:t>
            </a:r>
            <a:endParaRPr sz="13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791200" y="3752850"/>
            <a:ext cx="5562600" cy="381000"/>
          </a:xfrm>
        </p:spPr>
        <p:txBody>
          <a:bodyPr wrap="square" lIns="0" tIns="0" rIns="0" bIns="0" rtlCol="0" anchor="t"/>
          <a:lstStyle/>
          <a:p>
            <a:pPr algn="l"/>
            <a:r>
              <a:rPr sz="1800" b="1">
                <a:solidFill>
                  <a:srgbClr val="C9D6F2"/>
                </a:solidFill>
                <a:latin typeface="Helvetica Neue" panose="02000503000000020004"/>
                <a:ea typeface="Helvetica Neue" panose="02000503000000020004"/>
              </a:rPr>
              <a:t>训练 2.453　·　验证 2.583　·　测试 2.322</a:t>
            </a:r>
            <a:endParaRPr sz="1800" b="1">
              <a:solidFill>
                <a:srgbClr val="C9D6F2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791200" y="4171950"/>
            <a:ext cx="556260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with torch.no_grad():  # 尚未训练，禁用梯度提速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609600" y="4838700"/>
            <a:ext cx="10972800" cy="1238250"/>
          </a:xfrm>
          <a:prstGeom prst="roundRect">
            <a:avLst/>
          </a:prstGeom>
          <a:solidFill>
            <a:srgbClr val="14253E"/>
          </a:solidFill>
          <a:ln w="12700">
            <a:solidFill>
              <a:srgbClr val="2A3A5C"/>
            </a:solidFill>
          </a:ln>
        </p:spPr>
        <p:txBody>
          <a:bodyPr wrap="square" rtlCol="0"/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876300" y="5048250"/>
            <a:ext cx="10477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解读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76300" y="5334000"/>
            <a:ext cx="10477500" cy="609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准确率本身不可微分，不能作为训练目标直接优化；改用交叉熵损失替代——最大化准确率 ⇔ 最小化交叉熵损失。</a:t>
            </a:r>
            <a:endParaRPr sz="1300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8FA3C8"/>
                </a:solidFill>
                <a:latin typeface="Menlo" panose="020B0609030804020204"/>
                <a:ea typeface="Menlo" panose="020B0609030804020204"/>
              </a:rPr>
              <a:t>calc_loss_batch 与预训练相同，只改为聚焦最后一个词元：model(input_batch)[:, -1, :]</a:t>
            </a:r>
            <a:endParaRPr sz="1200">
              <a:solidFill>
                <a:srgbClr val="8FA3C8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09600" y="6572250"/>
            <a:ext cx="3810000" cy="1714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第 6 章 · 针对分类的微调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715500" y="6572250"/>
            <a:ext cx="1866900" cy="1714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16 / 23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3810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6.7 在有监督数据上微调模型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704850"/>
            <a:ext cx="8572500" cy="514350"/>
          </a:xfrm>
        </p:spPr>
        <p:txBody>
          <a:bodyPr wrap="square" lIns="0" tIns="0" rIns="0" bIns="0" rtlCol="0" anchor="t"/>
          <a:lstStyle/>
          <a:p>
            <a:pPr algn="l"/>
            <a:r>
              <a:rPr sz="3000" b="1">
                <a:solidFill>
                  <a:srgbClr val="F2F6FD"/>
                </a:solidFill>
                <a:latin typeface="PingFang SC" panose="020B0400000000000000" charset="-122"/>
                <a:ea typeface="PingFang SC" panose="020B0400000000000000" charset="-122"/>
              </a:rPr>
              <a:t>训练配置与流程</a:t>
            </a:r>
            <a:endParaRPr sz="3000" b="1">
              <a:solidFill>
                <a:srgbClr val="F2F6FD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34400" y="457200"/>
            <a:ext cx="3048000" cy="19050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LLM FROM SCRATCH · 教学课件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223150"/>
          </a:solidFill>
        </p:spPr>
        <p:txBody>
          <a:bodyPr wrap="square" rtlCol="0"/>
          <a:lstStyle/>
          <a:p/>
        </p:txBody>
      </p:sp>
      <p:sp>
        <p:nvSpPr>
          <p:cNvPr id="7" name="Shape 7"/>
          <p:cNvSpPr/>
          <p:nvPr/>
        </p:nvSpPr>
        <p:spPr>
          <a:xfrm>
            <a:off x="609600" y="1600200"/>
            <a:ext cx="4381500" cy="40005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38200" y="1828800"/>
            <a:ext cx="28575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训练配置</a:t>
            </a:r>
            <a:endParaRPr sz="15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38200" y="2247900"/>
            <a:ext cx="1905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优化器</a:t>
            </a:r>
            <a:endParaRPr sz="12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857500" y="2247900"/>
            <a:ext cx="1905000" cy="209550"/>
          </a:xfrm>
        </p:spPr>
        <p:txBody>
          <a:bodyPr wrap="square" lIns="0" tIns="0" rIns="0" bIns="0" rtlCol="0" anchor="t"/>
          <a:lstStyle/>
          <a:p>
            <a:pPr algn="r"/>
            <a:r>
              <a:rPr sz="1300" b="1">
                <a:solidFill>
                  <a:srgbClr val="E8EEF8"/>
                </a:solidFill>
                <a:latin typeface="Menlo" panose="020B0609030804020204"/>
                <a:ea typeface="Menlo" panose="020B0609030804020204"/>
              </a:rPr>
              <a:t>AdamW</a:t>
            </a:r>
            <a:endParaRPr sz="1300" b="1">
              <a:solidFill>
                <a:srgbClr val="E8EEF8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38200" y="2609850"/>
            <a:ext cx="1905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学习率</a:t>
            </a:r>
            <a:endParaRPr sz="12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857500" y="2609850"/>
            <a:ext cx="1905000" cy="209550"/>
          </a:xfrm>
        </p:spPr>
        <p:txBody>
          <a:bodyPr wrap="square" lIns="0" tIns="0" rIns="0" bIns="0" rtlCol="0" anchor="t"/>
          <a:lstStyle/>
          <a:p>
            <a:pPr algn="r"/>
            <a:r>
              <a:rPr sz="1300" b="1">
                <a:solidFill>
                  <a:srgbClr val="E8EEF8"/>
                </a:solidFill>
                <a:latin typeface="Menlo" panose="020B0609030804020204"/>
                <a:ea typeface="Menlo" panose="020B0609030804020204"/>
              </a:rPr>
              <a:t>5e-5</a:t>
            </a:r>
            <a:endParaRPr sz="1300" b="1">
              <a:solidFill>
                <a:srgbClr val="E8EEF8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38200" y="2971800"/>
            <a:ext cx="1905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权重衰减</a:t>
            </a:r>
            <a:endParaRPr sz="12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857500" y="2971800"/>
            <a:ext cx="1905000" cy="209550"/>
          </a:xfrm>
        </p:spPr>
        <p:txBody>
          <a:bodyPr wrap="square" lIns="0" tIns="0" rIns="0" bIns="0" rtlCol="0" anchor="t"/>
          <a:lstStyle/>
          <a:p>
            <a:pPr algn="r"/>
            <a:r>
              <a:rPr sz="1300" b="1">
                <a:solidFill>
                  <a:srgbClr val="E8EEF8"/>
                </a:solidFill>
                <a:latin typeface="Menlo" panose="020B0609030804020204"/>
                <a:ea typeface="Menlo" panose="020B0609030804020204"/>
              </a:rPr>
              <a:t>0.1</a:t>
            </a:r>
            <a:endParaRPr sz="1300" b="1">
              <a:solidFill>
                <a:srgbClr val="E8EEF8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38200" y="3333750"/>
            <a:ext cx="1905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训练轮数</a:t>
            </a:r>
            <a:endParaRPr sz="12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857500" y="3333750"/>
            <a:ext cx="1905000" cy="209550"/>
          </a:xfrm>
        </p:spPr>
        <p:txBody>
          <a:bodyPr wrap="square" lIns="0" tIns="0" rIns="0" bIns="0" rtlCol="0" anchor="t"/>
          <a:lstStyle/>
          <a:p>
            <a:pPr algn="r"/>
            <a:r>
              <a:rPr sz="1300" b="1">
                <a:solidFill>
                  <a:srgbClr val="E8EEF8"/>
                </a:solidFill>
                <a:latin typeface="Menlo" panose="020B0609030804020204"/>
                <a:ea typeface="Menlo" panose="020B0609030804020204"/>
              </a:rPr>
              <a:t>5 epochs</a:t>
            </a:r>
            <a:endParaRPr sz="1300" b="1">
              <a:solidFill>
                <a:srgbClr val="E8EEF8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38200" y="3695700"/>
            <a:ext cx="1905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评估频率</a:t>
            </a:r>
            <a:endParaRPr sz="12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857500" y="3695700"/>
            <a:ext cx="1905000" cy="209550"/>
          </a:xfrm>
        </p:spPr>
        <p:txBody>
          <a:bodyPr wrap="square" lIns="0" tIns="0" rIns="0" bIns="0" rtlCol="0" anchor="t"/>
          <a:lstStyle/>
          <a:p>
            <a:pPr algn="r"/>
            <a:r>
              <a:rPr sz="13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每 50 步</a:t>
            </a:r>
            <a:endParaRPr sz="13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38200" y="4057650"/>
            <a:ext cx="19050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评估范围</a:t>
            </a:r>
            <a:endParaRPr sz="12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857500" y="4057650"/>
            <a:ext cx="1905000" cy="209550"/>
          </a:xfrm>
        </p:spPr>
        <p:txBody>
          <a:bodyPr wrap="square" lIns="0" tIns="0" rIns="0" bIns="0" rtlCol="0" anchor="t"/>
          <a:lstStyle/>
          <a:p>
            <a:pPr algn="r"/>
            <a:r>
              <a:rPr sz="13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5 个批次</a:t>
            </a:r>
            <a:endParaRPr sz="13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838200" y="4476750"/>
            <a:ext cx="3924300" cy="9525"/>
          </a:xfrm>
          <a:prstGeom prst="rect">
            <a:avLst/>
          </a:prstGeom>
          <a:solidFill>
            <a:srgbClr val="26375A"/>
          </a:solidFill>
        </p:spPr>
        <p:txBody>
          <a:bodyPr wrap="square" rtlCol="0"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838200" y="4667250"/>
            <a:ext cx="39243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5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训练时长（本书实验）</a:t>
            </a:r>
            <a:endParaRPr sz="125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38200" y="4933950"/>
            <a:ext cx="3924300" cy="533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sz="12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M3 MacBook Air ≈ 5.65 分钟</a:t>
            </a:r>
            <a:endParaRPr sz="12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V100 / A100 GPU 不到半分钟</a:t>
            </a:r>
            <a:endParaRPr sz="12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5372100" y="1600200"/>
            <a:ext cx="6210300" cy="40005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5600700" y="1828800"/>
            <a:ext cx="2857500" cy="45720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训练循环（train_classifier_simple）</a:t>
            </a:r>
            <a:endParaRPr sz="15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5600700" y="2247900"/>
            <a:ext cx="266700" cy="266700"/>
          </a:xfrm>
          <a:prstGeom prst="ellipse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27" name="TextBox 27"/>
          <p:cNvSpPr txBox="1"/>
          <p:nvPr/>
        </p:nvSpPr>
        <p:spPr>
          <a:xfrm>
            <a:off x="5600700" y="2286000"/>
            <a:ext cx="266700" cy="209550"/>
          </a:xfrm>
        </p:spPr>
        <p:txBody>
          <a:bodyPr wrap="square" lIns="0" tIns="0" rIns="0" bIns="0" rtlCol="0" anchor="t"/>
          <a:lstStyle/>
          <a:p>
            <a:pPr algn="ctr"/>
            <a:r>
              <a:rPr sz="1300" b="1">
                <a:solidFill>
                  <a:srgbClr val="0B1120"/>
                </a:solidFill>
                <a:latin typeface="Helvetica Neue" panose="02000503000000020004"/>
                <a:ea typeface="Helvetica Neue" panose="02000503000000020004"/>
              </a:rPr>
              <a:t>1</a:t>
            </a:r>
            <a:endParaRPr sz="1300" b="1">
              <a:solidFill>
                <a:srgbClr val="0B1120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019800" y="2266950"/>
            <a:ext cx="5334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前向传播：model(input_batch)[:, -1, :] 取最后词元 logits</a:t>
            </a:r>
            <a:endParaRPr sz="12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5600700" y="2800350"/>
            <a:ext cx="266700" cy="266700"/>
          </a:xfrm>
          <a:prstGeom prst="ellipse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30" name="TextBox 30"/>
          <p:cNvSpPr txBox="1"/>
          <p:nvPr/>
        </p:nvSpPr>
        <p:spPr>
          <a:xfrm>
            <a:off x="5600700" y="2838450"/>
            <a:ext cx="266700" cy="209550"/>
          </a:xfrm>
        </p:spPr>
        <p:txBody>
          <a:bodyPr wrap="square" lIns="0" tIns="0" rIns="0" bIns="0" rtlCol="0" anchor="t"/>
          <a:lstStyle/>
          <a:p>
            <a:pPr algn="ctr"/>
            <a:r>
              <a:rPr sz="1300" b="1">
                <a:solidFill>
                  <a:srgbClr val="0B1120"/>
                </a:solidFill>
                <a:latin typeface="Helvetica Neue" panose="02000503000000020004"/>
                <a:ea typeface="Helvetica Neue" panose="02000503000000020004"/>
              </a:rPr>
              <a:t>2</a:t>
            </a:r>
            <a:endParaRPr sz="1300" b="1">
              <a:solidFill>
                <a:srgbClr val="0B1120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019800" y="2819400"/>
            <a:ext cx="5334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计算损失：F.cross_entropy(logits, target_batch)</a:t>
            </a:r>
            <a:endParaRPr sz="12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32" name="Shape 32"/>
          <p:cNvSpPr/>
          <p:nvPr/>
        </p:nvSpPr>
        <p:spPr>
          <a:xfrm>
            <a:off x="5600700" y="3352800"/>
            <a:ext cx="266700" cy="266700"/>
          </a:xfrm>
          <a:prstGeom prst="ellipse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33" name="TextBox 33"/>
          <p:cNvSpPr txBox="1"/>
          <p:nvPr/>
        </p:nvSpPr>
        <p:spPr>
          <a:xfrm>
            <a:off x="5600700" y="3390900"/>
            <a:ext cx="266700" cy="209550"/>
          </a:xfrm>
        </p:spPr>
        <p:txBody>
          <a:bodyPr wrap="square" lIns="0" tIns="0" rIns="0" bIns="0" rtlCol="0" anchor="t"/>
          <a:lstStyle/>
          <a:p>
            <a:pPr algn="ctr"/>
            <a:r>
              <a:rPr sz="1300" b="1">
                <a:solidFill>
                  <a:srgbClr val="0B1120"/>
                </a:solidFill>
                <a:latin typeface="Helvetica Neue" panose="02000503000000020004"/>
                <a:ea typeface="Helvetica Neue" panose="02000503000000020004"/>
              </a:rPr>
              <a:t>3</a:t>
            </a:r>
            <a:endParaRPr sz="1300" b="1">
              <a:solidFill>
                <a:srgbClr val="0B1120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6019800" y="3371850"/>
            <a:ext cx="5334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反向传播：loss.backward() 计算梯度（先 zero_grad 清空）</a:t>
            </a:r>
            <a:endParaRPr sz="12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5" name="Shape 35"/>
          <p:cNvSpPr/>
          <p:nvPr/>
        </p:nvSpPr>
        <p:spPr>
          <a:xfrm>
            <a:off x="5600700" y="3905250"/>
            <a:ext cx="266700" cy="266700"/>
          </a:xfrm>
          <a:prstGeom prst="ellipse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36" name="TextBox 36"/>
          <p:cNvSpPr txBox="1"/>
          <p:nvPr/>
        </p:nvSpPr>
        <p:spPr>
          <a:xfrm>
            <a:off x="5600700" y="3943350"/>
            <a:ext cx="266700" cy="209550"/>
          </a:xfrm>
        </p:spPr>
        <p:txBody>
          <a:bodyPr wrap="square" lIns="0" tIns="0" rIns="0" bIns="0" rtlCol="0" anchor="t"/>
          <a:lstStyle/>
          <a:p>
            <a:pPr algn="ctr"/>
            <a:r>
              <a:rPr sz="1300" b="1">
                <a:solidFill>
                  <a:srgbClr val="0B1120"/>
                </a:solidFill>
                <a:latin typeface="Helvetica Neue" panose="02000503000000020004"/>
                <a:ea typeface="Helvetica Neue" panose="02000503000000020004"/>
              </a:rPr>
              <a:t>4</a:t>
            </a:r>
            <a:endParaRPr sz="1300" b="1">
              <a:solidFill>
                <a:srgbClr val="0B1120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019800" y="3924300"/>
            <a:ext cx="5334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更新权重：optimizer.step()（仅可训练层被更新）</a:t>
            </a:r>
            <a:endParaRPr sz="12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8" name="Shape 38"/>
          <p:cNvSpPr/>
          <p:nvPr/>
        </p:nvSpPr>
        <p:spPr>
          <a:xfrm>
            <a:off x="5600700" y="4457700"/>
            <a:ext cx="266700" cy="266700"/>
          </a:xfrm>
          <a:prstGeom prst="ellipse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39" name="TextBox 39"/>
          <p:cNvSpPr txBox="1"/>
          <p:nvPr/>
        </p:nvSpPr>
        <p:spPr>
          <a:xfrm>
            <a:off x="5600700" y="4495800"/>
            <a:ext cx="266700" cy="209550"/>
          </a:xfrm>
        </p:spPr>
        <p:txBody>
          <a:bodyPr wrap="square" lIns="0" tIns="0" rIns="0" bIns="0" rtlCol="0" anchor="t"/>
          <a:lstStyle/>
          <a:p>
            <a:pPr algn="ctr"/>
            <a:r>
              <a:rPr sz="1300" b="1">
                <a:solidFill>
                  <a:srgbClr val="0B1120"/>
                </a:solidFill>
                <a:latin typeface="Helvetica Neue" panose="02000503000000020004"/>
                <a:ea typeface="Helvetica Neue" panose="02000503000000020004"/>
              </a:rPr>
              <a:t>5</a:t>
            </a:r>
            <a:endParaRPr sz="1300" b="1">
              <a:solidFill>
                <a:srgbClr val="0B1120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6019800" y="4476750"/>
            <a:ext cx="5334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评估：每 50 步算训练/验证损失；每轮结束计算准确率</a:t>
            </a:r>
            <a:endParaRPr sz="12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5600700" y="5029200"/>
            <a:ext cx="5753100" cy="381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evaluate_model 与预训练版本完全相同；训练全程跟踪 examples_seen</a:t>
            </a:r>
            <a:endParaRPr sz="120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2" name="Shape 42"/>
          <p:cNvSpPr/>
          <p:nvPr/>
        </p:nvSpPr>
        <p:spPr>
          <a:xfrm>
            <a:off x="609600" y="5791200"/>
            <a:ext cx="10972800" cy="533400"/>
          </a:xfrm>
          <a:prstGeom prst="roundRect">
            <a:avLst/>
          </a:prstGeom>
          <a:solidFill>
            <a:srgbClr val="14253E"/>
          </a:solidFill>
          <a:ln w="12700">
            <a:solidFill>
              <a:srgbClr val="2A3A5C"/>
            </a:solidFill>
          </a:ln>
        </p:spPr>
        <p:txBody>
          <a:bodyPr wrap="square" rtlCol="0"/>
          <a:lstStyle/>
          <a:p/>
        </p:txBody>
      </p:sp>
      <p:sp>
        <p:nvSpPr>
          <p:cNvPr id="43" name="TextBox 43"/>
          <p:cNvSpPr txBox="1"/>
          <p:nvPr/>
        </p:nvSpPr>
        <p:spPr>
          <a:xfrm>
            <a:off x="876300" y="5924550"/>
            <a:ext cx="10477500" cy="2667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与预训练循环的差异：</a:t>
            </a:r>
            <a:r>
              <a:rPr sz="1300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跟踪样本数（examples_seen）而非词元数；每轮评估分类准确率，而非打印生成文本样本</a:t>
            </a:r>
            <a:endParaRPr sz="1300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609600" y="6572250"/>
            <a:ext cx="3810000" cy="1714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第 6 章 · 针对分类的微调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9715500" y="6572250"/>
            <a:ext cx="1866900" cy="1714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17 / 23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3810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6.7 在有监督数据上微调模型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704850"/>
            <a:ext cx="8572500" cy="514350"/>
          </a:xfrm>
        </p:spPr>
        <p:txBody>
          <a:bodyPr wrap="square" lIns="0" tIns="0" rIns="0" bIns="0" rtlCol="0" anchor="t"/>
          <a:lstStyle/>
          <a:p>
            <a:pPr algn="l"/>
            <a:r>
              <a:rPr sz="3000" b="1">
                <a:solidFill>
                  <a:srgbClr val="F2F6FD"/>
                </a:solidFill>
                <a:latin typeface="PingFang SC" panose="020B0400000000000000" charset="-122"/>
                <a:ea typeface="PingFang SC" panose="020B0400000000000000" charset="-122"/>
              </a:rPr>
              <a:t>训练过程：损失快速下降</a:t>
            </a:r>
            <a:endParaRPr sz="3000" b="1">
              <a:solidFill>
                <a:srgbClr val="F2F6FD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34400" y="457200"/>
            <a:ext cx="3048000" cy="19050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LLM FROM SCRATCH · 教学课件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223150"/>
          </a:solidFill>
        </p:spPr>
        <p:txBody>
          <a:bodyPr wrap="square" rtlCol="0"/>
          <a:lstStyle/>
          <a:p/>
        </p:txBody>
      </p:sp>
      <p:sp>
        <p:nvSpPr>
          <p:cNvPr id="7" name="Shape 7"/>
          <p:cNvSpPr/>
          <p:nvPr/>
        </p:nvSpPr>
        <p:spPr>
          <a:xfrm>
            <a:off x="609600" y="1600200"/>
            <a:ext cx="6286500" cy="43815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38200" y="1809750"/>
            <a:ext cx="1905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45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损失曲线（按轮）</a:t>
            </a:r>
            <a:endParaRPr sz="145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4572000" y="1866900"/>
            <a:ext cx="133350" cy="95250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762500" y="1809750"/>
            <a:ext cx="66675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训练损失</a:t>
            </a:r>
            <a:endParaRPr sz="110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5543550" y="1866900"/>
            <a:ext cx="133350" cy="9525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5734050" y="1809750"/>
            <a:ext cx="66675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验证损失</a:t>
            </a:r>
            <a:endParaRPr sz="110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76300" y="2152650"/>
            <a:ext cx="571500" cy="1714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损失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1143000" y="5334000"/>
            <a:ext cx="5429250" cy="19050"/>
          </a:xfrm>
          <a:prstGeom prst="rect">
            <a:avLst/>
          </a:prstGeom>
          <a:solidFill>
            <a:srgbClr val="2A3A5C"/>
          </a:solidFill>
        </p:spPr>
        <p:txBody>
          <a:bodyPr wrap="square" rtlCol="0"/>
          <a:lstStyle/>
          <a:p/>
        </p:txBody>
      </p:sp>
      <p:sp>
        <p:nvSpPr>
          <p:cNvPr id="15" name="Shape 15"/>
          <p:cNvSpPr/>
          <p:nvPr/>
        </p:nvSpPr>
        <p:spPr>
          <a:xfrm>
            <a:off x="1238250" y="2600325"/>
            <a:ext cx="285750" cy="2733675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1181100" y="2428875"/>
            <a:ext cx="400050" cy="152400"/>
          </a:xfrm>
        </p:spPr>
        <p:txBody>
          <a:bodyPr wrap="square" lIns="0" tIns="0" rIns="0" bIns="0" rtlCol="0" anchor="t"/>
          <a:lstStyle/>
          <a:p>
            <a:pPr algn="ctr"/>
            <a:r>
              <a:rPr sz="10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0.52</a:t>
            </a:r>
            <a:endParaRPr sz="10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1562100" y="2419350"/>
            <a:ext cx="285750" cy="291465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1504950" y="2247900"/>
            <a:ext cx="400050" cy="152400"/>
          </a:xfrm>
        </p:spPr>
        <p:txBody>
          <a:bodyPr wrap="square" lIns="0" tIns="0" rIns="0" bIns="0" rtlCol="0" anchor="t"/>
          <a:lstStyle/>
          <a:p>
            <a:pPr algn="ctr"/>
            <a:r>
              <a:rPr sz="1000" b="1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0.56</a:t>
            </a:r>
            <a:endParaRPr sz="1000" b="1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2333625" y="3190875"/>
            <a:ext cx="285750" cy="2143125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2276475" y="3019425"/>
            <a:ext cx="400050" cy="152400"/>
          </a:xfrm>
        </p:spPr>
        <p:txBody>
          <a:bodyPr wrap="square" lIns="0" tIns="0" rIns="0" bIns="0" rtlCol="0" anchor="t"/>
          <a:lstStyle/>
          <a:p>
            <a:pPr algn="ctr"/>
            <a:r>
              <a:rPr sz="10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0.41</a:t>
            </a:r>
            <a:endParaRPr sz="10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2657475" y="3486150"/>
            <a:ext cx="285750" cy="184785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2600325" y="3314700"/>
            <a:ext cx="400050" cy="152400"/>
          </a:xfrm>
        </p:spPr>
        <p:txBody>
          <a:bodyPr wrap="square" lIns="0" tIns="0" rIns="0" bIns="0" rtlCol="0" anchor="t"/>
          <a:lstStyle/>
          <a:p>
            <a:pPr algn="ctr"/>
            <a:r>
              <a:rPr sz="1000" b="1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0.35</a:t>
            </a:r>
            <a:endParaRPr sz="1000" b="1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3429000" y="3552825"/>
            <a:ext cx="285750" cy="1781175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3371850" y="3381375"/>
            <a:ext cx="400050" cy="152400"/>
          </a:xfrm>
        </p:spPr>
        <p:txBody>
          <a:bodyPr wrap="square" lIns="0" tIns="0" rIns="0" bIns="0" rtlCol="0" anchor="t"/>
          <a:lstStyle/>
          <a:p>
            <a:pPr algn="ctr"/>
            <a:r>
              <a:rPr sz="10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0.34</a:t>
            </a:r>
            <a:endParaRPr sz="10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3752850" y="3733800"/>
            <a:ext cx="285750" cy="1600200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3695700" y="3562350"/>
            <a:ext cx="400050" cy="152400"/>
          </a:xfrm>
        </p:spPr>
        <p:txBody>
          <a:bodyPr wrap="square" lIns="0" tIns="0" rIns="0" bIns="0" rtlCol="0" anchor="t"/>
          <a:lstStyle/>
          <a:p>
            <a:pPr algn="ctr"/>
            <a:r>
              <a:rPr sz="1000" b="1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0.31</a:t>
            </a:r>
            <a:endParaRPr sz="1000" b="1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4524375" y="4171950"/>
            <a:ext cx="285750" cy="1162050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4467225" y="4000500"/>
            <a:ext cx="400050" cy="152400"/>
          </a:xfrm>
        </p:spPr>
        <p:txBody>
          <a:bodyPr wrap="square" lIns="0" tIns="0" rIns="0" bIns="0" rtlCol="0" anchor="t"/>
          <a:lstStyle/>
          <a:p>
            <a:pPr algn="ctr"/>
            <a:r>
              <a:rPr sz="10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0.22</a:t>
            </a:r>
            <a:endParaRPr sz="10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4848225" y="4619625"/>
            <a:ext cx="285750" cy="714375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30" name="TextBox 30"/>
          <p:cNvSpPr txBox="1"/>
          <p:nvPr/>
        </p:nvSpPr>
        <p:spPr>
          <a:xfrm>
            <a:off x="4791075" y="4448175"/>
            <a:ext cx="400050" cy="152400"/>
          </a:xfrm>
        </p:spPr>
        <p:txBody>
          <a:bodyPr wrap="square" lIns="0" tIns="0" rIns="0" bIns="0" rtlCol="0" anchor="t"/>
          <a:lstStyle/>
          <a:p>
            <a:pPr algn="ctr"/>
            <a:r>
              <a:rPr sz="1000" b="1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0.14</a:t>
            </a:r>
            <a:endParaRPr sz="1000" b="1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31" name="Shape 31"/>
          <p:cNvSpPr/>
          <p:nvPr/>
        </p:nvSpPr>
        <p:spPr>
          <a:xfrm>
            <a:off x="5619750" y="4895850"/>
            <a:ext cx="285750" cy="438150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5562600" y="4724400"/>
            <a:ext cx="400050" cy="152400"/>
          </a:xfrm>
        </p:spPr>
        <p:txBody>
          <a:bodyPr wrap="square" lIns="0" tIns="0" rIns="0" bIns="0" rtlCol="0" anchor="t"/>
          <a:lstStyle/>
          <a:p>
            <a:pPr algn="ctr"/>
            <a:r>
              <a:rPr sz="10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0.08</a:t>
            </a:r>
            <a:endParaRPr sz="10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33" name="Shape 33"/>
          <p:cNvSpPr/>
          <p:nvPr/>
        </p:nvSpPr>
        <p:spPr>
          <a:xfrm>
            <a:off x="5943600" y="4943475"/>
            <a:ext cx="285750" cy="390525"/>
          </a:xfrm>
          <a:prstGeom prst="rect">
            <a:avLst/>
          </a:prstGeom>
          <a:solidFill>
            <a:srgbClr val="F5A623"/>
          </a:solidFill>
        </p:spPr>
        <p:txBody>
          <a:bodyPr wrap="square" rtlCol="0"/>
          <a:lstStyle/>
          <a:p/>
        </p:txBody>
      </p:sp>
      <p:sp>
        <p:nvSpPr>
          <p:cNvPr id="34" name="TextBox 34"/>
          <p:cNvSpPr txBox="1"/>
          <p:nvPr/>
        </p:nvSpPr>
        <p:spPr>
          <a:xfrm>
            <a:off x="5886450" y="4772025"/>
            <a:ext cx="400050" cy="152400"/>
          </a:xfrm>
        </p:spPr>
        <p:txBody>
          <a:bodyPr wrap="square" lIns="0" tIns="0" rIns="0" bIns="0" rtlCol="0" anchor="t"/>
          <a:lstStyle/>
          <a:p>
            <a:pPr algn="ctr"/>
            <a:r>
              <a:rPr sz="1000" b="1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0.07</a:t>
            </a:r>
            <a:endParaRPr sz="1000" b="1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238250" y="5448300"/>
            <a:ext cx="609600" cy="171450"/>
          </a:xfrm>
        </p:spPr>
        <p:txBody>
          <a:bodyPr wrap="square" lIns="0" tIns="0" rIns="0" bIns="0" rtlCol="0" anchor="t"/>
          <a:lstStyle/>
          <a:p>
            <a:pPr algn="ctr"/>
            <a:r>
              <a:rPr sz="110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第 1 轮</a:t>
            </a:r>
            <a:endParaRPr sz="110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2333625" y="5448300"/>
            <a:ext cx="609600" cy="171450"/>
          </a:xfrm>
        </p:spPr>
        <p:txBody>
          <a:bodyPr wrap="square" lIns="0" tIns="0" rIns="0" bIns="0" rtlCol="0" anchor="t"/>
          <a:lstStyle/>
          <a:p>
            <a:pPr algn="ctr"/>
            <a:r>
              <a:rPr sz="110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第 2 轮</a:t>
            </a:r>
            <a:endParaRPr sz="110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3429000" y="5448300"/>
            <a:ext cx="609600" cy="171450"/>
          </a:xfrm>
        </p:spPr>
        <p:txBody>
          <a:bodyPr wrap="square" lIns="0" tIns="0" rIns="0" bIns="0" rtlCol="0" anchor="t"/>
          <a:lstStyle/>
          <a:p>
            <a:pPr algn="ctr"/>
            <a:r>
              <a:rPr sz="110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第 3 轮</a:t>
            </a:r>
            <a:endParaRPr sz="110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4524375" y="5448300"/>
            <a:ext cx="609600" cy="171450"/>
          </a:xfrm>
        </p:spPr>
        <p:txBody>
          <a:bodyPr wrap="square" lIns="0" tIns="0" rIns="0" bIns="0" rtlCol="0" anchor="t"/>
          <a:lstStyle/>
          <a:p>
            <a:pPr algn="ctr"/>
            <a:r>
              <a:rPr sz="110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第 4 轮</a:t>
            </a:r>
            <a:endParaRPr sz="110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5619750" y="5448300"/>
            <a:ext cx="609600" cy="171450"/>
          </a:xfrm>
        </p:spPr>
        <p:txBody>
          <a:bodyPr wrap="square" lIns="0" tIns="0" rIns="0" bIns="0" rtlCol="0" anchor="t"/>
          <a:lstStyle/>
          <a:p>
            <a:pPr algn="ctr"/>
            <a:r>
              <a:rPr sz="110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第 5 轮</a:t>
            </a:r>
            <a:endParaRPr sz="110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0" name="Shape 40"/>
          <p:cNvSpPr/>
          <p:nvPr/>
        </p:nvSpPr>
        <p:spPr>
          <a:xfrm>
            <a:off x="7239000" y="1600200"/>
            <a:ext cx="4343400" cy="28194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41" name="TextBox 41"/>
          <p:cNvSpPr txBox="1"/>
          <p:nvPr/>
        </p:nvSpPr>
        <p:spPr>
          <a:xfrm>
            <a:off x="7467600" y="1809750"/>
            <a:ext cx="38862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读图要点</a:t>
            </a:r>
            <a:endParaRPr sz="15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7467600" y="2171700"/>
            <a:ext cx="3886200" cy="214122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3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第 1 轮损失急剧下降，第 5 轮趋于稳定</a:t>
            </a:r>
            <a:endParaRPr sz="13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3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训练与验证损失差距微小 → 几乎没有过拟合，泛化良好</a:t>
            </a:r>
            <a:endParaRPr sz="13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3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各轮验证准确率：72.5% → 85% → 90% → 97.5% → 97.5%</a:t>
            </a:r>
            <a:endParaRPr sz="13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评估基于 5 个批次（eval_iter=5），用于训练过程监控</a:t>
            </a:r>
            <a:endParaRPr sz="120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3" name="Shape 43"/>
          <p:cNvSpPr/>
          <p:nvPr/>
        </p:nvSpPr>
        <p:spPr>
          <a:xfrm>
            <a:off x="7239000" y="4610100"/>
            <a:ext cx="4343400" cy="1371600"/>
          </a:xfrm>
          <a:prstGeom prst="roundRect">
            <a:avLst/>
          </a:prstGeom>
          <a:solidFill>
            <a:srgbClr val="14253E"/>
          </a:solidFill>
          <a:ln w="12700">
            <a:solidFill>
              <a:srgbClr val="2A3A5C"/>
            </a:solidFill>
          </a:ln>
        </p:spPr>
        <p:txBody>
          <a:bodyPr wrap="square" rtlCol="0"/>
          <a:lstStyle/>
          <a:p/>
        </p:txBody>
      </p:sp>
      <p:sp>
        <p:nvSpPr>
          <p:cNvPr id="44" name="TextBox 44"/>
          <p:cNvSpPr txBox="1"/>
          <p:nvPr/>
        </p:nvSpPr>
        <p:spPr>
          <a:xfrm>
            <a:off x="7467600" y="4800600"/>
            <a:ext cx="38862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如何选择训练轮数</a:t>
            </a:r>
            <a:endParaRPr sz="14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7467600" y="5105400"/>
            <a:ext cx="3886200" cy="828675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sz="12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取决于数据集与任务难度，5 轮是不错的起点：若前几轮后出现过拟合则减少轮数；若验证损失仍有下降趋势则增加轮数。</a:t>
            </a:r>
            <a:endParaRPr sz="12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609600" y="6572250"/>
            <a:ext cx="3810000" cy="1714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第 6 章 · 针对分类的微调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9715500" y="6572250"/>
            <a:ext cx="1866900" cy="1714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18 / 23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3810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6.7 在有监督数据上微调模型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704850"/>
            <a:ext cx="8572500" cy="514350"/>
          </a:xfrm>
        </p:spPr>
        <p:txBody>
          <a:bodyPr wrap="square" lIns="0" tIns="0" rIns="0" bIns="0" rtlCol="0" anchor="t"/>
          <a:lstStyle/>
          <a:p>
            <a:pPr algn="l"/>
            <a:r>
              <a:rPr sz="3000" b="1">
                <a:solidFill>
                  <a:srgbClr val="F2F6FD"/>
                </a:solidFill>
                <a:latin typeface="PingFang SC" panose="020B0400000000000000" charset="-122"/>
                <a:ea typeface="PingFang SC" panose="020B0400000000000000" charset="-122"/>
              </a:rPr>
              <a:t>微调后的最终性能</a:t>
            </a:r>
            <a:endParaRPr sz="3000" b="1">
              <a:solidFill>
                <a:srgbClr val="F2F6FD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34400" y="457200"/>
            <a:ext cx="3048000" cy="19050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LLM FROM SCRATCH · 教学课件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223150"/>
          </a:solidFill>
        </p:spPr>
        <p:txBody>
          <a:bodyPr wrap="square" rtlCol="0"/>
          <a:lstStyle/>
          <a:p/>
        </p:txBody>
      </p:sp>
      <p:sp>
        <p:nvSpPr>
          <p:cNvPr id="7" name="Shape 7"/>
          <p:cNvSpPr/>
          <p:nvPr/>
        </p:nvSpPr>
        <p:spPr>
          <a:xfrm>
            <a:off x="609600" y="1809750"/>
            <a:ext cx="3505200" cy="238125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914400" y="2095500"/>
            <a:ext cx="28956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训练集准确率</a:t>
            </a:r>
            <a:endParaRPr sz="1400" b="1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4400" y="2438400"/>
            <a:ext cx="2895600" cy="670560"/>
          </a:xfrm>
        </p:spPr>
        <p:txBody>
          <a:bodyPr wrap="square" lIns="0" tIns="0" rIns="0" bIns="0" rtlCol="0" anchor="t"/>
          <a:lstStyle/>
          <a:p>
            <a:pPr algn="l"/>
            <a:r>
              <a:rPr sz="44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97.21%</a:t>
            </a:r>
            <a:endParaRPr sz="44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14400" y="3162300"/>
            <a:ext cx="28956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7EE0A3"/>
                </a:solidFill>
                <a:latin typeface="Helvetica Neue" panose="02000503000000020004"/>
                <a:ea typeface="Helvetica Neue" panose="02000503000000020004"/>
              </a:rPr>
              <a:t>较微调前 +50.96 pp</a:t>
            </a:r>
            <a:endParaRPr sz="1300" b="1">
              <a:solidFill>
                <a:srgbClr val="7EE0A3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14400" y="3505200"/>
            <a:ext cx="2895600" cy="4191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全量数据评估（不设 num_batches）</a:t>
            </a:r>
            <a:endParaRPr sz="11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4343400" y="1809750"/>
            <a:ext cx="3505200" cy="238125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4648200" y="2095500"/>
            <a:ext cx="28956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验证集准确率</a:t>
            </a:r>
            <a:endParaRPr sz="1400" b="1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648200" y="2438400"/>
            <a:ext cx="2895600" cy="670560"/>
          </a:xfrm>
        </p:spPr>
        <p:txBody>
          <a:bodyPr wrap="square" lIns="0" tIns="0" rIns="0" bIns="0" rtlCol="0" anchor="t"/>
          <a:lstStyle/>
          <a:p>
            <a:pPr algn="l"/>
            <a:r>
              <a:rPr sz="44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97.32%</a:t>
            </a:r>
            <a:endParaRPr sz="44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648200" y="3162300"/>
            <a:ext cx="28956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7EE0A3"/>
                </a:solidFill>
                <a:latin typeface="Helvetica Neue" panose="02000503000000020004"/>
                <a:ea typeface="Helvetica Neue" panose="02000503000000020004"/>
              </a:rPr>
              <a:t>较微调前 +52.32 pp</a:t>
            </a:r>
            <a:endParaRPr sz="1300" b="1">
              <a:solidFill>
                <a:srgbClr val="7EE0A3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648200" y="3505200"/>
            <a:ext cx="2895600" cy="4191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全量数据评估（不设 num_batches）</a:t>
            </a:r>
            <a:endParaRPr sz="11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8077200" y="1809750"/>
            <a:ext cx="3505200" cy="2381250"/>
          </a:xfrm>
          <a:prstGeom prst="roundRect">
            <a:avLst/>
          </a:prstGeom>
          <a:solidFill>
            <a:srgbClr val="14253E"/>
          </a:solidFill>
          <a:ln w="19050">
            <a:solidFill>
              <a:srgbClr val="38BDF8"/>
            </a:solidFill>
          </a:ln>
        </p:spPr>
        <p:txBody>
          <a:bodyPr wrap="square" rtlCol="0"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8382000" y="2095500"/>
            <a:ext cx="28956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测试集准确率</a:t>
            </a:r>
            <a:endParaRPr sz="1400" b="1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382000" y="2438400"/>
            <a:ext cx="2895600" cy="670560"/>
          </a:xfrm>
        </p:spPr>
        <p:txBody>
          <a:bodyPr wrap="square" lIns="0" tIns="0" rIns="0" bIns="0" rtlCol="0" anchor="t"/>
          <a:lstStyle/>
          <a:p>
            <a:pPr algn="l"/>
            <a:r>
              <a:rPr sz="44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95.67%</a:t>
            </a:r>
            <a:endParaRPr sz="44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382000" y="3162300"/>
            <a:ext cx="28956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7EE0A3"/>
                </a:solidFill>
                <a:latin typeface="Helvetica Neue" panose="02000503000000020004"/>
                <a:ea typeface="Helvetica Neue" panose="02000503000000020004"/>
              </a:rPr>
              <a:t>较微调前 +46.92 pp</a:t>
            </a:r>
            <a:endParaRPr sz="1300" b="1">
              <a:solidFill>
                <a:srgbClr val="7EE0A3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382000" y="3505200"/>
            <a:ext cx="2895600" cy="4191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sz="11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从未见过的数据上的最终表现</a:t>
            </a:r>
            <a:endParaRPr sz="11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609600" y="4533900"/>
            <a:ext cx="10972800" cy="14478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876300" y="4743450"/>
            <a:ext cx="2857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结果解读</a:t>
            </a:r>
            <a:endParaRPr sz="14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76300" y="5067300"/>
            <a:ext cx="10439400" cy="7810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sz="1300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三个集合的表现几乎一致 → 过拟合很小；测试集略低于验证集属常见现象（超参数按验证集调优）。</a:t>
            </a:r>
            <a:endParaRPr sz="1300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</a:pPr>
            <a:r>
              <a:rPr sz="12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缩小差距的调整方向：提高 drop_rate，或增大优化器的 weight_decay。</a:t>
            </a:r>
            <a:endParaRPr sz="12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09600" y="6572250"/>
            <a:ext cx="3810000" cy="1714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第 6 章 · 针对分类的微调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715500" y="6572250"/>
            <a:ext cx="1866900" cy="1714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19 / 23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3810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6.8 使用大语言模型作为垃圾消息分类器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704850"/>
            <a:ext cx="8572500" cy="514350"/>
          </a:xfrm>
        </p:spPr>
        <p:txBody>
          <a:bodyPr wrap="square" lIns="0" tIns="0" rIns="0" bIns="0" rtlCol="0" anchor="t"/>
          <a:lstStyle/>
          <a:p>
            <a:pPr algn="l"/>
            <a:r>
              <a:rPr sz="3000" b="1">
                <a:solidFill>
                  <a:srgbClr val="F2F6FD"/>
                </a:solidFill>
                <a:latin typeface="PingFang SC" panose="020B0400000000000000" charset="-122"/>
                <a:ea typeface="PingFang SC" panose="020B0400000000000000" charset="-122"/>
              </a:rPr>
              <a:t>实战：对新消息进行分类</a:t>
            </a:r>
            <a:endParaRPr sz="3000" b="1">
              <a:solidFill>
                <a:srgbClr val="F2F6FD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34400" y="457200"/>
            <a:ext cx="3048000" cy="19050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LLM FROM SCRATCH · 教学课件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223150"/>
          </a:solidFill>
        </p:spPr>
        <p:txBody>
          <a:bodyPr wrap="square" rtlCol="0"/>
          <a:lstStyle/>
          <a:p/>
        </p:txBody>
      </p:sp>
      <p:sp>
        <p:nvSpPr>
          <p:cNvPr id="7" name="Shape 7"/>
          <p:cNvSpPr/>
          <p:nvPr/>
        </p:nvSpPr>
        <p:spPr>
          <a:xfrm>
            <a:off x="609600" y="1600200"/>
            <a:ext cx="4953000" cy="28194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38200" y="1809750"/>
            <a:ext cx="44958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classify_review 推理流程</a:t>
            </a:r>
            <a:endParaRPr sz="15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38200" y="2190750"/>
            <a:ext cx="4495800" cy="20193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3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1　</a:t>
            </a:r>
            <a:r>
              <a:rPr sz="12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tokenizer.encode(text) 编码消息</a:t>
            </a:r>
            <a:endParaRPr sz="12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3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2　</a:t>
            </a:r>
            <a:r>
              <a:rPr sz="12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截断到 min(max_length, 模型上下文上限)</a:t>
            </a:r>
            <a:endParaRPr sz="12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3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3　</a:t>
            </a:r>
            <a:r>
              <a:rPr sz="12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填充 50256 至 max_length，并加批次维度</a:t>
            </a:r>
            <a:endParaRPr sz="12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4　</a:t>
            </a:r>
            <a:r>
              <a:rPr sz="125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前向推理取最后词元 logits → argmax → 返回 "spam" / "not spam"</a:t>
            </a:r>
            <a:endParaRPr sz="125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609600" y="4648200"/>
            <a:ext cx="4953000" cy="1333500"/>
          </a:xfrm>
          <a:prstGeom prst="roundRect">
            <a:avLst/>
          </a:prstGeom>
          <a:solidFill>
            <a:srgbClr val="0D1830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38200" y="4819650"/>
            <a:ext cx="44958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50" b="1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保存与加载（无需重新训练）</a:t>
            </a:r>
            <a:endParaRPr sz="1250" b="1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38200" y="5105400"/>
            <a:ext cx="4495800" cy="814959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torch.save(model.state_dict(),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5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    "review_classifier.pth")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55000"/>
              </a:lnSpc>
            </a:pPr>
            <a:r>
              <a:rPr sz="11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model.load_state_dict(torch.load(path, map_location=device))</a:t>
            </a:r>
            <a:endParaRPr sz="11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5943600" y="1600200"/>
            <a:ext cx="5638800" cy="2057400"/>
          </a:xfrm>
          <a:prstGeom prst="roundRect">
            <a:avLst/>
          </a:prstGeom>
          <a:solidFill>
            <a:srgbClr val="182136"/>
          </a:solidFill>
          <a:ln w="19050">
            <a:solidFill>
              <a:srgbClr val="F5A623"/>
            </a:solidFill>
          </a:ln>
        </p:spPr>
        <p:txBody>
          <a:bodyPr wrap="square" rtlCol="0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6210300" y="1809750"/>
            <a:ext cx="51054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示例一 · 中奖诈骗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210300" y="2114550"/>
            <a:ext cx="5105400" cy="7239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sz="12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"You are a winner you have been specially selected to receive $1000 cash or a $2000 award."</a:t>
            </a:r>
            <a:endParaRPr sz="12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210300" y="3028950"/>
            <a:ext cx="1143000" cy="396240"/>
          </a:xfrm>
        </p:spPr>
        <p:txBody>
          <a:bodyPr wrap="square" lIns="0" tIns="0" rIns="0" bIns="0" rtlCol="0" anchor="t"/>
          <a:lstStyle/>
          <a:p>
            <a:pPr algn="l"/>
            <a:r>
              <a:rPr sz="2600" b="1">
                <a:solidFill>
                  <a:srgbClr val="F5A623"/>
                </a:solidFill>
                <a:latin typeface="Helvetica Neue" panose="02000503000000020004"/>
                <a:ea typeface="Helvetica Neue" panose="02000503000000020004"/>
              </a:rPr>
              <a:t>spam</a:t>
            </a:r>
            <a:endParaRPr sz="2600" b="1">
              <a:solidFill>
                <a:srgbClr val="F5A623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620000" y="3162300"/>
            <a:ext cx="36957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模型预测正确（垃圾消息）</a:t>
            </a:r>
            <a:endParaRPr sz="12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5943600" y="3924300"/>
            <a:ext cx="5638800" cy="2057400"/>
          </a:xfrm>
          <a:prstGeom prst="roundRect">
            <a:avLst/>
          </a:prstGeom>
          <a:solidFill>
            <a:srgbClr val="182136"/>
          </a:solidFill>
          <a:ln w="19050">
            <a:solidFill>
              <a:srgbClr val="38BDF8"/>
            </a:solidFill>
          </a:ln>
        </p:spPr>
        <p:txBody>
          <a:bodyPr wrap="square" rtlCol="0"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6210300" y="4133850"/>
            <a:ext cx="51054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38BDF8"/>
                </a:solidFill>
                <a:latin typeface="PingFang SC" panose="020B0400000000000000" charset="-122"/>
                <a:ea typeface="PingFang SC" panose="020B0400000000000000" charset="-122"/>
              </a:rPr>
              <a:t>示例二 · 晚餐邀约</a:t>
            </a:r>
            <a:endParaRPr sz="1300" b="1">
              <a:solidFill>
                <a:srgbClr val="38BD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210300" y="4438650"/>
            <a:ext cx="5105400" cy="7239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sz="1250">
                <a:solidFill>
                  <a:srgbClr val="C9D6F2"/>
                </a:solidFill>
                <a:latin typeface="Menlo" panose="020B0609030804020204"/>
                <a:ea typeface="Menlo" panose="020B0609030804020204"/>
              </a:rPr>
              <a:t>"Hey, just wanted to check if we're still on for dinner tonight? Let me know!"</a:t>
            </a:r>
            <a:endParaRPr sz="1250">
              <a:solidFill>
                <a:srgbClr val="C9D6F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312535" y="5139690"/>
            <a:ext cx="1428750" cy="792480"/>
          </a:xfrm>
        </p:spPr>
        <p:txBody>
          <a:bodyPr wrap="square" lIns="0" tIns="0" rIns="0" bIns="0" rtlCol="0" anchor="t"/>
          <a:lstStyle/>
          <a:p>
            <a:pPr algn="l"/>
            <a:r>
              <a:rPr sz="26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not spam</a:t>
            </a:r>
            <a:endParaRPr sz="26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810500" y="5486400"/>
            <a:ext cx="3505200" cy="209550"/>
          </a:xfrm>
        </p:spPr>
        <p:txBody>
          <a:bodyPr wrap="square" lIns="0" tIns="0" rIns="0" bIns="0" rtlCol="0" anchor="t"/>
          <a:lstStyle/>
          <a:p>
            <a:pPr algn="l"/>
            <a:r>
              <a:rPr sz="12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模型预测正确（非垃圾消息）</a:t>
            </a:r>
            <a:endParaRPr sz="12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09600" y="6572250"/>
            <a:ext cx="3810000" cy="1714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第 6 章 · 针对分类的微调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715500" y="6572250"/>
            <a:ext cx="1866900" cy="1714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20 / 23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3810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6.9 小结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704850"/>
            <a:ext cx="8572500" cy="514350"/>
          </a:xfrm>
        </p:spPr>
        <p:txBody>
          <a:bodyPr wrap="square" lIns="0" tIns="0" rIns="0" bIns="0" rtlCol="0" anchor="t"/>
          <a:lstStyle/>
          <a:p>
            <a:pPr algn="l"/>
            <a:r>
              <a:rPr sz="3000" b="1">
                <a:solidFill>
                  <a:srgbClr val="F2F6FD"/>
                </a:solidFill>
                <a:latin typeface="PingFang SC" panose="020B0400000000000000" charset="-122"/>
                <a:ea typeface="PingFang SC" panose="020B0400000000000000" charset="-122"/>
              </a:rPr>
              <a:t>本章小结</a:t>
            </a:r>
            <a:endParaRPr sz="3000" b="1">
              <a:solidFill>
                <a:srgbClr val="F2F6FD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34400" y="457200"/>
            <a:ext cx="3048000" cy="19050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LLM FROM SCRATCH · 教学课件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223150"/>
          </a:solidFill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09600" y="1676400"/>
            <a:ext cx="6477000" cy="4419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spcAft>
                <a:spcPts val="1300"/>
              </a:spcAft>
            </a:pPr>
            <a:r>
              <a:rPr sz="135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1　</a:t>
            </a:r>
            <a:r>
              <a:rPr sz="1350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微调大语言模型有不同策略，包括</a:t>
            </a:r>
            <a:r>
              <a:rPr sz="135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分类微调和指令微调</a:t>
            </a:r>
            <a:endParaRPr sz="135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  <a:spcAft>
                <a:spcPts val="1300"/>
              </a:spcAft>
            </a:pPr>
            <a:r>
              <a:rPr sz="135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2　</a:t>
            </a:r>
            <a:r>
              <a:rPr sz="1350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分类微调通过添加一个小型分类层来</a:t>
            </a:r>
            <a:r>
              <a:rPr sz="135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替换大语言模型的输出层</a:t>
            </a:r>
            <a:endParaRPr sz="135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  <a:spcAft>
                <a:spcPts val="1300"/>
              </a:spcAft>
            </a:pPr>
            <a:r>
              <a:rPr sz="135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3　</a:t>
            </a:r>
            <a:r>
              <a:rPr sz="1350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垃圾消息分类的新输出层只有 </a:t>
            </a:r>
            <a:r>
              <a:rPr sz="135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2 个输出节点</a:t>
            </a:r>
            <a:r>
              <a:rPr sz="1350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（原输出对应 50 256 个词元）</a:t>
            </a:r>
            <a:endParaRPr sz="1350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  <a:spcAft>
                <a:spcPts val="1300"/>
              </a:spcAft>
            </a:pPr>
            <a:r>
              <a:rPr sz="135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4　</a:t>
            </a:r>
            <a:r>
              <a:rPr sz="1350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训练目标是输出正确的类别标签，而非预测下一个词元</a:t>
            </a:r>
            <a:endParaRPr sz="1350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  <a:spcAft>
                <a:spcPts val="1300"/>
              </a:spcAft>
            </a:pPr>
            <a:r>
              <a:rPr sz="135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5　</a:t>
            </a:r>
            <a:r>
              <a:rPr sz="1350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与预训练相同，模型输入是将文本转换得到的</a:t>
            </a:r>
            <a:r>
              <a:rPr sz="135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词元 ID</a:t>
            </a:r>
            <a:endParaRPr sz="135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  <a:spcAft>
                <a:spcPts val="1300"/>
              </a:spcAft>
            </a:pPr>
            <a:r>
              <a:rPr sz="135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6　</a:t>
            </a:r>
            <a:r>
              <a:rPr sz="1350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微调前先将预训练模型加载为基础模型，并冻结大部分层</a:t>
            </a:r>
            <a:endParaRPr sz="1350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50000"/>
              </a:lnSpc>
            </a:pPr>
            <a:r>
              <a:rPr sz="135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7　</a:t>
            </a:r>
            <a:r>
              <a:rPr sz="1350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评估用分类准确率，损失函数与预训练同为</a:t>
            </a:r>
            <a:r>
              <a:rPr sz="135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交叉熵</a:t>
            </a:r>
            <a:endParaRPr sz="135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7467600" y="1600200"/>
            <a:ext cx="4114800" cy="44958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7696200" y="1828800"/>
            <a:ext cx="36576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5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三阶段流程回顾</a:t>
            </a:r>
            <a:endParaRPr sz="15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7696200" y="2209800"/>
            <a:ext cx="3657600" cy="9525"/>
          </a:xfrm>
          <a:prstGeom prst="rect">
            <a:avLst/>
          </a:prstGeom>
          <a:solidFill>
            <a:srgbClr val="26375A"/>
          </a:solidFill>
        </p:spPr>
        <p:txBody>
          <a:bodyPr wrap="square" rtlCol="0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7696200" y="2400300"/>
            <a:ext cx="3657600" cy="571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38BDF8"/>
                </a:solidFill>
                <a:latin typeface="PingFang SC" panose="020B0400000000000000" charset="-122"/>
                <a:ea typeface="PingFang SC" panose="020B0400000000000000" charset="-122"/>
              </a:rPr>
              <a:t>① 准备数据集</a:t>
            </a:r>
            <a:endParaRPr sz="1350" b="1">
              <a:solidFill>
                <a:srgbClr val="38BDF8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1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下载、平衡、标签映射、划分 70/10/20</a:t>
            </a:r>
            <a:endParaRPr sz="11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696200" y="3143250"/>
            <a:ext cx="3657600" cy="571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38BDF8"/>
                </a:solidFill>
                <a:latin typeface="PingFang SC" panose="020B0400000000000000" charset="-122"/>
                <a:ea typeface="PingFang SC" panose="020B0400000000000000" charset="-122"/>
              </a:rPr>
              <a:t>② 初始化模型</a:t>
            </a:r>
            <a:endParaRPr sz="1350" b="1">
              <a:solidFill>
                <a:srgbClr val="38BDF8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1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加载 GPT-2 预训练权重，替换输出层</a:t>
            </a:r>
            <a:endParaRPr sz="11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696200" y="3886200"/>
            <a:ext cx="3657600" cy="571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38BDF8"/>
                </a:solidFill>
                <a:latin typeface="PingFang SC" panose="020B0400000000000000" charset="-122"/>
                <a:ea typeface="PingFang SC" panose="020B0400000000000000" charset="-122"/>
              </a:rPr>
              <a:t>③ 损失与准确率</a:t>
            </a:r>
            <a:endParaRPr sz="1350" b="1">
              <a:solidFill>
                <a:srgbClr val="38BDF8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1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最后词元 logits → argmax → 交叉熵损失</a:t>
            </a:r>
            <a:endParaRPr sz="11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696200" y="4629150"/>
            <a:ext cx="3657600" cy="571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38BDF8"/>
                </a:solidFill>
                <a:latin typeface="PingFang SC" panose="020B0400000000000000" charset="-122"/>
                <a:ea typeface="PingFang SC" panose="020B0400000000000000" charset="-122"/>
              </a:rPr>
              <a:t>④ 微调与评估</a:t>
            </a:r>
            <a:endParaRPr sz="1350" b="1">
              <a:solidFill>
                <a:srgbClr val="38BDF8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1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5 轮训练，测试集准确率达 95.67%</a:t>
            </a:r>
            <a:endParaRPr sz="11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696200" y="5372100"/>
            <a:ext cx="3657600" cy="533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38BDF8"/>
                </a:solidFill>
                <a:latin typeface="PingFang SC" panose="020B0400000000000000" charset="-122"/>
                <a:ea typeface="PingFang SC" panose="020B0400000000000000" charset="-122"/>
              </a:rPr>
              <a:t>⑤ 分类新消息</a:t>
            </a:r>
            <a:endParaRPr sz="1350" b="1">
              <a:solidFill>
                <a:srgbClr val="38BDF8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35000"/>
              </a:lnSpc>
            </a:pPr>
            <a:r>
              <a:rPr sz="115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classify_review 推理，保存模型复用</a:t>
            </a:r>
            <a:endParaRPr sz="115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09600" y="6572250"/>
            <a:ext cx="3810000" cy="1714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第 6 章 · 针对分类的微调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715500" y="6572250"/>
            <a:ext cx="1866900" cy="1714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21 / 23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419100"/>
            <a:ext cx="3810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课后练习 · EXERCISES</a:t>
            </a:r>
            <a:endParaRPr sz="13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704850"/>
            <a:ext cx="8572500" cy="514350"/>
          </a:xfrm>
        </p:spPr>
        <p:txBody>
          <a:bodyPr wrap="square" lIns="0" tIns="0" rIns="0" bIns="0" rtlCol="0" anchor="t"/>
          <a:lstStyle/>
          <a:p>
            <a:pPr algn="l"/>
            <a:r>
              <a:rPr sz="3000" b="1">
                <a:solidFill>
                  <a:srgbClr val="F2F6FD"/>
                </a:solidFill>
                <a:latin typeface="PingFang SC" panose="020B0400000000000000" charset="-122"/>
                <a:ea typeface="PingFang SC" panose="020B0400000000000000" charset="-122"/>
              </a:rPr>
              <a:t>动手练习</a:t>
            </a:r>
            <a:endParaRPr sz="3000" b="1">
              <a:solidFill>
                <a:srgbClr val="F2F6FD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34400" y="457200"/>
            <a:ext cx="3048000" cy="19050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LLM FROM SCRATCH · 教学课件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09600" y="1333500"/>
            <a:ext cx="10972800" cy="9525"/>
          </a:xfrm>
          <a:prstGeom prst="rect">
            <a:avLst/>
          </a:prstGeom>
          <a:solidFill>
            <a:srgbClr val="223150"/>
          </a:solidFill>
        </p:spPr>
        <p:txBody>
          <a:bodyPr wrap="square" rtlCol="0"/>
          <a:lstStyle/>
          <a:p/>
        </p:txBody>
      </p:sp>
      <p:sp>
        <p:nvSpPr>
          <p:cNvPr id="7" name="Shape 7"/>
          <p:cNvSpPr/>
          <p:nvPr/>
        </p:nvSpPr>
        <p:spPr>
          <a:xfrm>
            <a:off x="609600" y="1714500"/>
            <a:ext cx="3505200" cy="38100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914400" y="2019300"/>
            <a:ext cx="1905000" cy="381000"/>
          </a:xfrm>
        </p:spPr>
        <p:txBody>
          <a:bodyPr wrap="square" lIns="0" tIns="0" rIns="0" bIns="0" rtlCol="0" anchor="t"/>
          <a:lstStyle/>
          <a:p>
            <a:pPr algn="l"/>
            <a:r>
              <a:rPr sz="22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练习 6.1</a:t>
            </a:r>
            <a:endParaRPr sz="22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4400" y="2552700"/>
            <a:ext cx="28956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6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增加上下文长度</a:t>
            </a:r>
            <a:endParaRPr sz="16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14400" y="3009900"/>
            <a:ext cx="2895600" cy="2095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sz="13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将输入填充到模型支持的最大词元数量（max_length=1024），观察这对预测性能的影响。</a:t>
            </a:r>
            <a:endParaRPr sz="13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4343400" y="1714500"/>
            <a:ext cx="3505200" cy="38100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648200" y="2019300"/>
            <a:ext cx="1905000" cy="381000"/>
          </a:xfrm>
        </p:spPr>
        <p:txBody>
          <a:bodyPr wrap="square" lIns="0" tIns="0" rIns="0" bIns="0" rtlCol="0" anchor="t"/>
          <a:lstStyle/>
          <a:p>
            <a:pPr algn="l"/>
            <a:r>
              <a:rPr sz="22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练习 6.2</a:t>
            </a:r>
            <a:endParaRPr sz="22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648200" y="2552700"/>
            <a:ext cx="28956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6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微调整个模型</a:t>
            </a:r>
            <a:endParaRPr sz="16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648200" y="3009900"/>
            <a:ext cx="2895600" cy="2095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sz="13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不只微调最后一个 Transformer 块，尝试微调整个模型，并评估这对预测性能的影响。</a:t>
            </a:r>
            <a:endParaRPr sz="13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8077200" y="1714500"/>
            <a:ext cx="3505200" cy="38100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6375A"/>
            </a:solidFill>
          </a:ln>
        </p:spPr>
        <p:txBody>
          <a:bodyPr wrap="square" rtlCol="0"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8382000" y="2019300"/>
            <a:ext cx="1905000" cy="381000"/>
          </a:xfrm>
        </p:spPr>
        <p:txBody>
          <a:bodyPr wrap="square" lIns="0" tIns="0" rIns="0" bIns="0" rtlCol="0" anchor="t"/>
          <a:lstStyle/>
          <a:p>
            <a:pPr algn="l"/>
            <a:r>
              <a:rPr sz="2200" b="1">
                <a:solidFill>
                  <a:srgbClr val="38BDF8"/>
                </a:solidFill>
                <a:latin typeface="Helvetica Neue" panose="02000503000000020004"/>
                <a:ea typeface="Helvetica Neue" panose="02000503000000020004"/>
              </a:rPr>
              <a:t>练习 6.3</a:t>
            </a:r>
            <a:endParaRPr sz="2200" b="1">
              <a:solidFill>
                <a:srgbClr val="38BDF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382000" y="2552700"/>
            <a:ext cx="28956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600" b="1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第一个词元 vs 最后一个词元</a:t>
            </a:r>
            <a:endParaRPr sz="1600" b="1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382000" y="3009900"/>
            <a:ext cx="2895600" cy="2095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sz="1300">
                <a:solidFill>
                  <a:srgbClr val="C9D6F2"/>
                </a:solidFill>
                <a:latin typeface="PingFang SC" panose="020B0400000000000000" charset="-122"/>
                <a:ea typeface="PingFang SC" panose="020B0400000000000000" charset="-122"/>
              </a:rPr>
              <a:t>尝试微调第一个输出词元，与微调最后一个词元相比，注意预测性能的变化。</a:t>
            </a:r>
            <a:endParaRPr sz="1300">
              <a:solidFill>
                <a:srgbClr val="C9D6F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609600" y="5829300"/>
            <a:ext cx="10972800" cy="533400"/>
          </a:xfrm>
          <a:prstGeom prst="roundRect">
            <a:avLst/>
          </a:prstGeom>
          <a:solidFill>
            <a:srgbClr val="14253E"/>
          </a:solidFill>
          <a:ln w="12700">
            <a:solidFill>
              <a:srgbClr val="2A3A5C"/>
            </a:solidFill>
          </a:ln>
        </p:spPr>
        <p:txBody>
          <a:bodyPr wrap="square" rtlCol="0"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876300" y="5962650"/>
            <a:ext cx="10477500" cy="266700"/>
          </a:xfrm>
        </p:spPr>
        <p:txBody>
          <a:bodyPr wrap="square" lIns="0" tIns="0" rIns="0" bIns="0" rtlCol="0" anchor="t"/>
          <a:lstStyle/>
          <a:p>
            <a:pPr algn="l"/>
            <a:r>
              <a:rPr sz="125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提示：</a:t>
            </a:r>
            <a:r>
              <a:rPr sz="1250">
                <a:solidFill>
                  <a:srgbClr val="E8EEF8"/>
                </a:solidFill>
                <a:latin typeface="PingFang SC" panose="020B0400000000000000" charset="-122"/>
                <a:ea typeface="PingFang SC" panose="020B0400000000000000" charset="-122"/>
              </a:rPr>
              <a:t>建议先复现本章结果再做消融改动；附录 B 含不平衡数据处理与逐层微调的补充实验</a:t>
            </a:r>
            <a:endParaRPr sz="1250">
              <a:solidFill>
                <a:srgbClr val="E8EEF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09600" y="6572250"/>
            <a:ext cx="3810000" cy="171450"/>
          </a:xfrm>
        </p:spPr>
        <p:txBody>
          <a:bodyPr wrap="square" lIns="0" tIns="0" rIns="0" bIns="0" rtlCol="0" anchor="t"/>
          <a:lstStyle/>
          <a:p>
            <a:pPr algn="l"/>
            <a:r>
              <a:rPr sz="11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第 6 章 · 针对分类的微调</a:t>
            </a:r>
            <a:endParaRPr sz="11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715500" y="6572250"/>
            <a:ext cx="1866900" cy="171450"/>
          </a:xfrm>
        </p:spPr>
        <p:txBody>
          <a:bodyPr wrap="square" lIns="0" tIns="0" rIns="0" bIns="0" rtlCol="0" anchor="t"/>
          <a:lstStyle/>
          <a:p>
            <a:pPr algn="r"/>
            <a:r>
              <a:rPr sz="1100">
                <a:solidFill>
                  <a:srgbClr val="5E7099"/>
                </a:solidFill>
                <a:latin typeface="Helvetica Neue" panose="02000503000000020004"/>
                <a:ea typeface="Helvetica Neue" panose="02000503000000020004"/>
              </a:rPr>
              <a:t>22 / 23</a:t>
            </a:r>
            <a:endParaRPr sz="1100">
              <a:solidFill>
                <a:srgbClr val="5E709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9715500" y="0"/>
            <a:ext cx="2476500" cy="2286000"/>
          </a:xfrm>
          <a:prstGeom prst="ellipse">
            <a:avLst/>
          </a:prstGeom>
          <a:solidFill>
            <a:srgbClr val="131F3A"/>
          </a:solidFill>
        </p:spPr>
        <p:txBody>
          <a:bodyPr wrap="square" rtlCol="0"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4953000"/>
            <a:ext cx="2000250" cy="1905000"/>
          </a:xfrm>
          <a:prstGeom prst="ellipse">
            <a:avLst/>
          </a:prstGeom>
          <a:solidFill>
            <a:srgbClr val="101A33"/>
          </a:solidFill>
        </p:spPr>
        <p:txBody>
          <a:bodyPr wrap="square" rtlCol="0"/>
          <a:lstStyle/>
          <a:p/>
        </p:txBody>
      </p:sp>
      <p:sp>
        <p:nvSpPr>
          <p:cNvPr id="5" name="Shape 5"/>
          <p:cNvSpPr/>
          <p:nvPr/>
        </p:nvSpPr>
        <p:spPr>
          <a:xfrm>
            <a:off x="1619250" y="2857500"/>
            <a:ext cx="1143000" cy="1009650"/>
          </a:xfrm>
          <a:prstGeom prst="hexagon">
            <a:avLst/>
          </a:prstGeom>
          <a:solidFill>
            <a:srgbClr val="14264A"/>
          </a:solidFill>
          <a:ln w="19050">
            <a:solidFill>
              <a:srgbClr val="38BDF8"/>
            </a:solidFill>
          </a:ln>
        </p:spPr>
        <p:txBody>
          <a:bodyPr wrap="square" rtlCol="0"/>
          <a:lstStyle/>
          <a:p/>
        </p:txBody>
      </p:sp>
      <p:sp>
        <p:nvSpPr>
          <p:cNvPr id="6" name="Shape 6"/>
          <p:cNvSpPr/>
          <p:nvPr/>
        </p:nvSpPr>
        <p:spPr>
          <a:xfrm>
            <a:off x="9429750" y="3143250"/>
            <a:ext cx="1238250" cy="1238250"/>
          </a:xfrm>
          <a:prstGeom prst="donut">
            <a:avLst/>
          </a:prstGeom>
          <a:solidFill>
            <a:srgbClr val="14264A"/>
          </a:solidFill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4191000" y="2266950"/>
            <a:ext cx="3810000" cy="266700"/>
          </a:xfrm>
        </p:spPr>
        <p:txBody>
          <a:bodyPr wrap="square" lIns="0" tIns="0" rIns="0" bIns="0" rtlCol="0" anchor="t"/>
          <a:lstStyle/>
          <a:p>
            <a:pPr algn="ctr"/>
            <a:r>
              <a:rPr sz="1500" b="1">
                <a:solidFill>
                  <a:srgbClr val="F5A623"/>
                </a:solidFill>
                <a:latin typeface="PingFang SC" panose="020B0400000000000000" charset="-122"/>
                <a:ea typeface="PingFang SC" panose="020B0400000000000000" charset="-122"/>
              </a:rPr>
              <a:t>下一章预告 · NEXT CHAPTER</a:t>
            </a:r>
            <a:endParaRPr sz="1500" b="1">
              <a:solidFill>
                <a:srgbClr val="F5A62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762250" y="2705100"/>
            <a:ext cx="6667500" cy="609600"/>
          </a:xfrm>
        </p:spPr>
        <p:txBody>
          <a:bodyPr wrap="square" lIns="0" tIns="0" rIns="0" bIns="0" rtlCol="0" anchor="t"/>
          <a:lstStyle/>
          <a:p>
            <a:pPr algn="ctr"/>
            <a:r>
              <a:rPr sz="4000" b="1">
                <a:solidFill>
                  <a:srgbClr val="F2F6FD"/>
                </a:solidFill>
                <a:latin typeface="PingFang SC" panose="020B0400000000000000" charset="-122"/>
                <a:ea typeface="PingFang SC" panose="020B0400000000000000" charset="-122"/>
              </a:rPr>
              <a:t>第 7 章 · 针对指令的微调</a:t>
            </a:r>
            <a:endParaRPr sz="4000" b="1">
              <a:solidFill>
                <a:srgbClr val="F2F6FD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238500" y="3448050"/>
            <a:ext cx="5715000" cy="266700"/>
          </a:xfrm>
        </p:spPr>
        <p:txBody>
          <a:bodyPr wrap="square" lIns="0" tIns="0" rIns="0" bIns="0" rtlCol="0" anchor="t"/>
          <a:lstStyle/>
          <a:p>
            <a:pPr algn="ctr"/>
            <a:r>
              <a:rPr sz="1600">
                <a:solidFill>
                  <a:srgbClr val="8FA3C8"/>
                </a:solidFill>
                <a:latin typeface="PingFang SC" panose="020B0400000000000000" charset="-122"/>
                <a:ea typeface="PingFang SC" panose="020B0400000000000000" charset="-122"/>
              </a:rPr>
              <a:t>从专用分类器到通用指令助手</a:t>
            </a:r>
            <a:endParaRPr sz="1600">
              <a:solidFill>
                <a:srgbClr val="8FA3C8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5143500" y="4038600"/>
            <a:ext cx="1905000" cy="9525"/>
          </a:xfrm>
          <a:prstGeom prst="rect">
            <a:avLst/>
          </a:prstGeom>
          <a:solidFill>
            <a:srgbClr val="2A3A5C"/>
          </a:solidFill>
        </p:spPr>
        <p:txBody>
          <a:bodyPr wrap="square" rtlCol="0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3238500" y="4267200"/>
            <a:ext cx="5715000" cy="228600"/>
          </a:xfrm>
        </p:spPr>
        <p:txBody>
          <a:bodyPr wrap="square" lIns="0" tIns="0" rIns="0" bIns="0" rtlCol="0" anchor="t"/>
          <a:lstStyle/>
          <a:p>
            <a:pPr algn="ctr"/>
            <a:r>
              <a:rPr sz="1300">
                <a:solidFill>
                  <a:srgbClr val="5E7099"/>
                </a:solidFill>
                <a:latin typeface="PingFang SC" panose="020B0400000000000000" charset="-122"/>
                <a:ea typeface="PingFang SC" panose="020B0400000000000000" charset="-122"/>
              </a:rPr>
              <a:t>《从零构建大模型》第 6 章教学课件 · 谢谢观看</a:t>
            </a:r>
            <a:endParaRPr sz="1300">
              <a:solidFill>
                <a:srgbClr val="5E709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9868</Words>
  <Application>WPS 表格</Application>
  <PresentationFormat/>
  <Paragraphs>997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9" baseType="lpstr">
      <vt:lpstr>Arial</vt:lpstr>
      <vt:lpstr>宋体</vt:lpstr>
      <vt:lpstr>Wingdings</vt:lpstr>
      <vt:lpstr>Helvetica Neue</vt:lpstr>
      <vt:lpstr>PingFang SC</vt:lpstr>
      <vt:lpstr>Menlo</vt:lpstr>
      <vt:lpstr>Calibri</vt:lpstr>
      <vt:lpstr>Helvetica Neue</vt:lpstr>
      <vt:lpstr>微软雅黑</vt:lpstr>
      <vt:lpstr>方正雅意黑 GB18030L2</vt:lpstr>
      <vt:lpstr>宋体</vt:lpstr>
      <vt:lpstr>Arial Unicode MS</vt:lpstr>
      <vt:lpstr>汉仪书宋二KW</vt:lpstr>
      <vt:lpstr>微软雅黑</vt:lpstr>
      <vt:lpstr>Menlo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WPS_1728632344</cp:lastModifiedBy>
  <cp:revision>5</cp:revision>
  <dcterms:created xsi:type="dcterms:W3CDTF">2026-10-19T13:18:03Z</dcterms:created>
  <dcterms:modified xsi:type="dcterms:W3CDTF">2026-10-19T13:18:03Z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D09CB42A9E76C8DA7615D66AB21C8469_42</vt:lpwstr>
  </property>
</Properties>
</file>