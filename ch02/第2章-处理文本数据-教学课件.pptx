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343900" y="228600"/>
            <a:ext cx="3276600" cy="27051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sz="15000" b="1">
                <a:solidFill>
                  <a:srgbClr val="223C68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15000" b="1">
              <a:solidFill>
                <a:srgbClr val="223C6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" y="1962150"/>
            <a:ext cx="72390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《从零构建大模型》｜第 2 章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" y="2286000"/>
            <a:ext cx="7239000" cy="10668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处理文本数据</a:t>
            </a:r>
            <a:endParaRPr sz="5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" y="3543300"/>
            <a:ext cx="7239000" cy="3238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9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从原始文本到大语言模型可理解的嵌入向量</a:t>
            </a:r>
            <a:endParaRPr sz="19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981450"/>
            <a:ext cx="7239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Chapter 2 · Working with Text Data</a:t>
            </a:r>
            <a:endParaRPr sz="115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Shape 8"/>
          <p:cNvSpPr/>
          <p:nvPr/>
        </p:nvSpPr>
        <p:spPr>
          <a:xfrm>
            <a:off x="914400" y="4552950"/>
            <a:ext cx="1524000" cy="5334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原始文本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2552700" y="4705350"/>
            <a:ext cx="342900" cy="228600"/>
          </a:xfrm>
          <a:prstGeom prst="rightArrow">
            <a:avLst/>
          </a:prstGeom>
          <a:solidFill>
            <a:srgbClr val="4DA3FF">
              <a:alpha val="34902"/>
            </a:srgbClr>
          </a:solidFill>
        </p:spPr>
        <p:txBody>
          <a:bodyPr wrap="square" rtlCol="0"/>
          <a:lstStyle/>
          <a:p/>
        </p:txBody>
      </p:sp>
      <p:sp>
        <p:nvSpPr>
          <p:cNvPr id="10" name="Shape 10"/>
          <p:cNvSpPr/>
          <p:nvPr/>
        </p:nvSpPr>
        <p:spPr>
          <a:xfrm>
            <a:off x="3009900" y="4552950"/>
            <a:ext cx="1143000" cy="5334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词元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267200" y="4705350"/>
            <a:ext cx="342900" cy="228600"/>
          </a:xfrm>
          <a:prstGeom prst="rightArrow">
            <a:avLst/>
          </a:prstGeom>
          <a:solidFill>
            <a:srgbClr val="4DA3FF">
              <a:alpha val="34902"/>
            </a:srgbClr>
          </a:solidFill>
        </p:spPr>
        <p:txBody>
          <a:bodyPr wrap="square" rtlCol="0"/>
          <a:lstStyle/>
          <a:p/>
        </p:txBody>
      </p:sp>
      <p:sp>
        <p:nvSpPr>
          <p:cNvPr id="12" name="Shape 12"/>
          <p:cNvSpPr/>
          <p:nvPr/>
        </p:nvSpPr>
        <p:spPr>
          <a:xfrm>
            <a:off x="4724400" y="4552950"/>
            <a:ext cx="1333500" cy="5334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词元 ID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172200" y="4705350"/>
            <a:ext cx="342900" cy="228600"/>
          </a:xfrm>
          <a:prstGeom prst="rightArrow">
            <a:avLst/>
          </a:prstGeom>
          <a:solidFill>
            <a:srgbClr val="4DA3FF">
              <a:alpha val="34902"/>
            </a:srgbClr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6629400" y="4552950"/>
            <a:ext cx="1524000" cy="5334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嵌入向量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4400" y="6153150"/>
            <a:ext cx="9525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Sebastian Raschka 著 ｜ 教学课件 ｜ 本章代码：简易分词器 · BPE · 数据加载器</a:t>
            </a:r>
            <a:endParaRPr sz="11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本章定位与学习路线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构建 LLM 三阶段：① 预训练数据集（本章）→ ② 微调遵循指令 → ③ 微调执行特定任务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9600" y="1295400"/>
            <a:ext cx="10972800" cy="576072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大语言模型靠「预测下一个词」在海量文本上完成预训练，但神经网络无法直接处理离散的原始文本——必须先把文字变成连续向量。本章实现从文本到张量的完整输入流水线。</a:t>
            </a:r>
            <a:endParaRPr sz="14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1238250" y="2914650"/>
            <a:ext cx="9715500" cy="19050"/>
          </a:xfrm>
          <a:prstGeom prst="rect">
            <a:avLst/>
          </a:prstGeom>
          <a:solidFill>
            <a:srgbClr val="2B3D5C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1333500" y="2628900"/>
            <a:ext cx="571500" cy="571500"/>
          </a:xfrm>
          <a:prstGeom prst="ellipse">
            <a:avLst/>
          </a:prstGeom>
          <a:solidFill>
            <a:srgbClr val="131E33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18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Shape 8"/>
          <p:cNvSpPr/>
          <p:nvPr/>
        </p:nvSpPr>
        <p:spPr>
          <a:xfrm>
            <a:off x="3571875" y="2628900"/>
            <a:ext cx="571500" cy="571500"/>
          </a:xfrm>
          <a:prstGeom prst="ellipse">
            <a:avLst/>
          </a:prstGeom>
          <a:solidFill>
            <a:srgbClr val="131E33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</a:t>
            </a:r>
            <a:endParaRPr sz="18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5810250" y="2628900"/>
            <a:ext cx="571500" cy="571500"/>
          </a:xfrm>
          <a:prstGeom prst="ellipse">
            <a:avLst/>
          </a:prstGeom>
          <a:solidFill>
            <a:srgbClr val="131E33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3</a:t>
            </a:r>
            <a:endParaRPr sz="18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048625" y="2628900"/>
            <a:ext cx="571500" cy="571500"/>
          </a:xfrm>
          <a:prstGeom prst="ellipse">
            <a:avLst/>
          </a:prstGeom>
          <a:solidFill>
            <a:srgbClr val="131E33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4</a:t>
            </a:r>
            <a:endParaRPr sz="18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10287000" y="2628900"/>
            <a:ext cx="571500" cy="571500"/>
          </a:xfrm>
          <a:prstGeom prst="ellipse">
            <a:avLst/>
          </a:prstGeom>
          <a:solidFill>
            <a:srgbClr val="131E33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5</a:t>
            </a:r>
            <a:endParaRPr sz="18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62000" y="3352800"/>
            <a:ext cx="17145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文本分词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00375" y="3352800"/>
            <a:ext cx="17145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词汇表与 ID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38750" y="3352800"/>
            <a:ext cx="17145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BPE 分词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477125" y="3352800"/>
            <a:ext cx="17145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滑动窗口采样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15500" y="3352800"/>
            <a:ext cx="17145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嵌入与位置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3638550"/>
            <a:ext cx="1714500" cy="60960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1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文本切成单词与标点词元</a:t>
            </a:r>
            <a:endParaRPr sz="11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1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2.2</a:t>
            </a:r>
            <a:endParaRPr sz="11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000375" y="3638550"/>
            <a:ext cx="1714500" cy="60960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1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词元与整数的双向映射</a:t>
            </a:r>
            <a:endParaRPr sz="11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1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2.3–2.4</a:t>
            </a:r>
            <a:endParaRPr sz="11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238750" y="3638550"/>
            <a:ext cx="1714500" cy="60960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1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未知词拆子词，GPT 同款</a:t>
            </a:r>
            <a:endParaRPr sz="11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1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2.5</a:t>
            </a:r>
            <a:endParaRPr sz="11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477125" y="3638550"/>
            <a:ext cx="1714500" cy="60960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1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生成输入 → 目标训练对</a:t>
            </a:r>
            <a:endParaRPr sz="11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1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2.6</a:t>
            </a:r>
            <a:endParaRPr sz="11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15500" y="3638550"/>
            <a:ext cx="1714500" cy="60960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1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ID 变向量并叠加位置</a:t>
            </a:r>
            <a:endParaRPr sz="11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1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2.7–2.8</a:t>
            </a:r>
            <a:endParaRPr sz="11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609600" y="4572000"/>
            <a:ext cx="10972800" cy="15240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914400" y="4781550"/>
            <a:ext cx="2857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学习目标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4400" y="5086350"/>
            <a:ext cx="10382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① 说清嵌入的必要性、维度与效果权衡（2.1）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4400" y="5372100"/>
            <a:ext cx="10382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② 动手实现分词器：词元 → 词元 ID → 特殊词元 → BPE（2.2–2.5）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14400" y="5657850"/>
            <a:ext cx="10382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③ 用滑动窗口与 Embedding 层产出第一批训练张量（2.6–2.8）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02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2.1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理解词嵌入：让文字变成向量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神经网络无法直接处理离散文本——嵌入把单词映射到连续向量空间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9600" y="1295400"/>
            <a:ext cx="5143500" cy="1485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12288</a:t>
            </a:r>
            <a:r>
              <a:rPr sz="24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 维</a:t>
            </a:r>
            <a:endParaRPr sz="24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9600" y="2857500"/>
            <a:ext cx="5143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GPT-3（1750 亿参数）的词嵌入维度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09600" y="3276600"/>
            <a:ext cx="2381250" cy="8382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E8EDF5"/>
                </a:solidFill>
                <a:latin typeface="Helvetica Neue" panose="02000503000000020004"/>
                <a:ea typeface="Helvetica Neue" panose="02000503000000020004"/>
              </a:rPr>
              <a:t>768</a:t>
            </a:r>
            <a:endParaRPr sz="2600" b="1">
              <a:solidFill>
                <a:srgbClr val="E8EDF5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/>
            <a:r>
              <a:rPr sz="11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GPT-2（1.17 亿参数）的嵌入维度</a:t>
            </a:r>
            <a:endParaRPr sz="11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3181350" y="3276600"/>
            <a:ext cx="2381250" cy="8382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1 ～ 数千维</a:t>
            </a:r>
            <a:endParaRPr sz="22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1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维度可调：越高维越细腻，计算越贵</a:t>
            </a:r>
            <a:endParaRPr sz="11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096000" y="1295400"/>
            <a:ext cx="5486400" cy="268097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0" y="1524000"/>
            <a:ext cx="48768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嵌入（Embedding）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00800" y="1790700"/>
            <a:ext cx="48768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把单词、图像等离散对象映射为连续向量空间中的点——神经网络只能对连续数值做数学运算。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400800" y="2343150"/>
            <a:ext cx="48768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word2vec 的直觉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400800" y="2609850"/>
            <a:ext cx="48768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早期经典方法：训练网络按上下文预测词——上下文相似的词含义相似，在嵌入空间中彼此靠近。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00800" y="3162300"/>
            <a:ext cx="48768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LLM 的选择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00800" y="3429000"/>
            <a:ext cx="48768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嵌入层是模型输入层的一部分，随训练一起反向传播优化，可针对任务与数据定制。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09600" y="4152900"/>
            <a:ext cx="10972800" cy="20383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914400" y="4343400"/>
            <a:ext cx="7620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嵌入空间的直觉：语义相近 → 距离相近</a:t>
            </a:r>
            <a:endParaRPr sz="14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1333500" y="4724400"/>
            <a:ext cx="3048000" cy="120015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DA3FF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1714500" y="4838700"/>
            <a:ext cx="2286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鸟类（彼此接近）</a:t>
            </a:r>
            <a:endParaRPr sz="11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1714500" y="5219700"/>
            <a:ext cx="6858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麻雀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476500" y="5219700"/>
            <a:ext cx="6858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鸽子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3238500" y="5219700"/>
            <a:ext cx="6858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天鹅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72000" y="5191125"/>
            <a:ext cx="2286000" cy="247650"/>
          </a:xfrm>
        </p:spPr>
        <p:txBody>
          <a:bodyPr wrap="square" lIns="0" tIns="0" rIns="0" bIns="0" rtlCol="0" anchor="t"/>
          <a:lstStyle/>
          <a:p>
            <a:pPr algn="ctr"/>
            <a:r>
              <a:rPr sz="12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语义不同 → 距离较远</a:t>
            </a:r>
            <a:endParaRPr sz="12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7620000" y="4724400"/>
            <a:ext cx="3048000" cy="120015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5B950"/>
            </a:solidFill>
          </a:ln>
        </p:spPr>
        <p:txBody>
          <a:bodyPr wrap="square" rtlCol="0"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8001000" y="4838700"/>
            <a:ext cx="2286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地点（国家 / 城市）</a:t>
            </a:r>
            <a:endParaRPr sz="11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8001000" y="5219700"/>
            <a:ext cx="6858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法国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8763000" y="5219700"/>
            <a:ext cx="6858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东京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9525000" y="5219700"/>
            <a:ext cx="6858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柏林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03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2.2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文本分词：把句子切成词元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词元（token）可以是单词，也可以是标点等特殊字符——分词是生成嵌入前的必经预处理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09600" y="1238250"/>
            <a:ext cx="3352800" cy="20002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14400" y="1447800"/>
            <a:ext cx="2762250" cy="24384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① 语料准备</a:t>
            </a:r>
            <a:endParaRPr sz="16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1733550"/>
            <a:ext cx="2781300" cy="1333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Edith Wharton 短篇小说《The Verdict》，公版文本可自由用于训练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/>
            <a:r>
              <a:rPr sz="22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20 479</a:t>
            </a: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 个字符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4267200" y="1238250"/>
            <a:ext cx="3352800" cy="20002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572000" y="1447800"/>
            <a:ext cx="2762250" cy="24384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② 规则分割</a:t>
            </a:r>
            <a:endParaRPr sz="16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72000" y="1733550"/>
            <a:ext cx="2781300" cy="1333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用正则把单词与标点切干净：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re.split(r'([,.:;?_!\"()\']|--|\s)')</a:t>
            </a:r>
            <a:endParaRPr sz="10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保留大小写：帮助模型区分专有名词、学会生成大写；空白暂移除（代码语料需保留缩进）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924800" y="1238250"/>
            <a:ext cx="3352800" cy="20002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229600" y="1447800"/>
            <a:ext cx="2762250" cy="24384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③ 得到词元</a:t>
            </a:r>
            <a:endParaRPr sz="16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229600" y="1733550"/>
            <a:ext cx="2781300" cy="1333500"/>
          </a:xfrm>
        </p:spPr>
        <p:txBody>
          <a:bodyPr wrap="square" lIns="0" tIns="0" rIns="0" bIns="0" rtlCol="0" anchor="t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4 690</a:t>
            </a: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 个词元（不含空白）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单词与标点完全独立成词元，双破折号 -- 也单独成词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609600" y="3467100"/>
            <a:ext cx="10972800" cy="27241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14400" y="3657600"/>
            <a:ext cx="5715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示例：一句话 → 10 个词元</a:t>
            </a:r>
            <a:endParaRPr sz="14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" y="4000500"/>
            <a:ext cx="1038225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输入：</a:t>
            </a:r>
            <a:r>
              <a:rPr sz="13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"Hello, world. Is this-- a test?"</a:t>
            </a:r>
            <a:endParaRPr sz="13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943600" y="4324350"/>
            <a:ext cx="304800" cy="228600"/>
          </a:xfrm>
          <a:prstGeom prst="downArrow">
            <a:avLst/>
          </a:prstGeom>
          <a:solidFill>
            <a:srgbClr val="4DA3FF">
              <a:alpha val="34902"/>
            </a:srgbClr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91440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Hello</a:t>
            </a:r>
            <a:endParaRPr sz="130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188595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,</a:t>
            </a:r>
            <a:endParaRPr sz="13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285750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world</a:t>
            </a:r>
            <a:endParaRPr sz="130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382905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.</a:t>
            </a:r>
            <a:endParaRPr sz="13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480060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Is</a:t>
            </a:r>
            <a:endParaRPr sz="130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577215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this</a:t>
            </a:r>
            <a:endParaRPr sz="130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74370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--</a:t>
            </a:r>
            <a:endParaRPr sz="13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71525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a</a:t>
            </a:r>
            <a:endParaRPr sz="130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868680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test</a:t>
            </a:r>
            <a:endParaRPr sz="130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9658350" y="4667250"/>
            <a:ext cx="876300" cy="4191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?</a:t>
            </a:r>
            <a:endParaRPr sz="13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4400" y="5276850"/>
            <a:ext cx="10382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输出：</a:t>
            </a:r>
            <a:r>
              <a:rPr sz="125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['Hello', ',', 'world', '.', 'Is', 'this', '--', 'a', 'test', '?']</a:t>
            </a:r>
            <a:endParaRPr sz="125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14400" y="5676900"/>
            <a:ext cx="10382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单词、标点、双破折号各自独立成词元（琥珀色标出），大小写得以保留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04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2.3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词汇表与词元 ID：字符串变整数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分词结果 → 排序去重 → 词元与整数的双向映射；模型从此只处理数字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09600" y="1238250"/>
            <a:ext cx="5257800" cy="38100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14400" y="1447800"/>
            <a:ext cx="4667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构建词汇表</a:t>
            </a:r>
            <a:endParaRPr sz="16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17907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all_words = sorted(set(preprocessed))</a:t>
            </a:r>
            <a:endParaRPr sz="11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0574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vocab = {tok: i for i, tok in enumerate(all_words)}</a:t>
            </a:r>
            <a:endParaRPr sz="11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4003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词汇表片段 · 共 </a:t>
            </a:r>
            <a:r>
              <a:rPr sz="13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1 130</a:t>
            </a:r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 个唯一词元（按字母序编号）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27051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  !        →  0</a:t>
            </a:r>
            <a:endParaRPr sz="12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" y="29718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  \"        →  1</a:t>
            </a:r>
            <a:endParaRPr sz="12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" y="32385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  Her      →  49</a:t>
            </a:r>
            <a:endParaRPr sz="12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4400" y="35052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  Hermia   →  50</a:t>
            </a:r>
            <a:endParaRPr sz="12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14400" y="3771900"/>
            <a:ext cx="4667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  yourself →  1129</a:t>
            </a:r>
            <a:endParaRPr sz="12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4400" y="4114800"/>
            <a:ext cx="466725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流程：分词 → 排序去重 → 建立映射；标点与单词统一编号，每个词元对应唯一整数</a:t>
            </a:r>
            <a:endParaRPr sz="12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248400" y="1238250"/>
            <a:ext cx="5334000" cy="38100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553200" y="1447800"/>
            <a:ext cx="47244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编码 encode / 解码 decode</a:t>
            </a:r>
            <a:endParaRPr sz="16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53200" y="17907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encode：文本 → 分词 → 查表 → 词元 ID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553200" y="20574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ids = tokenizer.encode(text)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553200" y="23241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E8EDF5"/>
                </a:solidFill>
                <a:latin typeface="Menlo" panose="020B0609030804020204"/>
                <a:ea typeface="Menlo" panose="020B0609030804020204"/>
              </a:rPr>
              <a:t>[1, 56, 2, 850, 988, 602, 533, 746, 5, …]</a:t>
            </a:r>
            <a:endParaRPr sz="1200">
              <a:solidFill>
                <a:srgbClr val="E8EDF5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553200" y="26670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decode：ID → 逆向表 int_to_str → 拼接文本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553200" y="29337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text = tokenizer.decode(ids)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53200" y="3200400"/>
            <a:ext cx="4724400" cy="419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往返验证：编码再解码能还原原文，标点前多余的空格由正则修掉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553200" y="3695700"/>
            <a:ext cx="47244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SimpleTokenizerV1：词汇表作类属性；encode 产出 ID 序列，decode 还原自然文本</a:t>
            </a:r>
            <a:endParaRPr sz="12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09600" y="5257800"/>
            <a:ext cx="10972800" cy="933450"/>
          </a:xfrm>
          <a:prstGeom prst="roundRect">
            <a:avLst/>
          </a:prstGeom>
          <a:solidFill>
            <a:srgbClr val="131E33"/>
          </a:solidFill>
          <a:ln w="19050">
            <a:solidFill>
              <a:srgbClr val="F5B950"/>
            </a:solidFill>
          </a:ln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914400" y="5467350"/>
            <a:ext cx="10382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B950"/>
                </a:solidFill>
                <a:latin typeface="PingFang SC" panose="020B0400000000000000" charset="-122"/>
                <a:ea typeface="PingFang SC" panose="020B0400000000000000" charset="-122"/>
              </a:rPr>
              <a:t>试一试：新文本 </a:t>
            </a:r>
            <a:r>
              <a:rPr sz="13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"Hello, do you like tea?"</a:t>
            </a:r>
            <a:endParaRPr sz="13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4400" y="5791200"/>
            <a:ext cx="103822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→ KeyError: 'Hello'</a:t>
            </a:r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　训练集里没出现过的词无法编码 → 需要特殊词元（2.4）与 BPE（2.5）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05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2.4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特殊上下文词元：为未知与边界预留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词汇表 1 130 → 1 132：新增 &lt;|unk|&gt; 与 &lt;</a:t>
            </a:r>
            <a:r>
              <a:rPr sz="13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endoftext</a:t>
            </a: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&gt;；不同 LLM 还常用 [BOS] / [EOS] / [PAD]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09600" y="1238250"/>
            <a:ext cx="5334000" cy="2057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14400" y="1447800"/>
            <a:ext cx="3238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4DA3FF"/>
                </a:solidFill>
                <a:latin typeface="Menlo" panose="020B0609030804020204"/>
                <a:ea typeface="Menlo" panose="020B0609030804020204"/>
              </a:rPr>
              <a:t>&lt;|unk|&gt;</a:t>
            </a:r>
            <a:endParaRPr sz="1700" b="1">
              <a:solidFill>
                <a:srgbClr val="4DA3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381500" y="1485900"/>
            <a:ext cx="12573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ID 1131</a:t>
            </a:r>
            <a:endParaRPr sz="11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18288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未知词占位</a:t>
            </a:r>
            <a:endParaRPr sz="14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114550"/>
            <a:ext cx="47244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词汇表中不存在的词，SimpleTokenizerV2 一律替换为 &lt;|unk|&gt;（如 Hello、palace），让模型显式地「知道自己遇到了未知词」。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248400" y="1238250"/>
            <a:ext cx="5334000" cy="2057400"/>
          </a:xfrm>
          <a:prstGeom prst="roundRect">
            <a:avLst/>
          </a:prstGeom>
          <a:solidFill>
            <a:srgbClr val="131E33"/>
          </a:solidFill>
          <a:ln w="19050">
            <a:solidFill>
              <a:srgbClr val="F5B950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553200" y="1447800"/>
            <a:ext cx="3238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&lt;|</a:t>
            </a:r>
            <a:r>
              <a:rPr sz="17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endoftext</a:t>
            </a:r>
            <a:r>
              <a:rPr sz="17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|&gt;</a:t>
            </a:r>
            <a:endParaRPr sz="17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20300" y="1485900"/>
            <a:ext cx="12573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ID 1130</a:t>
            </a:r>
            <a:endParaRPr sz="11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53200" y="18288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文档分隔 · GPT 唯一在用</a:t>
            </a:r>
            <a:endParaRPr sz="14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53200" y="2114550"/>
            <a:ext cx="47244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拼接多个不相关文本源时插入，标记「上一篇结束、下一篇开始」。GPT 分词器只用这一个特殊词元：既做分隔，也做填充。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09600" y="3486150"/>
            <a:ext cx="5334000" cy="2057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14400" y="3695700"/>
            <a:ext cx="3238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4DA3FF"/>
                </a:solidFill>
                <a:latin typeface="Menlo" panose="020B0609030804020204"/>
                <a:ea typeface="Menlo" panose="020B0609030804020204"/>
              </a:rPr>
              <a:t>[BOS] / [EOS]</a:t>
            </a:r>
            <a:endParaRPr sz="1700" b="1">
              <a:solidFill>
                <a:srgbClr val="4DA3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381500" y="3733800"/>
            <a:ext cx="12573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序列起止</a:t>
            </a:r>
            <a:endParaRPr sz="11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400" y="40767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序列开始 / 序列结束</a:t>
            </a:r>
            <a:endParaRPr sz="14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" y="4362450"/>
            <a:ext cx="47244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标记文本的起点与终点。[EOS] 常用于连接多篇文档，作用类似 &lt;</a:t>
            </a:r>
            <a:r>
              <a:rPr sz="1250">
                <a:solidFill>
                  <a:srgbClr val="C6D4EA"/>
                </a:solidFill>
                <a:latin typeface="Menlo" panose="020B0609030804020204"/>
                <a:ea typeface="Menlo" panose="020B0609030804020204"/>
              </a:rPr>
              <a:t>endoftext</a:t>
            </a: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&gt;，告诉模型「上篇已完、下篇开始」。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248400" y="3486150"/>
            <a:ext cx="5334000" cy="2057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553200" y="3695700"/>
            <a:ext cx="3238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4DA3FF"/>
                </a:solidFill>
                <a:latin typeface="Menlo" panose="020B0609030804020204"/>
                <a:ea typeface="Menlo" panose="020B0609030804020204"/>
              </a:rPr>
              <a:t>[PAD]</a:t>
            </a:r>
            <a:endParaRPr sz="1700" b="1">
              <a:solidFill>
                <a:srgbClr val="4DA3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020300" y="3733800"/>
            <a:ext cx="12573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批内填充</a:t>
            </a:r>
            <a:endParaRPr sz="11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53200" y="4076700"/>
            <a:ext cx="47244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批内填充</a:t>
            </a:r>
            <a:endParaRPr sz="14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553200" y="4362450"/>
            <a:ext cx="47244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批量训练时把短文本补齐到统一长度；训练中通常配合掩码忽略填充位，因此具体用哪个词元填充并不重要。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9600" y="5772150"/>
            <a:ext cx="109728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350" b="1">
                <a:solidFill>
                  <a:srgbClr val="F5B950"/>
                </a:solidFill>
                <a:latin typeface="PingFang SC" panose="020B0400000000000000" charset="-122"/>
                <a:ea typeface="PingFang SC" panose="020B0400000000000000" charset="-122"/>
              </a:rPr>
              <a:t>GPT 分词器不使用 &lt;|unk|&gt;——BPE 能把任何未知词拆成子词（下一节 2.5）</a:t>
            </a:r>
            <a:endParaRPr sz="1350" b="1">
              <a:solidFill>
                <a:srgbClr val="F5B95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06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2.5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BPE：GPT 系列的分词方案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字节对编码（byte pair encoding）——把任何未知词拆成子词，彻底告别 &lt;|unk|&gt;；GPT-2 / GPT-3 / ChatGPT 同款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09600" y="1238250"/>
            <a:ext cx="3505200" cy="14287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4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50 257</a:t>
            </a:r>
            <a:endParaRPr sz="40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/>
            <a:r>
              <a:rPr sz="12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GPT-2 BPE 词汇表大小</a:t>
            </a:r>
            <a:endParaRPr sz="12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4343400" y="1238250"/>
            <a:ext cx="3505200" cy="14287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4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50 256</a:t>
            </a:r>
            <a:endParaRPr sz="4000" b="1">
              <a:solidFill>
                <a:srgbClr val="4DA3FF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/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词元 &lt;</a:t>
            </a:r>
            <a:r>
              <a:rPr sz="12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endoftext</a:t>
            </a: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&gt; 的 ID（词汇表中最大）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077200" y="1238250"/>
            <a:ext cx="3505200" cy="14287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3000" b="1">
                <a:solidFill>
                  <a:srgbClr val="4DA3FF"/>
                </a:solidFill>
                <a:latin typeface="Menlo" panose="020B0609030804020204"/>
                <a:ea typeface="Menlo" panose="020B0609030804020204"/>
              </a:rPr>
              <a:t>tiktoken</a:t>
            </a:r>
            <a:endParaRPr sz="3000" b="1">
              <a:solidFill>
                <a:srgbClr val="4DA3FF"/>
              </a:solidFill>
              <a:latin typeface="Menlo" panose="020B0609030804020204"/>
              <a:ea typeface="Menlo" panose="020B0609030804020204"/>
            </a:endParaRPr>
          </a:p>
          <a:p>
            <a:pPr algn="ctr"/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OpenAI 开源 BPE 库（Rust 实现）· 书中用 0.7.0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09600" y="2914650"/>
            <a:ext cx="10972800" cy="18097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14400" y="3105150"/>
            <a:ext cx="5715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BPE 如何一步步构建词汇表</a:t>
            </a:r>
            <a:endParaRPr sz="15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4400" y="3429000"/>
            <a:ext cx="2933700" cy="104775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1104900" y="3562350"/>
            <a:ext cx="2571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① 初始</a:t>
            </a:r>
            <a:endParaRPr sz="135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04900" y="3810000"/>
            <a:ext cx="2571750" cy="628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所有单个字符（a、b、c…）先进词汇表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4000500" y="3848100"/>
            <a:ext cx="304800" cy="209550"/>
          </a:xfrm>
          <a:prstGeom prst="rightArrow">
            <a:avLst/>
          </a:prstGeom>
          <a:solidFill>
            <a:srgbClr val="4DA3FF">
              <a:alpha val="34902"/>
            </a:srgbClr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4457700" y="3429000"/>
            <a:ext cx="2933700" cy="104775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4648200" y="3562350"/>
            <a:ext cx="2571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② 合并</a:t>
            </a:r>
            <a:endParaRPr sz="135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48200" y="3810000"/>
            <a:ext cx="2571750" cy="6858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高频相邻字符合并为子词：d + e → "de"（define、depend、made 里常见）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7543800" y="3848100"/>
            <a:ext cx="304800" cy="209550"/>
          </a:xfrm>
          <a:prstGeom prst="rightArrow">
            <a:avLst/>
          </a:prstGeom>
          <a:solidFill>
            <a:srgbClr val="4DA3FF">
              <a:alpha val="34902"/>
            </a:srgbClr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8001000" y="3429000"/>
            <a:ext cx="2933700" cy="104775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191500" y="3562350"/>
            <a:ext cx="2571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③ 迭代</a:t>
            </a:r>
            <a:endParaRPr sz="135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191500" y="3810000"/>
            <a:ext cx="2571750" cy="628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频繁子词继续合并成整词；由频率阈值决定合并程度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609600" y="4914900"/>
            <a:ext cx="10972800" cy="127635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914400" y="51054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未知词也能被编码</a:t>
            </a:r>
            <a:endParaRPr sz="140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14400" y="5410200"/>
            <a:ext cx="19050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someunknownPlace</a:t>
            </a:r>
            <a:endParaRPr sz="14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2971800" y="5448300"/>
            <a:ext cx="304800" cy="190500"/>
          </a:xfrm>
          <a:prstGeom prst="rightArrow">
            <a:avLst/>
          </a:prstGeom>
          <a:solidFill>
            <a:srgbClr val="4DA3FF">
              <a:alpha val="34902"/>
            </a:srgbClr>
          </a:solidFill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3429000" y="5372100"/>
            <a:ext cx="9525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some</a:t>
            </a:r>
            <a:endParaRPr sz="13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4495800" y="5372100"/>
            <a:ext cx="9525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unknown</a:t>
            </a:r>
            <a:endParaRPr sz="13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5562600" y="5372100"/>
            <a:ext cx="952500" cy="3429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Place</a:t>
            </a:r>
            <a:endParaRPr sz="13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858000" y="5429250"/>
            <a:ext cx="44767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无需 &lt;|unk|&gt;，任何单词都能被编码</a:t>
            </a:r>
            <a:endParaRPr sz="13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14400" y="5867400"/>
            <a:ext cx="10382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练习 2.1："Akwirw ier" → 'Ak' 'w' 'ir' 'w' ' ' 'ier'，解码后能完全还原原文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07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2.6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滑动窗口：生成「输入 → 目标」对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大语言模型靠预测下一个词来训练：把长文本切成一对对 x（输入）与 y（目标，右移一位）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09600" y="1238250"/>
            <a:ext cx="6438900" cy="49530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14400" y="1428750"/>
            <a:ext cx="3810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文本词元（BPE 编码后的词元 ID）</a:t>
            </a:r>
            <a:endParaRPr sz="115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914400" y="1676400"/>
            <a:ext cx="99060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and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05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290</a:t>
            </a:r>
            <a:endParaRPr sz="105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Shape 8"/>
          <p:cNvSpPr/>
          <p:nvPr/>
        </p:nvSpPr>
        <p:spPr>
          <a:xfrm>
            <a:off x="1981200" y="1676400"/>
            <a:ext cx="99060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established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05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4920</a:t>
            </a:r>
            <a:endParaRPr sz="105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3048000" y="1676400"/>
            <a:ext cx="99060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himself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05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2241</a:t>
            </a:r>
            <a:endParaRPr sz="105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114800" y="1676400"/>
            <a:ext cx="99060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in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05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287</a:t>
            </a:r>
            <a:endParaRPr sz="105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5181600" y="1676400"/>
            <a:ext cx="99060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a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105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257</a:t>
            </a:r>
            <a:endParaRPr sz="105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" y="2343150"/>
            <a:ext cx="190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x（输入）</a:t>
            </a:r>
            <a:endParaRPr sz="12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914400" y="25717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and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1981200" y="25717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established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048000" y="25717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himself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114800" y="25717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4DA3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in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4400" y="3143250"/>
            <a:ext cx="2857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B950"/>
                </a:solidFill>
                <a:latin typeface="PingFang SC" panose="020B0400000000000000" charset="-122"/>
                <a:ea typeface="PingFang SC" panose="020B0400000000000000" charset="-122"/>
              </a:rPr>
              <a:t>y（目标 = x 右移一位）</a:t>
            </a:r>
            <a:endParaRPr sz="1200" b="1">
              <a:solidFill>
                <a:srgbClr val="F5B95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1981200" y="33718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established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048000" y="33718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himself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4114800" y="33718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in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5181600" y="3371850"/>
            <a:ext cx="990600" cy="38100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a</a:t>
            </a:r>
            <a:endParaRPr sz="12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14400" y="3962400"/>
            <a:ext cx="3810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展开成 4 个训练样本（context_size = 4）</a:t>
            </a:r>
            <a:endParaRPr sz="115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14400" y="4248150"/>
            <a:ext cx="5143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[290] ──→ 4920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4400" y="4495800"/>
            <a:ext cx="5143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[290, 4920] ──→ 2241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4400" y="4743450"/>
            <a:ext cx="5143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[290, 4920, 2241] ──→ 287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14400" y="4991100"/>
            <a:ext cx="5143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[290, 4920, 2241, 287] ──→ 257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4400" y="5391150"/>
            <a:ext cx="57150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对应文本：and → established；and established → himself……输入的每个位置都有一个预测目标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7277100" y="1238250"/>
            <a:ext cx="4305300" cy="49530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7581900" y="1428750"/>
            <a:ext cx="3714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工程实现（PyTorch）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581900" y="1714500"/>
            <a:ext cx="371475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GPTDatasetV1：滑窗切块成 input_chunk / target_chunk；create_dataloader_v1：DataLoader 批量读取，支持 shuffle / drop_last。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581900" y="2533650"/>
            <a:ext cx="3714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关键参数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81900" y="2819400"/>
            <a:ext cx="371475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max_length：窗口词元数（演示 4，实际 ≥ 256）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581900" y="3143250"/>
            <a:ext cx="371475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stride：窗口滑动距离；=1 批次高度重叠、过拟合风险高；=max_length 无重叠、数据利用充分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581900" y="3771900"/>
            <a:ext cx="371475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batch_size：小批省内存，但更新噪声大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581900" y="4095750"/>
            <a:ext cx="371475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drop_last：丢弃不完整批次，防损失剧增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581900" y="4438650"/>
            <a:ext cx="3714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数据规模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581900" y="4724400"/>
            <a:ext cx="371475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《The Verdict》经 BPE 编码共 5 145 个词元；批次 8 × 窗口 4 → 张量 8×4。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581900" y="5334000"/>
            <a:ext cx="3714750" cy="4572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首批输入 [40, 367, 2885, 1464]</a:t>
            </a:r>
            <a:endParaRPr sz="110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  <a:p>
            <a:pPr algn="l"/>
            <a:r>
              <a:rPr sz="11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目标 　　[367, 2885, 1464, 1807]</a:t>
            </a:r>
            <a:endParaRPr sz="110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08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2.7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创建词元嵌入：词元 ID 变向量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914400"/>
            <a:ext cx="109728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文本准备的最后一步——为每个词元 ID 取出一个可训练的连续向量</a:t>
            </a:r>
            <a:endParaRPr sz="13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9600" y="1295400"/>
            <a:ext cx="5905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嵌入层 = 一张查找表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9600" y="1562100"/>
            <a:ext cx="59055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nn.Embedding(vocab_size, output_dim) 的权重矩阵先用随机值初始化，再随训练一起反向传播优化（第 5 章）。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09600" y="2152650"/>
            <a:ext cx="5905500" cy="361950"/>
          </a:xfrm>
          <a:prstGeom prst="roundRect">
            <a:avLst/>
          </a:prstGeom>
          <a:solidFill>
            <a:srgbClr val="0E1830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00100" y="2228850"/>
            <a:ext cx="5524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embedding_layer = torch.nn.Embedding(vocab_size, output_dim)</a:t>
            </a:r>
            <a:endParaRPr sz="11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9600" y="2705100"/>
            <a:ext cx="5905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查找操作：ID 3 → 权重矩阵第 4 行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9600" y="2971800"/>
            <a:ext cx="59055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嵌入层按词元 ID 直接检索权重矩阵中对应的行；本质上等价于独热编码 + 全连接层矩阵乘法的高效实现。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00" y="3619500"/>
            <a:ext cx="5905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动手算一遍（示意）</a:t>
            </a:r>
            <a:endParaRPr sz="15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09600" y="3886200"/>
            <a:ext cx="59055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小词表 6 × 3 维：input_ids = [2, 3, 5, 1] → 输出 4×3；真实规模 50 257 × 256，批次 8×4 → 8×4×256。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09600" y="4591050"/>
            <a:ext cx="5905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权重矩阵（6 × 3，种子 123）：词元 ID 3 → 第 4 行（琥珀高亮）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2500" y="4876800"/>
            <a:ext cx="266700" cy="200025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Menlo" panose="020B0609030804020204"/>
                <a:ea typeface="Menlo" panose="020B0609030804020204"/>
              </a:rPr>
              <a:t>0</a:t>
            </a:r>
            <a:endParaRPr sz="1000">
              <a:solidFill>
                <a:srgbClr val="55709A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2500" y="5105400"/>
            <a:ext cx="266700" cy="200025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Menlo" panose="020B0609030804020204"/>
                <a:ea typeface="Menlo" panose="020B0609030804020204"/>
              </a:rPr>
              <a:t>1</a:t>
            </a:r>
            <a:endParaRPr sz="1000">
              <a:solidFill>
                <a:srgbClr val="55709A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2500" y="5334000"/>
            <a:ext cx="266700" cy="200025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Menlo" panose="020B0609030804020204"/>
                <a:ea typeface="Menlo" panose="020B0609030804020204"/>
              </a:rPr>
              <a:t>2</a:t>
            </a:r>
            <a:endParaRPr sz="1000">
              <a:solidFill>
                <a:srgbClr val="55709A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52500" y="5562600"/>
            <a:ext cx="266700" cy="200025"/>
          </a:xfrm>
        </p:spPr>
        <p:txBody>
          <a:bodyPr wrap="square" lIns="0" tIns="0" rIns="0" bIns="0" rtlCol="0" anchor="t"/>
          <a:lstStyle/>
          <a:p>
            <a:pPr algn="r"/>
            <a:r>
              <a:rPr sz="10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3</a:t>
            </a:r>
            <a:endParaRPr sz="10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52500" y="5791200"/>
            <a:ext cx="266700" cy="200025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Menlo" panose="020B0609030804020204"/>
                <a:ea typeface="Menlo" panose="020B0609030804020204"/>
              </a:rPr>
              <a:t>4</a:t>
            </a:r>
            <a:endParaRPr sz="1000">
              <a:solidFill>
                <a:srgbClr val="55709A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2500" y="6019800"/>
            <a:ext cx="266700" cy="200025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Menlo" panose="020B0609030804020204"/>
                <a:ea typeface="Menlo" panose="020B0609030804020204"/>
              </a:rPr>
              <a:t>5</a:t>
            </a:r>
            <a:endParaRPr sz="1000">
              <a:solidFill>
                <a:srgbClr val="55709A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1295400" y="4876800"/>
            <a:ext cx="1943100" cy="200025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0.3374  -0.1778  -0.1690</a:t>
            </a:r>
            <a:endParaRPr sz="100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1295400" y="5105400"/>
            <a:ext cx="1943100" cy="200025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0.9178  1.5810   1.3010</a:t>
            </a:r>
            <a:endParaRPr sz="100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1295400" y="5334000"/>
            <a:ext cx="1943100" cy="200025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1.2753  -0.2010  -0.1606</a:t>
            </a:r>
            <a:endParaRPr sz="100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1295400" y="5562600"/>
            <a:ext cx="1943100" cy="200025"/>
          </a:xfrm>
          <a:prstGeom prst="roundRect">
            <a:avLst/>
          </a:prstGeom>
          <a:solidFill>
            <a:srgbClr val="F5B950">
              <a:alpha val="14902"/>
            </a:srgbClr>
          </a:solidFill>
          <a:ln w="12700">
            <a:solidFill>
              <a:srgbClr val="F5B95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5B950"/>
                </a:solidFill>
                <a:latin typeface="Menlo" panose="020B0609030804020204"/>
                <a:ea typeface="Menlo" panose="020B0609030804020204"/>
              </a:rPr>
              <a:t>-0.4015  0.9666  -1.1481</a:t>
            </a:r>
            <a:endParaRPr sz="1000" b="1">
              <a:solidFill>
                <a:srgbClr val="F5B95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1295400" y="5791200"/>
            <a:ext cx="1943100" cy="200025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-1.1589  0.3255  -0.6315</a:t>
            </a:r>
            <a:endParaRPr sz="100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1295400" y="6019800"/>
            <a:ext cx="1943100" cy="200025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8FA3C2"/>
                </a:solidFill>
                <a:latin typeface="Menlo" panose="020B0609030804020204"/>
                <a:ea typeface="Menlo" panose="020B0609030804020204"/>
              </a:rPr>
              <a:t>-2.8400  -0.7849 -1.4096</a:t>
            </a:r>
            <a:endParaRPr sz="1000">
              <a:solidFill>
                <a:srgbClr val="8FA3C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619500" y="5048250"/>
            <a:ext cx="2895600" cy="857250"/>
          </a:xfrm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input_ids = [2, 3, 5, 1]</a:t>
            </a:r>
            <a:endParaRPr sz="115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依次取出第 2、3、5、1 行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/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拼成 4×3 的输入矩阵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7" name="Picture 27"/>
          <p:cNvPicPr/>
          <p:nvPr/>
        </p:nvPicPr>
        <p:blipFill>
          <a:blip r:embed="rId1"/>
          <a:srcRect t="10542" b="10542"/>
          <a:stretch>
            <a:fillRect/>
          </a:stretch>
        </p:blipFill>
        <p:spPr>
          <a:xfrm>
            <a:off x="6896100" y="1238250"/>
            <a:ext cx="4686300" cy="4953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55709A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55709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09 / 11</a:t>
            </a:r>
            <a:endParaRPr sz="10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>
              <a:alpha val="76863"/>
            </a:srgbClr>
          </a:solidFill>
        </p:spPr>
        <p:txBody>
          <a:bodyPr wrap="square" rtlCol="0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609600" y="5334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2.8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位置信息：让模型知道词元在哪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9600" y="1066800"/>
            <a:ext cx="109728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自注意力机制不感知顺序：同一个词元 ID 无论出现在第 1 位还是第 4 位，嵌入向量完全相同——需要额外注入位置信息。</a:t>
            </a:r>
            <a:endParaRPr sz="1350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09600" y="1828800"/>
            <a:ext cx="5257800" cy="2190750"/>
          </a:xfrm>
          <a:prstGeom prst="roundRect">
            <a:avLst/>
          </a:prstGeom>
          <a:solidFill>
            <a:srgbClr val="131E33">
              <a:alpha val="90196"/>
            </a:srgbClr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2057400"/>
            <a:ext cx="28575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绝对位置嵌入</a:t>
            </a:r>
            <a:endParaRPr sz="17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00500" y="2095500"/>
            <a:ext cx="1600200" cy="228600"/>
          </a:xfrm>
        </p:spPr>
        <p:txBody>
          <a:bodyPr wrap="square" lIns="0" tIns="0" rIns="0" bIns="0" rtlCol="0" anchor="t"/>
          <a:lstStyle/>
          <a:p>
            <a:pPr algn="r"/>
            <a:r>
              <a:rPr sz="1200" b="1">
                <a:solidFill>
                  <a:srgbClr val="F5B950"/>
                </a:solidFill>
                <a:latin typeface="PingFang SC" panose="020B0400000000000000" charset="-122"/>
                <a:ea typeface="PingFang SC" panose="020B0400000000000000" charset="-122"/>
              </a:rPr>
              <a:t>GPT 采用</a:t>
            </a:r>
            <a:endParaRPr sz="1200" b="1">
              <a:solidFill>
                <a:srgbClr val="F5B95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2419350"/>
            <a:ext cx="46482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与序列中的具体位置绑定：位置 0、1、2… 各有专属向量，直接加到对应词元的嵌入上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GPT 的位置嵌入在训练中一起优化——不同于原始 Transformer 的固定正弦编码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248400" y="1828800"/>
            <a:ext cx="5334000" cy="2190750"/>
          </a:xfrm>
          <a:prstGeom prst="roundRect">
            <a:avLst/>
          </a:prstGeom>
          <a:solidFill>
            <a:srgbClr val="131E33">
              <a:alpha val="90196"/>
            </a:srgbClr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6553200" y="2057400"/>
            <a:ext cx="28575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相对位置嵌入</a:t>
            </a:r>
            <a:endParaRPr sz="17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53200" y="2419350"/>
            <a:ext cx="4724400" cy="1428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关注词元之间的相对距离，而非绝对位置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对训练中未见过的序列长度泛化更好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· 选哪种取决于应用场景与数据特性</a:t>
            </a:r>
            <a:endParaRPr sz="125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609600" y="4267200"/>
            <a:ext cx="10972800" cy="1257300"/>
          </a:xfrm>
          <a:prstGeom prst="roundRect">
            <a:avLst/>
          </a:prstGeom>
          <a:solidFill>
            <a:srgbClr val="131E33">
              <a:alpha val="90196"/>
            </a:srgbClr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14400" y="4457700"/>
            <a:ext cx="2857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4DA3FF"/>
                </a:solidFill>
                <a:latin typeface="PingFang SC" panose="020B0400000000000000" charset="-122"/>
                <a:ea typeface="PingFang SC" panose="020B0400000000000000" charset="-122"/>
              </a:rPr>
              <a:t>GPT 的实现</a:t>
            </a:r>
            <a:endParaRPr sz="1400" b="1">
              <a:solidFill>
                <a:srgbClr val="4DA3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" y="4743450"/>
            <a:ext cx="10382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pos = pos_embedding_layer(torch.arange(context_length))  # 4 × 256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4400" y="5010150"/>
            <a:ext cx="10382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A5D8FF"/>
                </a:solidFill>
                <a:latin typeface="Menlo" panose="020B0609030804020204"/>
                <a:ea typeface="Menlo" panose="020B0609030804020204"/>
              </a:rPr>
              <a:t>input_embeddings = token_embeddings + pos_embeddings  # 8 × 4 × 256</a:t>
            </a:r>
            <a:endParaRPr sz="1200">
              <a:solidFill>
                <a:srgbClr val="A5D8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400" y="5276850"/>
            <a:ext cx="10382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C6D4EA"/>
                </a:solidFill>
                <a:latin typeface="PingFang SC" panose="020B0400000000000000" charset="-122"/>
                <a:ea typeface="PingFang SC" panose="020B0400000000000000" charset="-122"/>
              </a:rPr>
              <a:t>位置嵌入与词元嵌入维度相同（256）才能逐元素相加；输入超过 context_length 时需截断。</a:t>
            </a:r>
            <a:endParaRPr sz="1200">
              <a:solidFill>
                <a:srgbClr val="C6D4E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09600" y="5829300"/>
            <a:ext cx="10972800" cy="304800"/>
          </a:xfrm>
        </p:spPr>
        <p:txBody>
          <a:bodyPr wrap="square" lIns="0" tIns="0" rIns="0" bIns="0" rtlCol="0" anchor="t"/>
          <a:lstStyle/>
          <a:p>
            <a:pPr algn="ctr"/>
            <a:r>
              <a:rPr sz="1500" b="1">
                <a:solidFill>
                  <a:srgbClr val="F5B950"/>
                </a:solidFill>
                <a:latin typeface="PingFang SC" panose="020B0400000000000000" charset="-122"/>
                <a:ea typeface="PingFang SC" panose="020B0400000000000000" charset="-122"/>
              </a:rPr>
              <a:t>一句话：input_embeddings = 词元语义 + 位置信号</a:t>
            </a:r>
            <a:endParaRPr sz="1500" b="1">
              <a:solidFill>
                <a:srgbClr val="F5B95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8FA3C2"/>
                </a:solidFill>
                <a:latin typeface="Helvetica Neue" panose="02000503000000020004"/>
                <a:ea typeface="Helvetica Neue" panose="02000503000000020004"/>
              </a:rPr>
              <a:t>10 / 11</a:t>
            </a:r>
            <a:endParaRPr sz="1000">
              <a:solidFill>
                <a:srgbClr val="8FA3C2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609600" y="1466850"/>
            <a:ext cx="173355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原始文本</a:t>
            </a:r>
            <a:endParaRPr sz="125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2381250" y="1581150"/>
            <a:ext cx="523875" cy="266700"/>
          </a:xfrm>
          <a:prstGeom prst="rightArrow">
            <a:avLst/>
          </a:prstGeom>
          <a:solidFill>
            <a:srgbClr val="35507E"/>
          </a:solidFill>
        </p:spPr>
        <p:txBody>
          <a:bodyPr wrap="square" rtlCol="0"/>
          <a:lstStyle/>
          <a:p/>
        </p:txBody>
      </p:sp>
      <p:sp>
        <p:nvSpPr>
          <p:cNvPr id="5" name="Shape 5"/>
          <p:cNvSpPr/>
          <p:nvPr/>
        </p:nvSpPr>
        <p:spPr>
          <a:xfrm>
            <a:off x="2905125" y="1466850"/>
            <a:ext cx="173355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词元</a:t>
            </a:r>
            <a:endParaRPr sz="125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4676775" y="1581150"/>
            <a:ext cx="523875" cy="266700"/>
          </a:xfrm>
          <a:prstGeom prst="rightArrow">
            <a:avLst/>
          </a:prstGeom>
          <a:solidFill>
            <a:srgbClr val="35507E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5200650" y="1466850"/>
            <a:ext cx="173355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词元ID</a:t>
            </a:r>
            <a:endParaRPr sz="125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972300" y="1581150"/>
            <a:ext cx="523875" cy="266700"/>
          </a:xfrm>
          <a:prstGeom prst="rightArrow">
            <a:avLst/>
          </a:prstGeom>
          <a:solidFill>
            <a:srgbClr val="35507E"/>
          </a:solidFill>
        </p:spPr>
        <p:txBody>
          <a:bodyPr wrap="square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7496175" y="1466850"/>
            <a:ext cx="173355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词元嵌入＋位置嵌入</a:t>
            </a:r>
            <a:endParaRPr sz="125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267825" y="1581150"/>
            <a:ext cx="523875" cy="266700"/>
          </a:xfrm>
          <a:prstGeom prst="rightArrow">
            <a:avLst/>
          </a:prstGeom>
          <a:solidFill>
            <a:srgbClr val="35507E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9791700" y="1466850"/>
            <a:ext cx="1733550" cy="495300"/>
          </a:xfrm>
          <a:prstGeom prst="roundRect">
            <a:avLst/>
          </a:prstGeom>
          <a:solidFill>
            <a:srgbClr val="1C2C4A"/>
          </a:solidFill>
          <a:ln w="12700">
            <a:solidFill>
              <a:srgbClr val="35507E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8EDF5"/>
                </a:solidFill>
                <a:latin typeface="PingFang SC" panose="020B0400000000000000" charset="-122"/>
                <a:ea typeface="PingFang SC" panose="020B0400000000000000" charset="-122"/>
              </a:rPr>
              <a:t>可训练张量</a:t>
            </a:r>
            <a:endParaRPr sz="1250" b="1">
              <a:solidFill>
                <a:srgbClr val="E8EDF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09600" y="2114550"/>
            <a:ext cx="3505200" cy="1676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4343400" y="2114550"/>
            <a:ext cx="3505200" cy="1676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8077200" y="2114550"/>
            <a:ext cx="3505200" cy="1676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609600" y="3943350"/>
            <a:ext cx="3505200" cy="1676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6" name="Shape 16"/>
          <p:cNvSpPr/>
          <p:nvPr/>
        </p:nvSpPr>
        <p:spPr>
          <a:xfrm>
            <a:off x="4343400" y="3943350"/>
            <a:ext cx="3505200" cy="1676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8077200" y="3943350"/>
            <a:ext cx="3505200" cy="16764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B3D5C"/>
            </a:solidFill>
          </a:ln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609600" y="5791200"/>
            <a:ext cx="10972800" cy="533400"/>
          </a:xfrm>
          <a:prstGeom prst="roundRect">
            <a:avLst/>
          </a:prstGeom>
          <a:solidFill>
            <a:srgbClr val="F5B950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220"/>
                </a:solidFill>
                <a:latin typeface="PingFang SC" panose="020B0400000000000000" charset="-122"/>
                <a:ea typeface="PingFang SC" panose="020B0400000000000000" charset="-122"/>
              </a:rPr>
              <a:t>下一站 · 第 3 章「编码注意力机制」——自注意力让每个词元都能看见完整上下文</a:t>
            </a:r>
            <a:endParaRPr sz="1400" b="1">
              <a:solidFill>
                <a:srgbClr val="0B122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09600" y="419100"/>
            <a:ext cx="109728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2.9 </a:t>
            </a:r>
            <a:r>
              <a:rPr sz="3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本章小结：从文本到张量</a:t>
            </a:r>
            <a:endParaRPr sz="3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09600" y="952500"/>
            <a:ext cx="8572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6 个关键步骤，串起「文本 → 张量」的完整数据流水线</a:t>
            </a:r>
            <a:endParaRPr sz="125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09600" y="1238250"/>
            <a:ext cx="2476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F5B950"/>
                </a:solidFill>
                <a:latin typeface="PingFang SC" panose="020B0400000000000000" charset="-122"/>
                <a:ea typeface="PingFang SC" panose="020B0400000000000000" charset="-122"/>
              </a:rPr>
              <a:t>数据流水线回顾</a:t>
            </a:r>
            <a:endParaRPr sz="1250" b="1">
              <a:solidFill>
                <a:srgbClr val="F5B95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96000" y="1238250"/>
            <a:ext cx="54864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5709A"/>
                </a:solidFill>
                <a:latin typeface="Helvetica Neue" panose="02000503000000020004"/>
                <a:ea typeface="Helvetica Neue" panose="02000503000000020004"/>
              </a:rPr>
              <a:t>The Verdict：20 479 字符 → 5 145 词元 → 8×4 训练批次</a:t>
            </a:r>
            <a:endParaRPr sz="1100">
              <a:solidFill>
                <a:srgbClr val="55709A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38200" y="2305050"/>
            <a:ext cx="30480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 词嵌入：文本的数值化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38200" y="2647950"/>
            <a:ext cx="30480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神经网络无法直接处理离散文本——嵌入把文本映射为连续向量，LLM 的嵌入随训练同步更新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72000" y="2305050"/>
            <a:ext cx="30480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 分词与词元 ID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72000" y="2647950"/>
            <a:ext cx="30480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正则把《The Verdict》切分为 4690 个词元；排序去重建词汇表 1130 条，映射为整数 ID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305800" y="2305050"/>
            <a:ext cx="30480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 特殊上下文词元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05800" y="2647950"/>
            <a:ext cx="30480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2"/>
                </a:solidFill>
                <a:latin typeface="Helvetica Neue" panose="02000503000000020004"/>
                <a:ea typeface="Helvetica Neue" panose="02000503000000020004"/>
              </a:rPr>
              <a:t>&lt;|unk|&gt; 兜底未知词；</a:t>
            </a:r>
            <a:r>
              <a:rPr sz="1200">
                <a:solidFill>
                  <a:srgbClr val="8FA3C2"/>
                </a:solidFill>
                <a:latin typeface="Helvetica Neue" panose="02000503000000020004"/>
                <a:ea typeface="Helvetica Neue" panose="02000503000000020004"/>
              </a:rPr>
              <a:t>&lt;|</a:t>
            </a:r>
            <a:r>
              <a:rPr sz="1200">
                <a:solidFill>
                  <a:srgbClr val="8FA3C2"/>
                </a:solidFill>
                <a:latin typeface="Helvetica Neue" panose="02000503000000020004"/>
                <a:ea typeface="Helvetica Neue" panose="02000503000000020004"/>
              </a:rPr>
              <a:t>endoftext</a:t>
            </a:r>
            <a:r>
              <a:rPr sz="1200">
                <a:solidFill>
                  <a:srgbClr val="8FA3C2"/>
                </a:solidFill>
                <a:latin typeface="Helvetica Neue" panose="02000503000000020004"/>
                <a:ea typeface="Helvetica Neue" panose="02000503000000020004"/>
              </a:rPr>
              <a:t>|&gt;</a:t>
            </a: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 标记文本边界——GPT 只用后者分隔与填充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38200" y="4133850"/>
            <a:ext cx="30480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 BPE 子词分词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38200" y="4476750"/>
            <a:ext cx="30480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按频率把字符合并为子词，未知词拆成子词单元；GPT-2 / GPT-3 / ChatGPT 原始模型同款，词表 50257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572000" y="4133850"/>
            <a:ext cx="30480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05</a:t>
            </a: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 滑动窗口采样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572000" y="4476750"/>
            <a:ext cx="30480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目标 = 输入右移一位；Dataset 与 DataLoader 组装 8×4 批次张量，stride 控制滑窗步长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05800" y="4133850"/>
            <a:ext cx="30480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DA3FF"/>
                </a:solidFill>
                <a:latin typeface="Helvetica Neue" panose="02000503000000020004"/>
                <a:ea typeface="Helvetica Neue" panose="02000503000000020004"/>
              </a:rPr>
              <a:t>06</a:t>
            </a: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 词元嵌入 + 位置嵌入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05800" y="4476750"/>
            <a:ext cx="30480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Embedding 层即查表操作；GPT 采用绝对位置嵌入并与词元嵌入相加，两者随训练更新</a:t>
            </a:r>
            <a:endParaRPr sz="12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09600" y="6515100"/>
            <a:ext cx="571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000">
                <a:solidFill>
                  <a:srgbClr val="8FA3C2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《从零构建大模型》· 第 2 章 处理文本数据</a:t>
            </a:r>
            <a:endParaRPr sz="1000">
              <a:solidFill>
                <a:srgbClr val="8FA3C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382250" y="6515100"/>
            <a:ext cx="120015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8FA3C2"/>
                </a:solidFill>
                <a:latin typeface="Helvetica Neue" panose="02000503000000020004"/>
                <a:ea typeface="Helvetica Neue" panose="02000503000000020004"/>
              </a:rPr>
              <a:t>11 / 11</a:t>
            </a:r>
            <a:endParaRPr sz="1000">
              <a:solidFill>
                <a:srgbClr val="8FA3C2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5468</Words>
  <Application>WPS 表格</Application>
  <PresentationFormat/>
  <Paragraphs>519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Helvetica Neue</vt:lpstr>
      <vt:lpstr>PingFang SC</vt:lpstr>
      <vt:lpstr>Menlo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微软雅黑</vt:lpstr>
      <vt:lpstr>Menlo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happyelements</cp:lastModifiedBy>
  <cp:revision>1</cp:revision>
  <dcterms:created xsi:type="dcterms:W3CDTF">2026-10-12T12:28:15Z</dcterms:created>
  <dcterms:modified xsi:type="dcterms:W3CDTF">2026-10-12T12:28:15Z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E307DAD98445DD1E5FD2CC6A7B0595B9_42</vt:lpwstr>
  </property>
</Properties>
</file>