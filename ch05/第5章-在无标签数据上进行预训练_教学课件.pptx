
<file path=[Content_Types].xml><?xml version="1.0" encoding="utf-8"?>
<Types xmlns="http://schemas.openxmlformats.org/package/2006/content-types"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9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CF52374-8EB5-4D88-A0D8-3318C2F6EC80}"/>
              </a:ext>
            </a:extLst>
          </p:cNvPr>
          <p:cNvSpPr txBox="1"/>
          <p:nvPr/>
        </p:nvSpPr>
        <p:spPr>
          <a:xfrm>
            <a:off x="609600" y="457200"/>
            <a:ext cx="5715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本章学习目标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0A5AFEE-73B6-41FB-AC0C-D0B379959AC2}"/>
              </a:ext>
            </a:extLst>
          </p:cNvPr>
          <p:cNvSpPr txBox="1"/>
          <p:nvPr/>
        </p:nvSpPr>
        <p:spPr>
          <a:xfrm>
            <a:off x="609600" y="952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完成本章学习后，你将能够——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249988C-6975-41AC-BDF0-3277BCC84F99}"/>
              </a:ext>
            </a:extLst>
          </p:cNvPr>
          <p:cNvSpPr/>
          <p:nvPr/>
        </p:nvSpPr>
        <p:spPr>
          <a:xfrm>
            <a:off x="609600" y="1428750"/>
            <a:ext cx="2514600" cy="2571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DF178D-FE7C-4D17-BB03-8A9817133C79}"/>
              </a:ext>
            </a:extLst>
          </p:cNvPr>
          <p:cNvSpPr txBox="1"/>
          <p:nvPr/>
        </p:nvSpPr>
        <p:spPr>
          <a:xfrm>
            <a:off x="800100" y="1638300"/>
            <a:ext cx="114300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3EC6B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4E603E7-D95B-48AF-A2B1-A70071DCBE24}"/>
              </a:ext>
            </a:extLst>
          </p:cNvPr>
          <p:cNvSpPr txBox="1"/>
          <p:nvPr/>
        </p:nvSpPr>
        <p:spPr>
          <a:xfrm>
            <a:off x="800100" y="20574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评估文本生成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15E9777-503F-4DB2-886C-42E02490FA7D}"/>
              </a:ext>
            </a:extLst>
          </p:cNvPr>
          <p:cNvSpPr txBox="1"/>
          <p:nvPr/>
        </p:nvSpPr>
        <p:spPr>
          <a:xfrm>
            <a:off x="800100" y="2400300"/>
            <a:ext cx="2133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计算训练集与验证集损失，用数值方法量化模型生成文本的质量，为优化模型提供明确目标。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31CCB06-1183-40C0-9BD7-CB1AD43A9EE0}"/>
              </a:ext>
            </a:extLst>
          </p:cNvPr>
          <p:cNvSpPr/>
          <p:nvPr/>
        </p:nvSpPr>
        <p:spPr>
          <a:xfrm>
            <a:off x="3352800" y="1428750"/>
            <a:ext cx="2514600" cy="2571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51412D1-4945-4726-AC4E-8632E3BA8F99}"/>
              </a:ext>
            </a:extLst>
          </p:cNvPr>
          <p:cNvSpPr txBox="1"/>
          <p:nvPr/>
        </p:nvSpPr>
        <p:spPr>
          <a:xfrm>
            <a:off x="3543300" y="1638300"/>
            <a:ext cx="114300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3EC6B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76CF336-A537-436A-90DD-A20E6F7C3EA3}"/>
              </a:ext>
            </a:extLst>
          </p:cNvPr>
          <p:cNvSpPr txBox="1"/>
          <p:nvPr/>
        </p:nvSpPr>
        <p:spPr>
          <a:xfrm>
            <a:off x="3543300" y="20574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实现预训练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49FDB2F-570E-4917-A200-12668D33234D}"/>
              </a:ext>
            </a:extLst>
          </p:cNvPr>
          <p:cNvSpPr txBox="1"/>
          <p:nvPr/>
        </p:nvSpPr>
        <p:spPr>
          <a:xfrm>
            <a:off x="3543300" y="2400300"/>
            <a:ext cx="2133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实现 train_model_simple 训练函数，使用交叉熵损失与 AdamW 优化器，在语料上训练 GPT 模型。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9AE978B-5C28-4B49-841D-ABAB7C756D86}"/>
              </a:ext>
            </a:extLst>
          </p:cNvPr>
          <p:cNvSpPr/>
          <p:nvPr/>
        </p:nvSpPr>
        <p:spPr>
          <a:xfrm>
            <a:off x="6096000" y="1428750"/>
            <a:ext cx="2514600" cy="2571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F9E9402-407C-4A45-BC0D-854C3D9AC681}"/>
              </a:ext>
            </a:extLst>
          </p:cNvPr>
          <p:cNvSpPr txBox="1"/>
          <p:nvPr/>
        </p:nvSpPr>
        <p:spPr>
          <a:xfrm>
            <a:off x="6286500" y="1638300"/>
            <a:ext cx="114300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3EC6B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EE52B18-CB80-429E-8887-3EE95AD32592}"/>
              </a:ext>
            </a:extLst>
          </p:cNvPr>
          <p:cNvSpPr txBox="1"/>
          <p:nvPr/>
        </p:nvSpPr>
        <p:spPr>
          <a:xfrm>
            <a:off x="6286500" y="20574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保存与恢复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092C095-3E68-4BD0-88C0-4DA2104EDFDE}"/>
              </a:ext>
            </a:extLst>
          </p:cNvPr>
          <p:cNvSpPr txBox="1"/>
          <p:nvPr/>
        </p:nvSpPr>
        <p:spPr>
          <a:xfrm>
            <a:off x="6286500" y="2400300"/>
            <a:ext cx="2133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掌握 state_dict 的保存与加载，让模型可复用、可断点续训，并正确保存优化器状态。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C170326-0761-44F7-BECE-1FC40B426A5C}"/>
              </a:ext>
            </a:extLst>
          </p:cNvPr>
          <p:cNvSpPr/>
          <p:nvPr/>
        </p:nvSpPr>
        <p:spPr>
          <a:xfrm>
            <a:off x="8839200" y="1428750"/>
            <a:ext cx="2514600" cy="2571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59DDF4C-CE82-437C-8DFE-CF088E7F433E}"/>
              </a:ext>
            </a:extLst>
          </p:cNvPr>
          <p:cNvSpPr txBox="1"/>
          <p:nvPr/>
        </p:nvSpPr>
        <p:spPr>
          <a:xfrm>
            <a:off x="9029700" y="1638300"/>
            <a:ext cx="1143000" cy="365760"/>
          </a:xfrm>
        </p:spPr>
        <p:txBody>
          <a:bodyPr wrap="square" rtlCol="0" lIns="0" tIns="0" rIns="0" bIns="0" anchor="t"/>
          <a:lstStyle/>
          <a:p>
            <a:pPr algn="l"/>
            <a:r>
              <a:rPr sz="2400" b="1">
                <a:solidFill>
                  <a:srgbClr val="3EC6B8"/>
                </a:solidFill>
                <a:latin typeface="Helvetica Neue"/>
                <a:ea typeface="Helvetica Neue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928EBC2-EF4B-4400-BD4F-952F0ACF2E55}"/>
              </a:ext>
            </a:extLst>
          </p:cNvPr>
          <p:cNvSpPr txBox="1"/>
          <p:nvPr/>
        </p:nvSpPr>
        <p:spPr>
          <a:xfrm>
            <a:off x="9029700" y="20574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加载预训练权重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09721E6-CD09-4B91-8091-8417D9F41FDC}"/>
              </a:ext>
            </a:extLst>
          </p:cNvPr>
          <p:cNvSpPr txBox="1"/>
          <p:nvPr/>
        </p:nvSpPr>
        <p:spPr>
          <a:xfrm>
            <a:off x="9029700" y="2400300"/>
            <a:ext cx="21336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把 OpenAI 公开的 GPT-2 权重加载进我们的 GPTModel，为第 6 章的微调做好准备。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C3B388-70D5-4CD4-A02B-649F7BAECD4F}"/>
              </a:ext>
            </a:extLst>
          </p:cNvPr>
          <p:cNvSpPr txBox="1"/>
          <p:nvPr/>
        </p:nvSpPr>
        <p:spPr>
          <a:xfrm>
            <a:off x="609600" y="441960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本章路线图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135F4230-7ACD-40C7-A982-6D5CAA109020}"/>
              </a:ext>
            </a:extLst>
          </p:cNvPr>
          <p:cNvSpPr/>
          <p:nvPr/>
        </p:nvSpPr>
        <p:spPr>
          <a:xfrm>
            <a:off x="609600" y="4762500"/>
            <a:ext cx="2000250" cy="5905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5.1 损失评估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E6BDDB60-F58F-499D-810B-356CEDEE97FD}"/>
              </a:ext>
            </a:extLst>
          </p:cNvPr>
          <p:cNvSpPr/>
          <p:nvPr/>
        </p:nvSpPr>
        <p:spPr>
          <a:xfrm>
            <a:off x="2743200" y="4762500"/>
            <a:ext cx="2000250" cy="5905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5.2 训练模型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182FB3B3-A44A-440B-8BE3-B33D418FA769}"/>
              </a:ext>
            </a:extLst>
          </p:cNvPr>
          <p:cNvSpPr/>
          <p:nvPr/>
        </p:nvSpPr>
        <p:spPr>
          <a:xfrm>
            <a:off x="4876800" y="4762500"/>
            <a:ext cx="2000250" cy="5905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5.3 解码策略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47DC849-4DE6-4EE8-AC61-A62D66BBE8E3}"/>
              </a:ext>
            </a:extLst>
          </p:cNvPr>
          <p:cNvSpPr/>
          <p:nvPr/>
        </p:nvSpPr>
        <p:spPr>
          <a:xfrm>
            <a:off x="7010400" y="4762500"/>
            <a:ext cx="2000250" cy="5905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5.4 保存加载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230911A-489D-4403-AFC2-3793E2065837}"/>
              </a:ext>
            </a:extLst>
          </p:cNvPr>
          <p:cNvSpPr/>
          <p:nvPr/>
        </p:nvSpPr>
        <p:spPr>
          <a:xfrm>
            <a:off x="9144000" y="4762500"/>
            <a:ext cx="2000250" cy="5905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5.5 GPT-2 权重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41A9740-E6F8-41B9-97BA-EDA4A2700F90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ACD6145-895E-4892-96D5-55338EA9661D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71E3818-F692-44F6-A67D-D366611438DD}"/>
              </a:ext>
            </a:extLst>
          </p:cNvPr>
          <p:cNvSpPr txBox="1"/>
          <p:nvPr/>
        </p:nvSpPr>
        <p:spPr>
          <a:xfrm>
            <a:off x="609600" y="457200"/>
            <a:ext cx="5715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大语言模型构建路线图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87B2650-55BF-4A41-AD7A-422458DFC255}"/>
              </a:ext>
            </a:extLst>
          </p:cNvPr>
          <p:cNvSpPr txBox="1"/>
          <p:nvPr/>
        </p:nvSpPr>
        <p:spPr>
          <a:xfrm>
            <a:off x="609600" y="9525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三个阶段，本章聚焦第二个：预训练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763640C-2AF9-46AE-8FBF-0B02A3C30384}"/>
              </a:ext>
            </a:extLst>
          </p:cNvPr>
          <p:cNvSpPr/>
          <p:nvPr/>
        </p:nvSpPr>
        <p:spPr>
          <a:xfrm>
            <a:off x="609600" y="1428750"/>
            <a:ext cx="3276600" cy="3143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F2D7502-1BD7-4AA2-AF92-E402597A8C93}"/>
              </a:ext>
            </a:extLst>
          </p:cNvPr>
          <p:cNvSpPr txBox="1"/>
          <p:nvPr/>
        </p:nvSpPr>
        <p:spPr>
          <a:xfrm>
            <a:off x="800100" y="1638300"/>
            <a:ext cx="1333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3EC6B8"/>
                </a:solidFill>
                <a:latin typeface="Helvetica Neue"/>
                <a:ea typeface="Helvetica Neue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30511E-F651-4D40-BACA-9444A0DED5E3}"/>
              </a:ext>
            </a:extLst>
          </p:cNvPr>
          <p:cNvSpPr txBox="1"/>
          <p:nvPr/>
        </p:nvSpPr>
        <p:spPr>
          <a:xfrm>
            <a:off x="800100" y="2171700"/>
            <a:ext cx="2476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架构与数据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327283-F9B8-4ED5-9290-9FA1C39B3293}"/>
              </a:ext>
            </a:extLst>
          </p:cNvPr>
          <p:cNvSpPr txBox="1"/>
          <p:nvPr/>
        </p:nvSpPr>
        <p:spPr>
          <a:xfrm>
            <a:off x="800100" y="2514600"/>
            <a:ext cx="2476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3EC6B8"/>
                </a:solidFill>
                <a:latin typeface="PingFang SC"/>
                <a:ea typeface="PingFang SC"/>
              </a:rPr>
              <a:t>第 1–4 章 · 已完成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D9410A5-65CC-44B4-B0EF-BF345E242965}"/>
              </a:ext>
            </a:extLst>
          </p:cNvPr>
          <p:cNvSpPr txBox="1"/>
          <p:nvPr/>
        </p:nvSpPr>
        <p:spPr>
          <a:xfrm>
            <a:off x="800100" y="2857500"/>
            <a:ext cx="28956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理解大语言模型原理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处理与分词文本数据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编码注意力机制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实现 GPTModel 与基础文本生成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52E8258-4D5A-407F-86F1-C7B8553C17BE}"/>
              </a:ext>
            </a:extLst>
          </p:cNvPr>
          <p:cNvSpPr/>
          <p:nvPr/>
        </p:nvSpPr>
        <p:spPr>
          <a:xfrm>
            <a:off x="4457700" y="1428750"/>
            <a:ext cx="3276600" cy="3143250"/>
          </a:xfrm>
          <a:prstGeom prst="roundRect">
            <a:avLst/>
          </a:prstGeom>
          <a:solidFill>
            <a:srgbClr val="182742"/>
          </a:solidFill>
          <a:ln w="25400">
            <a:solidFill>
              <a:srgbClr val="3EC6B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D5ECC4D-39E2-4676-82FF-A4D6C35183B8}"/>
              </a:ext>
            </a:extLst>
          </p:cNvPr>
          <p:cNvSpPr/>
          <p:nvPr/>
        </p:nvSpPr>
        <p:spPr>
          <a:xfrm>
            <a:off x="6248400" y="1600200"/>
            <a:ext cx="1333500" cy="285750"/>
          </a:xfrm>
          <a:prstGeom prst="roundRect">
            <a:avLst/>
          </a:prstGeom>
          <a:solidFill>
            <a:srgbClr val="F0A63C"/>
          </a:solidFill>
        </p:spPr>
        <p:txBody>
          <a:bodyPr wrap="square" rtlCol="0" lIns="0" tIns="0" rIns="0" bIns="0" anchor="ctr"/>
          <a:lstStyle/>
          <a:p>
            <a:pPr algn="ctr"/>
            <a:r>
              <a:rPr sz="1200" b="1">
                <a:solidFill>
                  <a:srgbClr val="0B1220"/>
                </a:solidFill>
                <a:latin typeface="PingFang SC"/>
                <a:ea typeface="PingFang SC"/>
              </a:rPr>
              <a:t>本章聚焦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8F69280-EB48-43C3-8253-3351A200EADF}"/>
              </a:ext>
            </a:extLst>
          </p:cNvPr>
          <p:cNvSpPr txBox="1"/>
          <p:nvPr/>
        </p:nvSpPr>
        <p:spPr>
          <a:xfrm>
            <a:off x="4648200" y="1638300"/>
            <a:ext cx="1333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3EC6B8"/>
                </a:solidFill>
                <a:latin typeface="Helvetica Neue"/>
                <a:ea typeface="Helvetica Neue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7693606-DC2E-4822-8AAF-444FDEA57C35}"/>
              </a:ext>
            </a:extLst>
          </p:cNvPr>
          <p:cNvSpPr txBox="1"/>
          <p:nvPr/>
        </p:nvSpPr>
        <p:spPr>
          <a:xfrm>
            <a:off x="4648200" y="2171700"/>
            <a:ext cx="2857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无标签数据预训练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10C310-D3B6-4AC2-9F36-EE41AA96F985}"/>
              </a:ext>
            </a:extLst>
          </p:cNvPr>
          <p:cNvSpPr txBox="1"/>
          <p:nvPr/>
        </p:nvSpPr>
        <p:spPr>
          <a:xfrm>
            <a:off x="4648200" y="2514600"/>
            <a:ext cx="2476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F0A63C"/>
                </a:solidFill>
                <a:latin typeface="PingFang SC"/>
                <a:ea typeface="PingFang SC"/>
              </a:rPr>
              <a:t>第 5 章 · 进行中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8624631-5E30-48BE-AE9C-2D321EF95B24}"/>
              </a:ext>
            </a:extLst>
          </p:cNvPr>
          <p:cNvSpPr txBox="1"/>
          <p:nvPr/>
        </p:nvSpPr>
        <p:spPr>
          <a:xfrm>
            <a:off x="4648200" y="2857500"/>
            <a:ext cx="28956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评估：训练 / 验证损失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训练循环与损失曲线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温度缩放与 Top-k 采样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保存 / 加载与 GPT-2 权重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9AE573D-BED1-412D-A72C-9A337A5E16CA}"/>
              </a:ext>
            </a:extLst>
          </p:cNvPr>
          <p:cNvSpPr/>
          <p:nvPr/>
        </p:nvSpPr>
        <p:spPr>
          <a:xfrm>
            <a:off x="8305800" y="1428750"/>
            <a:ext cx="3276600" cy="3143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9813E68-A38A-4627-9372-36A3E543124D}"/>
              </a:ext>
            </a:extLst>
          </p:cNvPr>
          <p:cNvSpPr txBox="1"/>
          <p:nvPr/>
        </p:nvSpPr>
        <p:spPr>
          <a:xfrm>
            <a:off x="8496300" y="1638300"/>
            <a:ext cx="1333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3EC6B8"/>
                </a:solidFill>
                <a:latin typeface="Helvetica Neue"/>
                <a:ea typeface="Helvetica Neue"/>
              </a:rPr>
              <a:t>03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B14090E-26B8-46F5-99F0-C8A5035DC753}"/>
              </a:ext>
            </a:extLst>
          </p:cNvPr>
          <p:cNvSpPr txBox="1"/>
          <p:nvPr/>
        </p:nvSpPr>
        <p:spPr>
          <a:xfrm>
            <a:off x="8496300" y="2171700"/>
            <a:ext cx="2476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微调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B11E72C-728E-4624-B733-6BC999ED19CA}"/>
              </a:ext>
            </a:extLst>
          </p:cNvPr>
          <p:cNvSpPr txBox="1"/>
          <p:nvPr/>
        </p:nvSpPr>
        <p:spPr>
          <a:xfrm>
            <a:off x="8496300" y="2514600"/>
            <a:ext cx="2476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3EC6B8"/>
                </a:solidFill>
                <a:latin typeface="PingFang SC"/>
                <a:ea typeface="PingFang SC"/>
              </a:rPr>
              <a:t>第 6–7 章 · 待学习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1AFEFCA-B684-4E8E-8941-B72C62DCCEB4}"/>
              </a:ext>
            </a:extLst>
          </p:cNvPr>
          <p:cNvSpPr txBox="1"/>
          <p:nvPr/>
        </p:nvSpPr>
        <p:spPr>
          <a:xfrm>
            <a:off x="8496300" y="2857500"/>
            <a:ext cx="28956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针对分类任务的微调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指令微调与模型对齐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构建类 ChatGPT 助手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42759BC-87BC-4E45-AC55-11487814B5E9}"/>
              </a:ext>
            </a:extLst>
          </p:cNvPr>
          <p:cNvSpPr/>
          <p:nvPr/>
        </p:nvSpPr>
        <p:spPr>
          <a:xfrm>
            <a:off x="3943350" y="2828925"/>
            <a:ext cx="381000" cy="342900"/>
          </a:xfrm>
          <a:prstGeom prst="righ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EBC654C6-595B-4EFE-880E-DCFED9E12063}"/>
              </a:ext>
            </a:extLst>
          </p:cNvPr>
          <p:cNvSpPr/>
          <p:nvPr/>
        </p:nvSpPr>
        <p:spPr>
          <a:xfrm>
            <a:off x="7791450" y="2828925"/>
            <a:ext cx="381000" cy="342900"/>
          </a:xfrm>
          <a:prstGeom prst="righ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8D41947-FF72-447E-A734-A20DB43D2625}"/>
              </a:ext>
            </a:extLst>
          </p:cNvPr>
          <p:cNvSpPr/>
          <p:nvPr/>
        </p:nvSpPr>
        <p:spPr>
          <a:xfrm>
            <a:off x="609600" y="4953000"/>
            <a:ext cx="10972800" cy="1047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87E4C57-7288-4B5B-B7AC-8EE524C98BD6}"/>
              </a:ext>
            </a:extLst>
          </p:cNvPr>
          <p:cNvSpPr txBox="1"/>
          <p:nvPr/>
        </p:nvSpPr>
        <p:spPr>
          <a:xfrm>
            <a:off x="838200" y="51435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3EC6B8"/>
                </a:solidFill>
                <a:latin typeface="PingFang SC"/>
                <a:ea typeface="PingFang SC"/>
              </a:rPr>
              <a:t>本章在路线图中的位置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3F9B588-70D3-4497-9DC1-47688A406910}"/>
              </a:ext>
            </a:extLst>
          </p:cNvPr>
          <p:cNvSpPr txBox="1"/>
          <p:nvPr/>
        </p:nvSpPr>
        <p:spPr>
          <a:xfrm>
            <a:off x="838200" y="544830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实现训练循环代码（步骤 5） · 评估性能：损失与生成质量（步骤 6） · 加载和保存模型权重（步骤 7）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6D77109-CCFA-4C70-AC6D-61F6574E80A4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E26243F-2E3C-4420-B10E-D8A465A1466E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E288C87-454D-4D27-B88D-2DC3F9432FA3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BCDA9F-9138-40C9-8A47-DC3FB6AD394A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评估文本生成模型：为什么需要损失函数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5C06A86-C877-4091-97C7-442393732A8C}"/>
              </a:ext>
            </a:extLst>
          </p:cNvPr>
          <p:cNvSpPr/>
          <p:nvPr/>
        </p:nvSpPr>
        <p:spPr>
          <a:xfrm>
            <a:off x="609600" y="1333500"/>
            <a:ext cx="4953000" cy="2000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17FBBE-11DD-43CD-929B-DDDDF5567157}"/>
              </a:ext>
            </a:extLst>
          </p:cNvPr>
          <p:cNvSpPr txBox="1"/>
          <p:nvPr/>
        </p:nvSpPr>
        <p:spPr>
          <a:xfrm>
            <a:off x="800100" y="15240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未训练模型的真实输出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7502A49-AEAA-4BF0-9ED1-FEBADB42D864}"/>
              </a:ext>
            </a:extLst>
          </p:cNvPr>
          <p:cNvSpPr txBox="1"/>
          <p:nvPr/>
        </p:nvSpPr>
        <p:spPr>
          <a:xfrm>
            <a:off x="800100" y="186690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输入：Every effort moves you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9BC09D0-4C12-426E-9230-0518006F8BC3}"/>
              </a:ext>
            </a:extLst>
          </p:cNvPr>
          <p:cNvSpPr/>
          <p:nvPr/>
        </p:nvSpPr>
        <p:spPr>
          <a:xfrm>
            <a:off x="952500" y="2152650"/>
            <a:ext cx="171450" cy="190500"/>
          </a:xfrm>
          <a:prstGeom prst="down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2AA9007-227F-458F-AC45-54155002C5CF}"/>
              </a:ext>
            </a:extLst>
          </p:cNvPr>
          <p:cNvSpPr txBox="1"/>
          <p:nvPr/>
        </p:nvSpPr>
        <p:spPr>
          <a:xfrm>
            <a:off x="800100" y="2419350"/>
            <a:ext cx="4572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i="1">
                <a:solidFill>
                  <a:srgbClr val="F0A63C"/>
                </a:solidFill>
                <a:latin typeface="Helvetica Neue"/>
                <a:ea typeface="Helvetica Neue"/>
              </a:rPr>
              <a:t>输出：Every effort moves you rentingetic wasn? refres RexMeCHicular stren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17E813D-D415-4AD9-B730-B514ED335597}"/>
              </a:ext>
            </a:extLst>
          </p:cNvPr>
          <p:cNvSpPr txBox="1"/>
          <p:nvPr/>
        </p:nvSpPr>
        <p:spPr>
          <a:xfrm>
            <a:off x="800100" y="300990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几乎随机的乱码 —— 无法用肉眼判断训练是否带来改进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86E3A3A-59AA-43F1-BAC5-7F07328C70EB}"/>
              </a:ext>
            </a:extLst>
          </p:cNvPr>
          <p:cNvSpPr/>
          <p:nvPr/>
        </p:nvSpPr>
        <p:spPr>
          <a:xfrm>
            <a:off x="609600" y="3524250"/>
            <a:ext cx="4953000" cy="2476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46504E8-BE8A-4BFD-AC28-CB85CFF8902C}"/>
              </a:ext>
            </a:extLst>
          </p:cNvPr>
          <p:cNvSpPr txBox="1"/>
          <p:nvPr/>
        </p:nvSpPr>
        <p:spPr>
          <a:xfrm>
            <a:off x="800100" y="37147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评估要实现的目标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4546281-066C-4A53-AE2D-5EE4A22ACF64}"/>
              </a:ext>
            </a:extLst>
          </p:cNvPr>
          <p:cNvSpPr txBox="1"/>
          <p:nvPr/>
        </p:nvSpPr>
        <p:spPr>
          <a:xfrm>
            <a:off x="800100" y="4038600"/>
            <a:ext cx="4572000" cy="1771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用数值方法定义什么是“连贯 / 高质量”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训练集损失 + 验证集损失，全程监测训练进展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损失同时是训练函数的优化目标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辅助工具：text_to_token_ids / token_ids_to_text 完成文本与词元的双向转换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B5CD922-CE41-41CE-A66C-21AA467BB84C}"/>
              </a:ext>
            </a:extLst>
          </p:cNvPr>
          <p:cNvSpPr txBox="1"/>
          <p:nvPr/>
        </p:nvSpPr>
        <p:spPr>
          <a:xfrm>
            <a:off x="6667500" y="1333500"/>
            <a:ext cx="419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文本生成的循环（图 5-3）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958101A-4029-43EA-81CF-BBE23BA4B1DA}"/>
              </a:ext>
            </a:extLst>
          </p:cNvPr>
          <p:cNvSpPr/>
          <p:nvPr/>
        </p:nvSpPr>
        <p:spPr>
          <a:xfrm>
            <a:off x="7239000" y="1714500"/>
            <a:ext cx="3238500" cy="5334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PingFang SC"/>
                <a:ea typeface="PingFang SC"/>
              </a:rPr>
              <a:t>① 文本输入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5DE7C73-FD65-4417-AF47-92227F012FBF}"/>
              </a:ext>
            </a:extLst>
          </p:cNvPr>
          <p:cNvSpPr/>
          <p:nvPr/>
        </p:nvSpPr>
        <p:spPr>
          <a:xfrm>
            <a:off x="8772525" y="2286000"/>
            <a:ext cx="171450" cy="209550"/>
          </a:xfrm>
          <a:prstGeom prst="down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9A92E3D-3476-4176-8519-DBE37B0DF41F}"/>
              </a:ext>
            </a:extLst>
          </p:cNvPr>
          <p:cNvSpPr/>
          <p:nvPr/>
        </p:nvSpPr>
        <p:spPr>
          <a:xfrm>
            <a:off x="7239000" y="2533650"/>
            <a:ext cx="3238500" cy="5334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PingFang SC"/>
                <a:ea typeface="PingFang SC"/>
              </a:rPr>
              <a:t>② 分词 → 词元 ID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CAA4E79-67CD-4A9D-A09A-2993A9D13767}"/>
              </a:ext>
            </a:extLst>
          </p:cNvPr>
          <p:cNvSpPr/>
          <p:nvPr/>
        </p:nvSpPr>
        <p:spPr>
          <a:xfrm>
            <a:off x="8772525" y="3105150"/>
            <a:ext cx="171450" cy="209550"/>
          </a:xfrm>
          <a:prstGeom prst="down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123CD7B-17A9-420F-A08C-DD569F385DFE}"/>
              </a:ext>
            </a:extLst>
          </p:cNvPr>
          <p:cNvSpPr/>
          <p:nvPr/>
        </p:nvSpPr>
        <p:spPr>
          <a:xfrm>
            <a:off x="7239000" y="3352800"/>
            <a:ext cx="3238500" cy="5334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PingFang SC"/>
                <a:ea typeface="PingFang SC"/>
              </a:rPr>
              <a:t>③ GPT 模型 → logits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2F2FE5BF-4FF8-4453-8E0F-F181F8785151}"/>
              </a:ext>
            </a:extLst>
          </p:cNvPr>
          <p:cNvSpPr/>
          <p:nvPr/>
        </p:nvSpPr>
        <p:spPr>
          <a:xfrm>
            <a:off x="8772525" y="3924300"/>
            <a:ext cx="171450" cy="209550"/>
          </a:xfrm>
          <a:prstGeom prst="down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B67BF27F-E6EE-4182-BFA4-02FAFD032E86}"/>
              </a:ext>
            </a:extLst>
          </p:cNvPr>
          <p:cNvSpPr/>
          <p:nvPr/>
        </p:nvSpPr>
        <p:spPr>
          <a:xfrm>
            <a:off x="7239000" y="4171950"/>
            <a:ext cx="3238500" cy="5334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PingFang SC"/>
                <a:ea typeface="PingFang SC"/>
              </a:rPr>
              <a:t>④ softmax / argmax → 词元 ID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4D3743D2-A6EE-441C-8CCE-085175D62EFB}"/>
              </a:ext>
            </a:extLst>
          </p:cNvPr>
          <p:cNvSpPr/>
          <p:nvPr/>
        </p:nvSpPr>
        <p:spPr>
          <a:xfrm>
            <a:off x="8772525" y="4743450"/>
            <a:ext cx="171450" cy="209550"/>
          </a:xfrm>
          <a:prstGeom prst="down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4723EDD3-0C77-44DA-99BE-113D19235DCB}"/>
              </a:ext>
            </a:extLst>
          </p:cNvPr>
          <p:cNvSpPr/>
          <p:nvPr/>
        </p:nvSpPr>
        <p:spPr>
          <a:xfrm>
            <a:off x="7239000" y="4991100"/>
            <a:ext cx="3238500" cy="5334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PingFang SC"/>
                <a:ea typeface="PingFang SC"/>
              </a:rPr>
              <a:t>⑤ 解码 → 文本输出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E240BEE-A0CA-4F00-807E-9E34C3D3D8ED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4E93426-87B0-4D23-B711-0E71969A794B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7F70543-9B45-4C9B-A2B4-6654F240C3E6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5.1.1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E223ABA-7869-4E59-AA42-B7C3B55E996A}"/>
              </a:ext>
            </a:extLst>
          </p:cNvPr>
          <p:cNvSpPr txBox="1"/>
          <p:nvPr/>
        </p:nvSpPr>
        <p:spPr>
          <a:xfrm>
            <a:off x="1543050" y="476250"/>
            <a:ext cx="7620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准备要评估和训练的模型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632C25C-C947-437A-8779-8412C2E7D60D}"/>
              </a:ext>
            </a:extLst>
          </p:cNvPr>
          <p:cNvSpPr/>
          <p:nvPr/>
        </p:nvSpPr>
        <p:spPr>
          <a:xfrm>
            <a:off x="609600" y="1333500"/>
            <a:ext cx="5334000" cy="3810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267F3A-D7E9-48B7-A7E3-C61CE9F6B30D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GPT_CONFIG_124M 配置（本章调整版）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F7E067A-389B-49D7-BF12-BB6251A60FEA}"/>
              </a:ext>
            </a:extLst>
          </p:cNvPr>
          <p:cNvSpPr txBox="1"/>
          <p:nvPr/>
        </p:nvSpPr>
        <p:spPr>
          <a:xfrm>
            <a:off x="800100" y="1943100"/>
            <a:ext cx="4953000" cy="2209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vocab_size: 50257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context_length: 256</a:t>
            </a:r>
            <a:r>
              <a:rPr sz="1200">
                <a:solidFill>
                  <a:srgbClr val="F0A63C"/>
                </a:solidFill>
                <a:latin typeface="PingFang SC"/>
                <a:ea typeface="PingFang SC"/>
              </a:rPr>
              <a:t>   ← 本章由 1024 缩短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emb_dim: 768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n_heads: 12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n_layers: 12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drop_rate: 0.1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8E2F0"/>
                </a:solidFill>
                <a:latin typeface="Helvetica Neue"/>
                <a:ea typeface="Helvetica Neue"/>
              </a:rPr>
              <a:t>qkv_bias: False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2E37617-EAA4-46E1-8FCF-C8F506180D3B}"/>
              </a:ext>
            </a:extLst>
          </p:cNvPr>
          <p:cNvSpPr txBox="1"/>
          <p:nvPr/>
        </p:nvSpPr>
        <p:spPr>
          <a:xfrm>
            <a:off x="800100" y="4305300"/>
            <a:ext cx="4953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训练完成后，会把上下文长度恢复为 1024 并加载 OpenAI 预训练权重，与原版 GPT-2 保持一致。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8832198-ABA5-43B7-B244-C5558D767A79}"/>
              </a:ext>
            </a:extLst>
          </p:cNvPr>
          <p:cNvSpPr/>
          <p:nvPr/>
        </p:nvSpPr>
        <p:spPr>
          <a:xfrm>
            <a:off x="6324600" y="1333500"/>
            <a:ext cx="5257800" cy="1619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D17784-1128-4180-94AA-9BF555BB2481}"/>
              </a:ext>
            </a:extLst>
          </p:cNvPr>
          <p:cNvSpPr txBox="1"/>
          <p:nvPr/>
        </p:nvSpPr>
        <p:spPr>
          <a:xfrm>
            <a:off x="6515100" y="1581150"/>
            <a:ext cx="2857500" cy="670560"/>
          </a:xfrm>
        </p:spPr>
        <p:txBody>
          <a:bodyPr wrap="square" rtlCol="0" lIns="0" tIns="0" rIns="0" bIns="0" anchor="t"/>
          <a:lstStyle/>
          <a:p>
            <a:pPr algn="l"/>
            <a:r>
              <a:rPr sz="4400" b="1">
                <a:solidFill>
                  <a:srgbClr val="3EC6B8"/>
                </a:solidFill>
                <a:latin typeface="PingFang SC"/>
                <a:ea typeface="PingFang SC"/>
              </a:rPr>
              <a:t>1.24 亿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252E071-CAAA-4CE0-A890-2C3BC447FC81}"/>
              </a:ext>
            </a:extLst>
          </p:cNvPr>
          <p:cNvSpPr txBox="1"/>
          <p:nvPr/>
        </p:nvSpPr>
        <p:spPr>
          <a:xfrm>
            <a:off x="6515100" y="2286000"/>
            <a:ext cx="4876800" cy="39624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GPT-2 small 参数量，即需要训练的可训练权重（Weights / Biases）总数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8BA61DB-C3C6-49DC-AE26-BE4FC93BBF64}"/>
              </a:ext>
            </a:extLst>
          </p:cNvPr>
          <p:cNvSpPr/>
          <p:nvPr/>
        </p:nvSpPr>
        <p:spPr>
          <a:xfrm>
            <a:off x="6324600" y="3143250"/>
            <a:ext cx="5257800" cy="2000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583F108-6C51-4F69-93A4-3A79C595F2A3}"/>
              </a:ext>
            </a:extLst>
          </p:cNvPr>
          <p:cNvSpPr txBox="1"/>
          <p:nvPr/>
        </p:nvSpPr>
        <p:spPr>
          <a:xfrm>
            <a:off x="6515100" y="33337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模型的初始状态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055EFFC-B0D8-4C73-9F3D-DC632B0343E4}"/>
              </a:ext>
            </a:extLst>
          </p:cNvPr>
          <p:cNvSpPr txBox="1"/>
          <p:nvPr/>
        </p:nvSpPr>
        <p:spPr>
          <a:xfrm>
            <a:off x="6515100" y="3657600"/>
            <a:ext cx="48768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权重随机初始化，尚未经过任何训练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model.eval() 关闭 dropout，保证输出稳定可复现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生成文本不连贯（见左页真实输出示例）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需要用数值指标（损失）衡量生成文本的质量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7FA30DD-9F9A-42F4-A570-6AE323969803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417E4AC-265C-4A97-B8D0-155A213CC5E3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99BA9CD-F212-474F-824B-A1F120695F47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5.1.2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884732-7778-4F6E-B50F-9D6B32C10A64}"/>
              </a:ext>
            </a:extLst>
          </p:cNvPr>
          <p:cNvSpPr txBox="1"/>
          <p:nvPr/>
        </p:nvSpPr>
        <p:spPr>
          <a:xfrm>
            <a:off x="1543050" y="476250"/>
            <a:ext cx="7620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从模型输出到损失：交叉熵的六步计算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4916778-B6EE-4275-85FD-0B11AA181AB0}"/>
              </a:ext>
            </a:extLst>
          </p:cNvPr>
          <p:cNvSpPr/>
          <p:nvPr/>
        </p:nvSpPr>
        <p:spPr>
          <a:xfrm>
            <a:off x="723900" y="1428750"/>
            <a:ext cx="16002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59F52EC-5622-41CE-8518-E97CAF3C7127}"/>
              </a:ext>
            </a:extLst>
          </p:cNvPr>
          <p:cNvSpPr txBox="1"/>
          <p:nvPr/>
        </p:nvSpPr>
        <p:spPr>
          <a:xfrm>
            <a:off x="857250" y="15811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3EC6B8"/>
                </a:solidFill>
                <a:latin typeface="Helvetica Neue"/>
                <a:ea typeface="Helvetica Neue"/>
              </a:rPr>
              <a:t>STEP 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4E5CAC-D4D2-4FB6-8777-1A02523DC65F}"/>
              </a:ext>
            </a:extLst>
          </p:cNvPr>
          <p:cNvSpPr txBox="1"/>
          <p:nvPr/>
        </p:nvSpPr>
        <p:spPr>
          <a:xfrm>
            <a:off x="857250" y="1828800"/>
            <a:ext cx="133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前向传播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1990C3A-BF92-4BCE-BF24-B44E8F3AD369}"/>
              </a:ext>
            </a:extLst>
          </p:cNvPr>
          <p:cNvSpPr txBox="1"/>
          <p:nvPr/>
        </p:nvSpPr>
        <p:spPr>
          <a:xfrm>
            <a:off x="857250" y="2190750"/>
            <a:ext cx="1333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A9B7CC"/>
                </a:solidFill>
                <a:latin typeface="PingFang SC"/>
                <a:ea typeface="PingFang SC"/>
              </a:rPr>
              <a:t>logits 形状 [2, 3, 50257]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F43366E-2AF7-4DA5-BDBA-8FF9D896B536}"/>
              </a:ext>
            </a:extLst>
          </p:cNvPr>
          <p:cNvSpPr/>
          <p:nvPr/>
        </p:nvSpPr>
        <p:spPr>
          <a:xfrm>
            <a:off x="2352675" y="2276475"/>
            <a:ext cx="171450" cy="209550"/>
          </a:xfrm>
          <a:prstGeom prst="chevron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ED6EE82-39F2-4A50-947E-D8750C2C2137}"/>
              </a:ext>
            </a:extLst>
          </p:cNvPr>
          <p:cNvSpPr/>
          <p:nvPr/>
        </p:nvSpPr>
        <p:spPr>
          <a:xfrm>
            <a:off x="2552700" y="1428750"/>
            <a:ext cx="16002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6EAAAD-AF06-4B73-A7A4-586A25A8F25A}"/>
              </a:ext>
            </a:extLst>
          </p:cNvPr>
          <p:cNvSpPr txBox="1"/>
          <p:nvPr/>
        </p:nvSpPr>
        <p:spPr>
          <a:xfrm>
            <a:off x="2686050" y="15811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3EC6B8"/>
                </a:solidFill>
                <a:latin typeface="Helvetica Neue"/>
                <a:ea typeface="Helvetica Neue"/>
              </a:rPr>
              <a:t>STEP 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56A8AC5-074A-4A7E-ABC2-18277A7689CA}"/>
              </a:ext>
            </a:extLst>
          </p:cNvPr>
          <p:cNvSpPr txBox="1"/>
          <p:nvPr/>
        </p:nvSpPr>
        <p:spPr>
          <a:xfrm>
            <a:off x="2686050" y="1828800"/>
            <a:ext cx="133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softmax 概率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5EBAA05-EF35-4A6C-9554-CED4DD5ABD09}"/>
              </a:ext>
            </a:extLst>
          </p:cNvPr>
          <p:cNvSpPr txBox="1"/>
          <p:nvPr/>
        </p:nvSpPr>
        <p:spPr>
          <a:xfrm>
            <a:off x="2686050" y="2190750"/>
            <a:ext cx="1333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A9B7CC"/>
                </a:solidFill>
                <a:latin typeface="PingFang SC"/>
                <a:ea typeface="PingFang SC"/>
              </a:rPr>
              <a:t>每个位置归一化，分数总和为 1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015CC5D-4751-476B-97C4-20DC1A3EF4A0}"/>
              </a:ext>
            </a:extLst>
          </p:cNvPr>
          <p:cNvSpPr/>
          <p:nvPr/>
        </p:nvSpPr>
        <p:spPr>
          <a:xfrm>
            <a:off x="4181475" y="2276475"/>
            <a:ext cx="171450" cy="209550"/>
          </a:xfrm>
          <a:prstGeom prst="chevron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7965DA1-76FB-4402-9A3D-848ECF83F405}"/>
              </a:ext>
            </a:extLst>
          </p:cNvPr>
          <p:cNvSpPr/>
          <p:nvPr/>
        </p:nvSpPr>
        <p:spPr>
          <a:xfrm>
            <a:off x="4381500" y="1428750"/>
            <a:ext cx="16002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D569347-1782-4657-9942-9BE5F5458AC0}"/>
              </a:ext>
            </a:extLst>
          </p:cNvPr>
          <p:cNvSpPr txBox="1"/>
          <p:nvPr/>
        </p:nvSpPr>
        <p:spPr>
          <a:xfrm>
            <a:off x="4514850" y="15811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3EC6B8"/>
                </a:solidFill>
                <a:latin typeface="Helvetica Neue"/>
                <a:ea typeface="Helvetica Neue"/>
              </a:rPr>
              <a:t>STEP 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C00753F-19BC-4B84-8463-93A8ABA145A9}"/>
              </a:ext>
            </a:extLst>
          </p:cNvPr>
          <p:cNvSpPr txBox="1"/>
          <p:nvPr/>
        </p:nvSpPr>
        <p:spPr>
          <a:xfrm>
            <a:off x="4514850" y="1828800"/>
            <a:ext cx="133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取目标概率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CE7B7D3-A97B-475A-850C-E35C9DC00C80}"/>
              </a:ext>
            </a:extLst>
          </p:cNvPr>
          <p:cNvSpPr txBox="1"/>
          <p:nvPr/>
        </p:nvSpPr>
        <p:spPr>
          <a:xfrm>
            <a:off x="4514850" y="2190750"/>
            <a:ext cx="1333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A9B7CC"/>
                </a:solidFill>
                <a:latin typeface="PingFang SC"/>
                <a:ea typeface="PingFang SC"/>
              </a:rPr>
              <a:t>正确词元位置的 softmax 值，如 7.45e-05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A40F5A6-EC97-4C5A-8222-F8803C48DDC2}"/>
              </a:ext>
            </a:extLst>
          </p:cNvPr>
          <p:cNvSpPr/>
          <p:nvPr/>
        </p:nvSpPr>
        <p:spPr>
          <a:xfrm>
            <a:off x="6010275" y="2276475"/>
            <a:ext cx="171450" cy="209550"/>
          </a:xfrm>
          <a:prstGeom prst="chevron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10ECA5A-DF7B-4F34-9F46-D51A7D9A7EA3}"/>
              </a:ext>
            </a:extLst>
          </p:cNvPr>
          <p:cNvSpPr/>
          <p:nvPr/>
        </p:nvSpPr>
        <p:spPr>
          <a:xfrm>
            <a:off x="6210300" y="1428750"/>
            <a:ext cx="16002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9EF64D8-528C-4A41-BA36-8BBED4F72263}"/>
              </a:ext>
            </a:extLst>
          </p:cNvPr>
          <p:cNvSpPr txBox="1"/>
          <p:nvPr/>
        </p:nvSpPr>
        <p:spPr>
          <a:xfrm>
            <a:off x="6343650" y="15811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3EC6B8"/>
                </a:solidFill>
                <a:latin typeface="Helvetica Neue"/>
                <a:ea typeface="Helvetica Neue"/>
              </a:rPr>
              <a:t>STEP 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FAD9F73-6F9B-404E-AB04-00C8CE42AFBF}"/>
              </a:ext>
            </a:extLst>
          </p:cNvPr>
          <p:cNvSpPr txBox="1"/>
          <p:nvPr/>
        </p:nvSpPr>
        <p:spPr>
          <a:xfrm>
            <a:off x="6343650" y="1828800"/>
            <a:ext cx="133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取对数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F3D0895-A219-4B59-B498-0A0691DEC342}"/>
              </a:ext>
            </a:extLst>
          </p:cNvPr>
          <p:cNvSpPr txBox="1"/>
          <p:nvPr/>
        </p:nvSpPr>
        <p:spPr>
          <a:xfrm>
            <a:off x="6343650" y="2190750"/>
            <a:ext cx="1333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A9B7CC"/>
                </a:solidFill>
                <a:latin typeface="PingFang SC"/>
                <a:ea typeface="PingFang SC"/>
              </a:rPr>
              <a:t>对数概率，如 −9.50、−10.38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F75E617-9BE1-46EE-B1F0-D29A2BE76610}"/>
              </a:ext>
            </a:extLst>
          </p:cNvPr>
          <p:cNvSpPr/>
          <p:nvPr/>
        </p:nvSpPr>
        <p:spPr>
          <a:xfrm>
            <a:off x="7839075" y="2276475"/>
            <a:ext cx="171450" cy="209550"/>
          </a:xfrm>
          <a:prstGeom prst="chevron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82C1A5C6-15B7-41E7-BCD3-0DD4C40D92F4}"/>
              </a:ext>
            </a:extLst>
          </p:cNvPr>
          <p:cNvSpPr/>
          <p:nvPr/>
        </p:nvSpPr>
        <p:spPr>
          <a:xfrm>
            <a:off x="8039100" y="1428750"/>
            <a:ext cx="16002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ED9EEAC-1766-4009-AB22-65EC43C91C08}"/>
              </a:ext>
            </a:extLst>
          </p:cNvPr>
          <p:cNvSpPr txBox="1"/>
          <p:nvPr/>
        </p:nvSpPr>
        <p:spPr>
          <a:xfrm>
            <a:off x="8172450" y="15811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3EC6B8"/>
                </a:solidFill>
                <a:latin typeface="Helvetica Neue"/>
                <a:ea typeface="Helvetica Neue"/>
              </a:rPr>
              <a:t>STEP 5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6E66D53-A7DF-4406-A723-7C02498FF665}"/>
              </a:ext>
            </a:extLst>
          </p:cNvPr>
          <p:cNvSpPr txBox="1"/>
          <p:nvPr/>
        </p:nvSpPr>
        <p:spPr>
          <a:xfrm>
            <a:off x="8172450" y="1828800"/>
            <a:ext cx="133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求平均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B9823E0-1290-4145-B0CE-60D41AAB2778}"/>
              </a:ext>
            </a:extLst>
          </p:cNvPr>
          <p:cNvSpPr txBox="1"/>
          <p:nvPr/>
        </p:nvSpPr>
        <p:spPr>
          <a:xfrm>
            <a:off x="8172450" y="2190750"/>
            <a:ext cx="1333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A9B7CC"/>
                </a:solidFill>
                <a:latin typeface="PingFang SC"/>
                <a:ea typeface="PingFang SC"/>
              </a:rPr>
              <a:t>平均对数概率 → −10.7940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AC902153-1A37-4732-A671-10940EA49F45}"/>
              </a:ext>
            </a:extLst>
          </p:cNvPr>
          <p:cNvSpPr/>
          <p:nvPr/>
        </p:nvSpPr>
        <p:spPr>
          <a:xfrm>
            <a:off x="9667875" y="2276475"/>
            <a:ext cx="171450" cy="209550"/>
          </a:xfrm>
          <a:prstGeom prst="chevron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B9A2C5E8-45A4-49D8-BE30-A1AC6CA5AF9E}"/>
              </a:ext>
            </a:extLst>
          </p:cNvPr>
          <p:cNvSpPr/>
          <p:nvPr/>
        </p:nvSpPr>
        <p:spPr>
          <a:xfrm>
            <a:off x="9867900" y="1428750"/>
            <a:ext cx="1600200" cy="190500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F0A6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DCC6001-F53C-481A-80C1-9D2607645962}"/>
              </a:ext>
            </a:extLst>
          </p:cNvPr>
          <p:cNvSpPr txBox="1"/>
          <p:nvPr/>
        </p:nvSpPr>
        <p:spPr>
          <a:xfrm>
            <a:off x="10001250" y="1581150"/>
            <a:ext cx="1333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0A63C"/>
                </a:solidFill>
                <a:latin typeface="Helvetica Neue"/>
                <a:ea typeface="Helvetica Neue"/>
              </a:rPr>
              <a:t>STEP 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5BEF01B-18F0-4205-BB51-23DEA63E255B}"/>
              </a:ext>
            </a:extLst>
          </p:cNvPr>
          <p:cNvSpPr txBox="1"/>
          <p:nvPr/>
        </p:nvSpPr>
        <p:spPr>
          <a:xfrm>
            <a:off x="10001250" y="1828800"/>
            <a:ext cx="133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取负号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05B3F12-5CBE-434F-AD71-152AD3FE9A69}"/>
              </a:ext>
            </a:extLst>
          </p:cNvPr>
          <p:cNvSpPr txBox="1"/>
          <p:nvPr/>
        </p:nvSpPr>
        <p:spPr>
          <a:xfrm>
            <a:off x="10001250" y="2190750"/>
            <a:ext cx="13335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A9B7CC"/>
                </a:solidFill>
                <a:latin typeface="PingFang SC"/>
                <a:ea typeface="PingFang SC"/>
              </a:rPr>
              <a:t>负平均对数概率 = 损失 10.7940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D3094152-DA1A-4B06-840E-A6DDCCBEC0F8}"/>
              </a:ext>
            </a:extLst>
          </p:cNvPr>
          <p:cNvSpPr/>
          <p:nvPr/>
        </p:nvSpPr>
        <p:spPr>
          <a:xfrm>
            <a:off x="609600" y="3810000"/>
            <a:ext cx="10972800" cy="1143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24C4A030-8850-4646-904F-AD3973BD6A5D}"/>
              </a:ext>
            </a:extLst>
          </p:cNvPr>
          <p:cNvSpPr txBox="1"/>
          <p:nvPr/>
        </p:nvSpPr>
        <p:spPr>
          <a:xfrm>
            <a:off x="838200" y="400050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PyTorch 一行搞定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D4FCE864-DF3B-433D-B004-0B25F9DB1C1D}"/>
              </a:ext>
            </a:extLst>
          </p:cNvPr>
          <p:cNvSpPr txBox="1"/>
          <p:nvPr/>
        </p:nvSpPr>
        <p:spPr>
          <a:xfrm>
            <a:off x="838200" y="430530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D8E2F0"/>
                </a:solidFill>
                <a:latin typeface="Helvetica Neue"/>
                <a:ea typeface="Helvetica Neue"/>
              </a:rPr>
              <a:t>loss = F.cross_entropy(logits.flatten(0, 1), targets.flatten())   # → tensor(10.7940)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415BC2F9-056E-4F0D-8944-69E1F5FBA80B}"/>
              </a:ext>
            </a:extLst>
          </p:cNvPr>
          <p:cNvSpPr txBox="1"/>
          <p:nvPr/>
        </p:nvSpPr>
        <p:spPr>
          <a:xfrm>
            <a:off x="838200" y="4629150"/>
            <a:ext cx="105156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展平为 [6, 50257] 与 [6] 后计算，结果与手动执行上述六步完全一致。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ED47309E-3928-4453-B573-FD03655801E8}"/>
              </a:ext>
            </a:extLst>
          </p:cNvPr>
          <p:cNvSpPr/>
          <p:nvPr/>
        </p:nvSpPr>
        <p:spPr>
          <a:xfrm>
            <a:off x="609600" y="5143500"/>
            <a:ext cx="10972800" cy="952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F0A6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64C63A31-054E-486F-BE9B-7607D1D73DCE}"/>
              </a:ext>
            </a:extLst>
          </p:cNvPr>
          <p:cNvSpPr txBox="1"/>
          <p:nvPr/>
        </p:nvSpPr>
        <p:spPr>
          <a:xfrm>
            <a:off x="838200" y="53340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训练目标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81DE7121-A98C-41DE-BFF5-74AE98F70F8D}"/>
              </a:ext>
            </a:extLst>
          </p:cNvPr>
          <p:cNvSpPr txBox="1"/>
          <p:nvPr/>
        </p:nvSpPr>
        <p:spPr>
          <a:xfrm>
            <a:off x="838200" y="56197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最大化目标词元的 softmax 概率 —— 通过反向传播更新模型权重，让正确位置的 logits 更大、损失更小。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1E684BFF-EB3C-4022-8C05-9988F60404A7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DAEAF882-C2FE-4340-BC17-2BD96715027C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0BE25D0-D853-4C5C-BAE2-ED4FB4523B55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5.1.2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C170DFB-0307-4CC0-A9C1-1DEFDF3D3E4D}"/>
              </a:ext>
            </a:extLst>
          </p:cNvPr>
          <p:cNvSpPr txBox="1"/>
          <p:nvPr/>
        </p:nvSpPr>
        <p:spPr>
          <a:xfrm>
            <a:off x="1543050" y="476250"/>
            <a:ext cx="8191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两个核心评估指标：交叉熵损失与困惑度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DD9ACF2-04D8-4A36-B73B-D5F30C4A2754}"/>
              </a:ext>
            </a:extLst>
          </p:cNvPr>
          <p:cNvSpPr/>
          <p:nvPr/>
        </p:nvSpPr>
        <p:spPr>
          <a:xfrm>
            <a:off x="609600" y="1333500"/>
            <a:ext cx="5334000" cy="2381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EAFE95-2F7E-4A86-8609-EE3BC163484E}"/>
              </a:ext>
            </a:extLst>
          </p:cNvPr>
          <p:cNvSpPr txBox="1"/>
          <p:nvPr/>
        </p:nvSpPr>
        <p:spPr>
          <a:xfrm>
            <a:off x="800100" y="154305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EC6B8"/>
                </a:solidFill>
                <a:latin typeface="PingFang SC"/>
                <a:ea typeface="PingFang SC"/>
              </a:rPr>
              <a:t>交叉熵损失</a:t>
            </a:r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  Cross-Entropy Loss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57CE54F-8A42-426A-9572-B723A7A67227}"/>
              </a:ext>
            </a:extLst>
          </p:cNvPr>
          <p:cNvSpPr txBox="1"/>
          <p:nvPr/>
        </p:nvSpPr>
        <p:spPr>
          <a:xfrm>
            <a:off x="800100" y="1943100"/>
            <a:ext cx="49530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衡量真实词元分布与模型预测分布的差异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数值上 = 目标词元概率的负平均对数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训练目标：让损失在训练过程中尽可能接近 0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实践中与“负平均对数概率”两个术语常互换使用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34A3433-24C6-47E3-9451-C81137D3D40A}"/>
              </a:ext>
            </a:extLst>
          </p:cNvPr>
          <p:cNvSpPr/>
          <p:nvPr/>
        </p:nvSpPr>
        <p:spPr>
          <a:xfrm>
            <a:off x="6324600" y="1333500"/>
            <a:ext cx="5257800" cy="2381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212C8CA-B874-42B1-983E-93DA6470BFEB}"/>
              </a:ext>
            </a:extLst>
          </p:cNvPr>
          <p:cNvSpPr txBox="1"/>
          <p:nvPr/>
        </p:nvSpPr>
        <p:spPr>
          <a:xfrm>
            <a:off x="6515100" y="1543050"/>
            <a:ext cx="4572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0A63C"/>
                </a:solidFill>
                <a:latin typeface="PingFang SC"/>
                <a:ea typeface="PingFang SC"/>
              </a:rPr>
              <a:t>困惑度</a:t>
            </a:r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  Perplexity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3CD766D-A7EE-46E3-9758-4F24B4C4FAF1}"/>
              </a:ext>
            </a:extLst>
          </p:cNvPr>
          <p:cNvSpPr txBox="1"/>
          <p:nvPr/>
        </p:nvSpPr>
        <p:spPr>
          <a:xfrm>
            <a:off x="6515100" y="1943100"/>
            <a:ext cx="48768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perplexity = torch.exp(loss)，与损失同升同降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更易解释：模型预测下一个词元时的不确定程度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可理解为模型每一步犹豫的“等效词汇量”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与损失一样，越低说明预测越接近真实分布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76E7D2B-91E3-44E9-B97B-E1487832B246}"/>
              </a:ext>
            </a:extLst>
          </p:cNvPr>
          <p:cNvSpPr/>
          <p:nvPr/>
        </p:nvSpPr>
        <p:spPr>
          <a:xfrm>
            <a:off x="609600" y="4095750"/>
            <a:ext cx="3505200" cy="1809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791D91E-BA50-4C74-A4B2-C7FD2F025383}"/>
              </a:ext>
            </a:extLst>
          </p:cNvPr>
          <p:cNvSpPr txBox="1"/>
          <p:nvPr/>
        </p:nvSpPr>
        <p:spPr>
          <a:xfrm>
            <a:off x="838200" y="4381500"/>
            <a:ext cx="3048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3EC6B8"/>
                </a:solidFill>
                <a:latin typeface="Helvetica Neue"/>
                <a:ea typeface="Helvetica Neue"/>
              </a:rPr>
              <a:t>10.79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2819F24-C548-49D6-A733-6FAA197D441E}"/>
              </a:ext>
            </a:extLst>
          </p:cNvPr>
          <p:cNvSpPr txBox="1"/>
          <p:nvPr/>
        </p:nvSpPr>
        <p:spPr>
          <a:xfrm>
            <a:off x="838200" y="5105400"/>
            <a:ext cx="3048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训练前的初始交叉熵损失（两个示例批次）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AD29DEB-049A-4463-8C47-65A18DAFF7DB}"/>
              </a:ext>
            </a:extLst>
          </p:cNvPr>
          <p:cNvSpPr/>
          <p:nvPr/>
        </p:nvSpPr>
        <p:spPr>
          <a:xfrm>
            <a:off x="4343400" y="4095750"/>
            <a:ext cx="3505200" cy="1809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4D83BE8-FB72-4691-9CA2-E50A6DDBB548}"/>
              </a:ext>
            </a:extLst>
          </p:cNvPr>
          <p:cNvSpPr txBox="1"/>
          <p:nvPr/>
        </p:nvSpPr>
        <p:spPr>
          <a:xfrm>
            <a:off x="4572000" y="4381500"/>
            <a:ext cx="3048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0A63C"/>
                </a:solidFill>
                <a:latin typeface="Helvetica Neue"/>
                <a:ea typeface="Helvetica Neue"/>
              </a:rPr>
              <a:t>48,726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D87F5F9B-A08D-4D13-930B-3FF200C6FDC6}"/>
              </a:ext>
            </a:extLst>
          </p:cNvPr>
          <p:cNvSpPr txBox="1"/>
          <p:nvPr/>
        </p:nvSpPr>
        <p:spPr>
          <a:xfrm>
            <a:off x="4572000" y="5105400"/>
            <a:ext cx="3048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对应困惑度：仿佛要在 4.8 万个词元中做选择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C59AC78-9C2B-4088-B0C2-45A314C17FA9}"/>
              </a:ext>
            </a:extLst>
          </p:cNvPr>
          <p:cNvSpPr/>
          <p:nvPr/>
        </p:nvSpPr>
        <p:spPr>
          <a:xfrm>
            <a:off x="8077200" y="4095750"/>
            <a:ext cx="3505200" cy="1809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A55A9DA-915E-4845-B370-788B0DC0FC41}"/>
              </a:ext>
            </a:extLst>
          </p:cNvPr>
          <p:cNvSpPr txBox="1"/>
          <p:nvPr/>
        </p:nvSpPr>
        <p:spPr>
          <a:xfrm>
            <a:off x="8305800" y="4381500"/>
            <a:ext cx="3048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  <a:ea typeface="Helvetica Neue"/>
              </a:rPr>
              <a:t>50,257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B0C02BE-7FDD-4DB8-B802-DF7DB4023B27}"/>
              </a:ext>
            </a:extLst>
          </p:cNvPr>
          <p:cNvSpPr txBox="1"/>
          <p:nvPr/>
        </p:nvSpPr>
        <p:spPr>
          <a:xfrm>
            <a:off x="8305800" y="5105400"/>
            <a:ext cx="3048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GPT-2 词表大小，随机初始概率 ≈ 1/50257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9C2E006-06D1-449F-A9CE-0A5FE472C70C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CCEE26B-D0DA-4688-B410-DC53C66BBD06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CD384EF-6F92-46F8-9A07-0F4D0391AFF4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5.1.3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E25ADD-ACBC-4CCC-A0B1-09BE450E9EDE}"/>
              </a:ext>
            </a:extLst>
          </p:cNvPr>
          <p:cNvSpPr txBox="1"/>
          <p:nvPr/>
        </p:nvSpPr>
        <p:spPr>
          <a:xfrm>
            <a:off x="1543050" y="476250"/>
            <a:ext cx="7620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准备训练集与验证集：The Verdict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518824A-B691-42BC-B08E-807AF2046A7D}"/>
              </a:ext>
            </a:extLst>
          </p:cNvPr>
          <p:cNvSpPr/>
          <p:nvPr/>
        </p:nvSpPr>
        <p:spPr>
          <a:xfrm>
            <a:off x="609600" y="1333500"/>
            <a:ext cx="35052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556A3F9-1A70-469A-864B-D2FE6B92D872}"/>
              </a:ext>
            </a:extLst>
          </p:cNvPr>
          <p:cNvSpPr txBox="1"/>
          <p:nvPr/>
        </p:nvSpPr>
        <p:spPr>
          <a:xfrm>
            <a:off x="838200" y="1562100"/>
            <a:ext cx="3048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3EC6B8"/>
                </a:solidFill>
                <a:latin typeface="Helvetica Neue"/>
                <a:ea typeface="Helvetica Neue"/>
              </a:rPr>
              <a:t>20,479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0A5452-6DDD-4246-AC45-090A7156B5F3}"/>
              </a:ext>
            </a:extLst>
          </p:cNvPr>
          <p:cNvSpPr txBox="1"/>
          <p:nvPr/>
        </p:nvSpPr>
        <p:spPr>
          <a:xfrm>
            <a:off x="838200" y="2171700"/>
            <a:ext cx="3048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数据集字符数（Edith Wharton 公共领域短篇）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45A923F-CC06-437C-8E25-50A479A0C766}"/>
              </a:ext>
            </a:extLst>
          </p:cNvPr>
          <p:cNvSpPr/>
          <p:nvPr/>
        </p:nvSpPr>
        <p:spPr>
          <a:xfrm>
            <a:off x="4343400" y="1333500"/>
            <a:ext cx="35052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C849D2-BB1C-4A2B-A2B1-4163B310CFFB}"/>
              </a:ext>
            </a:extLst>
          </p:cNvPr>
          <p:cNvSpPr txBox="1"/>
          <p:nvPr/>
        </p:nvSpPr>
        <p:spPr>
          <a:xfrm>
            <a:off x="4572000" y="1562100"/>
            <a:ext cx="3048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3EC6B8"/>
                </a:solidFill>
                <a:latin typeface="Helvetica Neue"/>
                <a:ea typeface="Helvetica Neue"/>
              </a:rPr>
              <a:t>5,145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BDBE7C-224E-4613-8C7C-37DCD823A3BD}"/>
              </a:ext>
            </a:extLst>
          </p:cNvPr>
          <p:cNvSpPr txBox="1"/>
          <p:nvPr/>
        </p:nvSpPr>
        <p:spPr>
          <a:xfrm>
            <a:off x="4572000" y="2171700"/>
            <a:ext cx="3048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GPT-2 分词后的词元总数（教学用小规模语料）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4FC61F4-87E7-49EE-9042-A7C59DFC144A}"/>
              </a:ext>
            </a:extLst>
          </p:cNvPr>
          <p:cNvSpPr/>
          <p:nvPr/>
        </p:nvSpPr>
        <p:spPr>
          <a:xfrm>
            <a:off x="8077200" y="1333500"/>
            <a:ext cx="35052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2A15B5C-7BA2-415E-B9EA-EB5B0DAD1109}"/>
              </a:ext>
            </a:extLst>
          </p:cNvPr>
          <p:cNvSpPr txBox="1"/>
          <p:nvPr/>
        </p:nvSpPr>
        <p:spPr>
          <a:xfrm>
            <a:off x="8305800" y="1562100"/>
            <a:ext cx="30480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F0A63C"/>
                </a:solidFill>
                <a:latin typeface="Helvetica Neue"/>
                <a:ea typeface="Helvetica Neue"/>
              </a:rPr>
              <a:t>90 : 10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14DCD1C-D82A-45DC-BFF8-1B2200D9108C}"/>
              </a:ext>
            </a:extLst>
          </p:cNvPr>
          <p:cNvSpPr txBox="1"/>
          <p:nvPr/>
        </p:nvSpPr>
        <p:spPr>
          <a:xfrm>
            <a:off x="8305800" y="2171700"/>
            <a:ext cx="30480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前 90% 作训练集，剩余 10% 作验证集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4DC5EAE-B79C-4B2E-A0DB-18574D3AAD5C}"/>
              </a:ext>
            </a:extLst>
          </p:cNvPr>
          <p:cNvSpPr txBox="1"/>
          <p:nvPr/>
        </p:nvSpPr>
        <p:spPr>
          <a:xfrm>
            <a:off x="609600" y="31432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数据加载流程（图 5-9）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2B64F52-CE5B-497C-B0DA-FCA4F10C8496}"/>
              </a:ext>
            </a:extLst>
          </p:cNvPr>
          <p:cNvSpPr/>
          <p:nvPr/>
        </p:nvSpPr>
        <p:spPr>
          <a:xfrm>
            <a:off x="609600" y="3448050"/>
            <a:ext cx="1752600" cy="5524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加载文本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8911C2E-8FAC-4D98-A64E-2F6D73B9CDAF}"/>
              </a:ext>
            </a:extLst>
          </p:cNvPr>
          <p:cNvSpPr/>
          <p:nvPr/>
        </p:nvSpPr>
        <p:spPr>
          <a:xfrm>
            <a:off x="2438400" y="3448050"/>
            <a:ext cx="1752600" cy="5524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按比例拆分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74E1EE1-B487-45AD-A32B-549B4F81727F}"/>
              </a:ext>
            </a:extLst>
          </p:cNvPr>
          <p:cNvSpPr/>
          <p:nvPr/>
        </p:nvSpPr>
        <p:spPr>
          <a:xfrm>
            <a:off x="4267200" y="3448050"/>
            <a:ext cx="1752600" cy="5524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分词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93777D1-A59D-43F6-ACD1-82925B6D5C3B}"/>
              </a:ext>
            </a:extLst>
          </p:cNvPr>
          <p:cNvSpPr/>
          <p:nvPr/>
        </p:nvSpPr>
        <p:spPr>
          <a:xfrm>
            <a:off x="6096000" y="3448050"/>
            <a:ext cx="1752600" cy="5524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切块（长度 256）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163C179-0C01-446A-96C0-DDDA03C82B89}"/>
              </a:ext>
            </a:extLst>
          </p:cNvPr>
          <p:cNvSpPr/>
          <p:nvPr/>
        </p:nvSpPr>
        <p:spPr>
          <a:xfrm>
            <a:off x="7924800" y="3448050"/>
            <a:ext cx="1752600" cy="5524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行重排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714A5DF-1FDA-4671-A484-4885FD57E43C}"/>
              </a:ext>
            </a:extLst>
          </p:cNvPr>
          <p:cNvSpPr/>
          <p:nvPr/>
        </p:nvSpPr>
        <p:spPr>
          <a:xfrm>
            <a:off x="9753600" y="3448050"/>
            <a:ext cx="1752600" cy="55245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成批（batch=2）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06962AF-81D3-4D15-B72F-9B539A53E809}"/>
              </a:ext>
            </a:extLst>
          </p:cNvPr>
          <p:cNvSpPr/>
          <p:nvPr/>
        </p:nvSpPr>
        <p:spPr>
          <a:xfrm>
            <a:off x="609600" y="4381500"/>
            <a:ext cx="5334000" cy="1238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089904C-60F4-40DA-95A1-3ED052739A04}"/>
              </a:ext>
            </a:extLst>
          </p:cNvPr>
          <p:cNvSpPr txBox="1"/>
          <p:nvPr/>
        </p:nvSpPr>
        <p:spPr>
          <a:xfrm>
            <a:off x="800100" y="455295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训练加载器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B041DFD-F0BA-4EFC-96B1-B78C852CBE58}"/>
              </a:ext>
            </a:extLst>
          </p:cNvPr>
          <p:cNvSpPr txBox="1"/>
          <p:nvPr/>
        </p:nvSpPr>
        <p:spPr>
          <a:xfrm>
            <a:off x="800100" y="4838700"/>
            <a:ext cx="28575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9 个批次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E921944-226F-4BB9-99A0-8ABD05B5BA25}"/>
              </a:ext>
            </a:extLst>
          </p:cNvPr>
          <p:cNvSpPr txBox="1"/>
          <p:nvPr/>
        </p:nvSpPr>
        <p:spPr>
          <a:xfrm>
            <a:off x="800100" y="52197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每个批次 [2, 256]，targets 为输入右移一位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8FDDF4B-E89A-4DD0-A130-54F6A7BD2D12}"/>
              </a:ext>
            </a:extLst>
          </p:cNvPr>
          <p:cNvSpPr/>
          <p:nvPr/>
        </p:nvSpPr>
        <p:spPr>
          <a:xfrm>
            <a:off x="6248400" y="4381500"/>
            <a:ext cx="5334000" cy="1238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5AD739D-9187-4398-8EA9-3729F9491B40}"/>
              </a:ext>
            </a:extLst>
          </p:cNvPr>
          <p:cNvSpPr txBox="1"/>
          <p:nvPr/>
        </p:nvSpPr>
        <p:spPr>
          <a:xfrm>
            <a:off x="6438900" y="455295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验证加载器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1AFE23B-1C45-4175-B298-6BA4FB254C24}"/>
              </a:ext>
            </a:extLst>
          </p:cNvPr>
          <p:cNvSpPr txBox="1"/>
          <p:nvPr/>
        </p:nvSpPr>
        <p:spPr>
          <a:xfrm>
            <a:off x="6438900" y="4838700"/>
            <a:ext cx="28575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1 个批次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50B9531-2996-4860-9BB6-E6502602B2D5}"/>
              </a:ext>
            </a:extLst>
          </p:cNvPr>
          <p:cNvSpPr txBox="1"/>
          <p:nvPr/>
        </p:nvSpPr>
        <p:spPr>
          <a:xfrm>
            <a:off x="6438900" y="52197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同样 [2, 256]，训练过程中监测泛化表现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232D992-B126-42EC-9E73-4010F3A49275}"/>
              </a:ext>
            </a:extLst>
          </p:cNvPr>
          <p:cNvSpPr txBox="1"/>
          <p:nvPr/>
        </p:nvSpPr>
        <p:spPr>
          <a:xfrm>
            <a:off x="609600" y="5867400"/>
            <a:ext cx="109728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B6B85"/>
                </a:solidFill>
                <a:latin typeface="PingFang SC"/>
                <a:ea typeface="PingFang SC"/>
              </a:rPr>
              <a:t>batch_size=2 仅为教学场景节省算力，实践中常用 1024 及以上；max_length = stride = 256，与上下文长度一致。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0150B07-BC4A-470E-A185-E9AA45837C6D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5AED8E1-A331-4FAD-9213-A6AD2499AC23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E39C142-8C24-4EE4-B868-56A901935C14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5.1.3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5D6B6C8-F19E-478A-8BE2-EF94A521E3BA}"/>
              </a:ext>
            </a:extLst>
          </p:cNvPr>
          <p:cNvSpPr txBox="1"/>
          <p:nvPr/>
        </p:nvSpPr>
        <p:spPr>
          <a:xfrm>
            <a:off x="1543050" y="476250"/>
            <a:ext cx="8191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计算初始损失：训练 / 验证集各跑一遍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C2BF5C7-FB63-4CA8-873A-9AE33DC99685}"/>
              </a:ext>
            </a:extLst>
          </p:cNvPr>
          <p:cNvSpPr/>
          <p:nvPr/>
        </p:nvSpPr>
        <p:spPr>
          <a:xfrm>
            <a:off x="609600" y="1333500"/>
            <a:ext cx="5715000" cy="3810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FADF111-E19B-489B-9DFD-E89884C63EEF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代码清单 5-2：损失计算工具函数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8615DD6-3B43-4C6C-9EB4-478340E19A00}"/>
              </a:ext>
            </a:extLst>
          </p:cNvPr>
          <p:cNvSpPr txBox="1"/>
          <p:nvPr/>
        </p:nvSpPr>
        <p:spPr>
          <a:xfrm>
            <a:off x="800100" y="1905000"/>
            <a:ext cx="5334000" cy="3276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def calc_loss_batch(input_batch, target_batch, model, device):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input_batch = input_batch.to(device)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target_batch = target_batch.to(device)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logits = model(input_batch)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return F.cross_entropy(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logits.flatten(0, 1), target_batch.flatten())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def calc_loss_loader(data_loader, model, device,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         num_batches=None):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# 遍历全部（或前 num_batches 个）批次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# 累加损失并求平均，返回单一标量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D5C6A25-4DAE-4C32-B373-58EBAC173DE5}"/>
              </a:ext>
            </a:extLst>
          </p:cNvPr>
          <p:cNvSpPr/>
          <p:nvPr/>
        </p:nvSpPr>
        <p:spPr>
          <a:xfrm>
            <a:off x="6705600" y="1333500"/>
            <a:ext cx="4876800" cy="1714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17978E4-B00D-4373-B01A-5286FF662477}"/>
              </a:ext>
            </a:extLst>
          </p:cNvPr>
          <p:cNvSpPr txBox="1"/>
          <p:nvPr/>
        </p:nvSpPr>
        <p:spPr>
          <a:xfrm>
            <a:off x="6896100" y="15240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训练损失（初始）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CBBC0E-692D-4954-A85B-075201450EDF}"/>
              </a:ext>
            </a:extLst>
          </p:cNvPr>
          <p:cNvSpPr txBox="1"/>
          <p:nvPr/>
        </p:nvSpPr>
        <p:spPr>
          <a:xfrm>
            <a:off x="6896100" y="1828800"/>
            <a:ext cx="2857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  <a:ea typeface="Helvetica Neue"/>
              </a:rPr>
              <a:t>10.988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534E36F-344A-4891-B51C-33D679085A74}"/>
              </a:ext>
            </a:extLst>
          </p:cNvPr>
          <p:cNvSpPr txBox="1"/>
          <p:nvPr/>
        </p:nvSpPr>
        <p:spPr>
          <a:xfrm>
            <a:off x="6896100" y="2495550"/>
            <a:ext cx="3810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9 个训练批次的平均交叉熵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557D733-13A4-4671-91AB-527FEB682EC7}"/>
              </a:ext>
            </a:extLst>
          </p:cNvPr>
          <p:cNvSpPr/>
          <p:nvPr/>
        </p:nvSpPr>
        <p:spPr>
          <a:xfrm>
            <a:off x="6705600" y="3238500"/>
            <a:ext cx="4876800" cy="1714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7C3A374-8176-4694-9238-5F0A6A19766E}"/>
              </a:ext>
            </a:extLst>
          </p:cNvPr>
          <p:cNvSpPr txBox="1"/>
          <p:nvPr/>
        </p:nvSpPr>
        <p:spPr>
          <a:xfrm>
            <a:off x="6896100" y="3429000"/>
            <a:ext cx="285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验证损失（初始）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27EECA-7AB3-4F68-B950-716E2D1D8AB7}"/>
              </a:ext>
            </a:extLst>
          </p:cNvPr>
          <p:cNvSpPr txBox="1"/>
          <p:nvPr/>
        </p:nvSpPr>
        <p:spPr>
          <a:xfrm>
            <a:off x="6896100" y="3733800"/>
            <a:ext cx="2857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Helvetica Neue"/>
                <a:ea typeface="Helvetica Neue"/>
              </a:rPr>
              <a:t>10.981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E77552A-79F3-43CA-9AED-BB18B58CDA50}"/>
              </a:ext>
            </a:extLst>
          </p:cNvPr>
          <p:cNvSpPr txBox="1"/>
          <p:nvPr/>
        </p:nvSpPr>
        <p:spPr>
          <a:xfrm>
            <a:off x="6896100" y="4400550"/>
            <a:ext cx="3810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1 个验证批次的平均交叉熵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8F04771-92F3-4336-817C-5C0F9A3A7540}"/>
              </a:ext>
            </a:extLst>
          </p:cNvPr>
          <p:cNvSpPr/>
          <p:nvPr/>
        </p:nvSpPr>
        <p:spPr>
          <a:xfrm>
            <a:off x="6705600" y="5143500"/>
            <a:ext cx="4876800" cy="952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19F6510-2308-4576-8817-AA4B0AB94158}"/>
              </a:ext>
            </a:extLst>
          </p:cNvPr>
          <p:cNvSpPr txBox="1"/>
          <p:nvPr/>
        </p:nvSpPr>
        <p:spPr>
          <a:xfrm>
            <a:off x="6896100" y="5334000"/>
            <a:ext cx="44958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FFFFFF"/>
                </a:solidFill>
                <a:latin typeface="PingFang SC"/>
                <a:ea typeface="PingFang SC"/>
              </a:rPr>
              <a:t>模型尚未训练，损失很高；理想情况（学会按语序预测下一个词元）下，损失将趋近 0。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F3C3844-544C-4DED-BB8D-CE407E257A9D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79CE732-8D66-4366-8FB2-B6BA6653D7D0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A5095DF-3A54-47EA-85B1-C9A2747ACA7D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3E3DA1-B4FA-476E-A4BD-2B90591F404E}"/>
              </a:ext>
            </a:extLst>
          </p:cNvPr>
          <p:cNvSpPr txBox="1"/>
          <p:nvPr/>
        </p:nvSpPr>
        <p:spPr>
          <a:xfrm>
            <a:off x="1428750" y="476250"/>
            <a:ext cx="7620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标准 PyTorch 训练循环：八个步骤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E57C436-FC9C-4FE1-AD84-2443E72C75F5}"/>
              </a:ext>
            </a:extLst>
          </p:cNvPr>
          <p:cNvSpPr/>
          <p:nvPr/>
        </p:nvSpPr>
        <p:spPr>
          <a:xfrm>
            <a:off x="609600" y="142875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AE5199-C489-42FC-86E3-098D745D5815}"/>
              </a:ext>
            </a:extLst>
          </p:cNvPr>
          <p:cNvSpPr txBox="1"/>
          <p:nvPr/>
        </p:nvSpPr>
        <p:spPr>
          <a:xfrm>
            <a:off x="800100" y="161925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① 开始新一轮 epoch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E695CAF-0B40-4BE4-89D7-A821E17638D8}"/>
              </a:ext>
            </a:extLst>
          </p:cNvPr>
          <p:cNvSpPr txBox="1"/>
          <p:nvPr/>
        </p:nvSpPr>
        <p:spPr>
          <a:xfrm>
            <a:off x="800100" y="196215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model.train() 进入训练模式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B83C3BE-DD35-4BE3-8D53-69904C01E8C8}"/>
              </a:ext>
            </a:extLst>
          </p:cNvPr>
          <p:cNvSpPr/>
          <p:nvPr/>
        </p:nvSpPr>
        <p:spPr>
          <a:xfrm>
            <a:off x="3143250" y="2038350"/>
            <a:ext cx="190500" cy="209550"/>
          </a:xfrm>
          <a:prstGeom prst="righ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B063E09-8ADB-4CEF-8662-DD59730102D6}"/>
              </a:ext>
            </a:extLst>
          </p:cNvPr>
          <p:cNvSpPr/>
          <p:nvPr/>
        </p:nvSpPr>
        <p:spPr>
          <a:xfrm>
            <a:off x="3352800" y="142875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CD6A981-3C90-4BF6-B3FA-DB9F0E47EE49}"/>
              </a:ext>
            </a:extLst>
          </p:cNvPr>
          <p:cNvSpPr txBox="1"/>
          <p:nvPr/>
        </p:nvSpPr>
        <p:spPr>
          <a:xfrm>
            <a:off x="3543300" y="161925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② 取一个批次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55EF9A3-CF72-4C52-915A-1151B59914C6}"/>
              </a:ext>
            </a:extLst>
          </p:cNvPr>
          <p:cNvSpPr txBox="1"/>
          <p:nvPr/>
        </p:nvSpPr>
        <p:spPr>
          <a:xfrm>
            <a:off x="3543300" y="196215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Helvetica Neue"/>
                <a:ea typeface="Helvetica Neue"/>
              </a:rPr>
              <a:t>input_batch / target_batch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D749174-DADB-4822-856B-2EFA7E12F970}"/>
              </a:ext>
            </a:extLst>
          </p:cNvPr>
          <p:cNvSpPr/>
          <p:nvPr/>
        </p:nvSpPr>
        <p:spPr>
          <a:xfrm>
            <a:off x="5886450" y="2038350"/>
            <a:ext cx="190500" cy="209550"/>
          </a:xfrm>
          <a:prstGeom prst="righ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8FCE54E-88A1-4D45-AA12-51E4A7B60162}"/>
              </a:ext>
            </a:extLst>
          </p:cNvPr>
          <p:cNvSpPr/>
          <p:nvPr/>
        </p:nvSpPr>
        <p:spPr>
          <a:xfrm>
            <a:off x="6096000" y="142875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1CAAB65-2642-47B0-BD17-9C45130C35FB}"/>
              </a:ext>
            </a:extLst>
          </p:cNvPr>
          <p:cNvSpPr txBox="1"/>
          <p:nvPr/>
        </p:nvSpPr>
        <p:spPr>
          <a:xfrm>
            <a:off x="6286500" y="161925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③ 清零梯度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7009D82-F881-4E39-9BC9-26AC15ABC76D}"/>
              </a:ext>
            </a:extLst>
          </p:cNvPr>
          <p:cNvSpPr txBox="1"/>
          <p:nvPr/>
        </p:nvSpPr>
        <p:spPr>
          <a:xfrm>
            <a:off x="6286500" y="196215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Helvetica Neue"/>
                <a:ea typeface="Helvetica Neue"/>
              </a:rPr>
              <a:t>optimizer.zero_grad()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7706064-2224-4608-A3C3-6D6325564C35}"/>
              </a:ext>
            </a:extLst>
          </p:cNvPr>
          <p:cNvSpPr/>
          <p:nvPr/>
        </p:nvSpPr>
        <p:spPr>
          <a:xfrm>
            <a:off x="8629650" y="2038350"/>
            <a:ext cx="190500" cy="209550"/>
          </a:xfrm>
          <a:prstGeom prst="righ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8D1D237-4EFA-4FD0-B12D-052FE177E3C1}"/>
              </a:ext>
            </a:extLst>
          </p:cNvPr>
          <p:cNvSpPr/>
          <p:nvPr/>
        </p:nvSpPr>
        <p:spPr>
          <a:xfrm>
            <a:off x="8839200" y="142875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955DD9-5950-4E27-9BA8-FB8FF8EAEC7E}"/>
              </a:ext>
            </a:extLst>
          </p:cNvPr>
          <p:cNvSpPr txBox="1"/>
          <p:nvPr/>
        </p:nvSpPr>
        <p:spPr>
          <a:xfrm>
            <a:off x="9029700" y="161925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④ 前向计算损失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28EA909-9B81-4430-93C2-5B9E661E4048}"/>
              </a:ext>
            </a:extLst>
          </p:cNvPr>
          <p:cNvSpPr txBox="1"/>
          <p:nvPr/>
        </p:nvSpPr>
        <p:spPr>
          <a:xfrm>
            <a:off x="9029700" y="196215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Helvetica Neue"/>
                <a:ea typeface="Helvetica Neue"/>
              </a:rPr>
              <a:t>calc_loss_batch → loss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74FA647E-C403-412E-AAD0-C33D7895E92B}"/>
              </a:ext>
            </a:extLst>
          </p:cNvPr>
          <p:cNvSpPr/>
          <p:nvPr/>
        </p:nvSpPr>
        <p:spPr>
          <a:xfrm>
            <a:off x="10010775" y="2895600"/>
            <a:ext cx="171450" cy="304800"/>
          </a:xfrm>
          <a:prstGeom prst="down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69CAF1B-9919-4AC1-92A9-AEFBEE86C6F6}"/>
              </a:ext>
            </a:extLst>
          </p:cNvPr>
          <p:cNvSpPr/>
          <p:nvPr/>
        </p:nvSpPr>
        <p:spPr>
          <a:xfrm>
            <a:off x="8839200" y="323850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707C3D2-E925-46E9-B08E-29A4E49B356D}"/>
              </a:ext>
            </a:extLst>
          </p:cNvPr>
          <p:cNvSpPr txBox="1"/>
          <p:nvPr/>
        </p:nvSpPr>
        <p:spPr>
          <a:xfrm>
            <a:off x="9029700" y="34290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⑤ 反向传播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44656DC-8B63-4901-98A2-AD6FB1EF2112}"/>
              </a:ext>
            </a:extLst>
          </p:cNvPr>
          <p:cNvSpPr txBox="1"/>
          <p:nvPr/>
        </p:nvSpPr>
        <p:spPr>
          <a:xfrm>
            <a:off x="9029700" y="377190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loss.backward() 计算梯度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73B6BB5-3262-47A5-80AB-EB32DADA6EE0}"/>
              </a:ext>
            </a:extLst>
          </p:cNvPr>
          <p:cNvSpPr/>
          <p:nvPr/>
        </p:nvSpPr>
        <p:spPr>
          <a:xfrm>
            <a:off x="8629650" y="3848100"/>
            <a:ext cx="190500" cy="209550"/>
          </a:xfrm>
          <a:prstGeom prst="lef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BE7D0A52-95EF-4159-B828-ADE9934FFFA0}"/>
              </a:ext>
            </a:extLst>
          </p:cNvPr>
          <p:cNvSpPr/>
          <p:nvPr/>
        </p:nvSpPr>
        <p:spPr>
          <a:xfrm>
            <a:off x="6096000" y="323850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EBFA906-A872-496B-9DD9-71DD5C087837}"/>
              </a:ext>
            </a:extLst>
          </p:cNvPr>
          <p:cNvSpPr txBox="1"/>
          <p:nvPr/>
        </p:nvSpPr>
        <p:spPr>
          <a:xfrm>
            <a:off x="6286500" y="34290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⑥ 更新权重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C498359-F449-4CEF-BA45-B9B3D7D1CAB7}"/>
              </a:ext>
            </a:extLst>
          </p:cNvPr>
          <p:cNvSpPr txBox="1"/>
          <p:nvPr/>
        </p:nvSpPr>
        <p:spPr>
          <a:xfrm>
            <a:off x="6286500" y="377190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optimizer.step() 走一步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AA5C049-BE64-45B4-BE22-E5BC09EAD72D}"/>
              </a:ext>
            </a:extLst>
          </p:cNvPr>
          <p:cNvSpPr/>
          <p:nvPr/>
        </p:nvSpPr>
        <p:spPr>
          <a:xfrm>
            <a:off x="5886450" y="3848100"/>
            <a:ext cx="190500" cy="209550"/>
          </a:xfrm>
          <a:prstGeom prst="lef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4C81A26D-2348-4295-B4C3-B67DEEED871A}"/>
              </a:ext>
            </a:extLst>
          </p:cNvPr>
          <p:cNvSpPr/>
          <p:nvPr/>
        </p:nvSpPr>
        <p:spPr>
          <a:xfrm>
            <a:off x="3352800" y="323850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23FB187-BBD1-4AA2-ADCE-CBD7D5988B1D}"/>
              </a:ext>
            </a:extLst>
          </p:cNvPr>
          <p:cNvSpPr txBox="1"/>
          <p:nvPr/>
        </p:nvSpPr>
        <p:spPr>
          <a:xfrm>
            <a:off x="3543300" y="34290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⑦ 监控与评估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866A384-FC96-4287-AC09-1D66D7CC3C93}"/>
              </a:ext>
            </a:extLst>
          </p:cNvPr>
          <p:cNvSpPr txBox="1"/>
          <p:nvPr/>
        </p:nvSpPr>
        <p:spPr>
          <a:xfrm>
            <a:off x="3543300" y="377190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打印损失、生成文本样本</a:t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B5D604DC-F4D6-4FA4-8CD9-48D88323A8FC}"/>
              </a:ext>
            </a:extLst>
          </p:cNvPr>
          <p:cNvSpPr/>
          <p:nvPr/>
        </p:nvSpPr>
        <p:spPr>
          <a:xfrm>
            <a:off x="3143250" y="3848100"/>
            <a:ext cx="190500" cy="209550"/>
          </a:xfrm>
          <a:prstGeom prst="leftArrow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DFCEFF6E-231E-4AAD-AE57-2EE583D1E25B}"/>
              </a:ext>
            </a:extLst>
          </p:cNvPr>
          <p:cNvSpPr/>
          <p:nvPr/>
        </p:nvSpPr>
        <p:spPr>
          <a:xfrm>
            <a:off x="609600" y="3238500"/>
            <a:ext cx="25146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210E6C7-9873-4DC5-8312-0A723B081B01}"/>
              </a:ext>
            </a:extLst>
          </p:cNvPr>
          <p:cNvSpPr txBox="1"/>
          <p:nvPr/>
        </p:nvSpPr>
        <p:spPr>
          <a:xfrm>
            <a:off x="800100" y="3429000"/>
            <a:ext cx="21336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⑧ 循环往复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26256EC-1660-4EBD-A080-8D797FC6D4FA}"/>
              </a:ext>
            </a:extLst>
          </p:cNvPr>
          <p:cNvSpPr txBox="1"/>
          <p:nvPr/>
        </p:nvSpPr>
        <p:spPr>
          <a:xfrm>
            <a:off x="800100" y="3771900"/>
            <a:ext cx="21336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直到 epoch 与批次全部遍历完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247F2AB1-0EB4-40D7-AC92-AB04B53E8382}"/>
              </a:ext>
            </a:extLst>
          </p:cNvPr>
          <p:cNvSpPr/>
          <p:nvPr/>
        </p:nvSpPr>
        <p:spPr>
          <a:xfrm>
            <a:off x="609600" y="5048250"/>
            <a:ext cx="10972800" cy="952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241490B-5849-49C6-B542-82A3C618BC94}"/>
              </a:ext>
            </a:extLst>
          </p:cNvPr>
          <p:cNvSpPr txBox="1"/>
          <p:nvPr/>
        </p:nvSpPr>
        <p:spPr>
          <a:xfrm>
            <a:off x="838200" y="5238750"/>
            <a:ext cx="571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对应代码清单 5-3：train_model_simple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C53B16B4-3EF3-4B52-8F1C-021B10398791}"/>
              </a:ext>
            </a:extLst>
          </p:cNvPr>
          <p:cNvSpPr txBox="1"/>
          <p:nvPr/>
        </p:nvSpPr>
        <p:spPr>
          <a:xfrm>
            <a:off x="838200" y="552450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每 eval_freq 步调用 evaluate_model 记录损失；每轮结束用 generate_and_print_sample 生成文本样本，直观感受模型进步。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73F60749-2607-48B0-B38F-3C149DCBC666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F7B4723D-290F-4D58-B76C-C1904CF386D5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5964D5B-CA2E-434E-8A23-21A937936197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664355-4D16-4F3D-B4A3-E03E9E4CD710}"/>
              </a:ext>
            </a:extLst>
          </p:cNvPr>
          <p:cNvSpPr txBox="1"/>
          <p:nvPr/>
        </p:nvSpPr>
        <p:spPr>
          <a:xfrm>
            <a:off x="1428750" y="476250"/>
            <a:ext cx="7620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主训练函数 train_model_simple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C55583E-6904-43CB-A092-F14E84EA4E65}"/>
              </a:ext>
            </a:extLst>
          </p:cNvPr>
          <p:cNvSpPr/>
          <p:nvPr/>
        </p:nvSpPr>
        <p:spPr>
          <a:xfrm>
            <a:off x="609600" y="1333500"/>
            <a:ext cx="6096000" cy="4000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540757A-A998-4CB0-BBF5-6207B2D34901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代码清单 5-3（精简，编号对应上一页步骤）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97D95F6-6AE2-46C9-8972-95E5314E8887}"/>
              </a:ext>
            </a:extLst>
          </p:cNvPr>
          <p:cNvSpPr txBox="1"/>
          <p:nvPr/>
        </p:nvSpPr>
        <p:spPr>
          <a:xfrm>
            <a:off x="800100" y="1866900"/>
            <a:ext cx="5715000" cy="3314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def train_model_simple(model, train_loader, val_loader, ...):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for epoch in range(num_epochs):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# ① 遍历轮次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model.train()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for input_batch, target_batch in train_loader: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# ②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optimizer.zero_grad()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   # ③ 清零梯度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loss = calc_loss_batch(...)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# ④ 计算损失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loss.backward()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          # ⑤ 反向传播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optimizer.step()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           # ⑥ 更新权重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if global_step % eval_freq == 0: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    evaluate_model(...)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   # ⑦ 定期评估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generate_and_print_sample(...)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# 每轮生成样本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return train_losses, val_losses, track_tokens_seen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53E437A-59BC-460B-A63C-8D97751681D6}"/>
              </a:ext>
            </a:extLst>
          </p:cNvPr>
          <p:cNvSpPr/>
          <p:nvPr/>
        </p:nvSpPr>
        <p:spPr>
          <a:xfrm>
            <a:off x="7086600" y="1333500"/>
            <a:ext cx="44958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F6EA7EA-3DF0-48FE-9922-CC828363736F}"/>
              </a:ext>
            </a:extLst>
          </p:cNvPr>
          <p:cNvSpPr txBox="1"/>
          <p:nvPr/>
        </p:nvSpPr>
        <p:spPr>
          <a:xfrm>
            <a:off x="7277100" y="15430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AdamW 优化器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F77A3AE-9851-47CE-BDF3-A0ABDD277CB0}"/>
              </a:ext>
            </a:extLst>
          </p:cNvPr>
          <p:cNvSpPr txBox="1"/>
          <p:nvPr/>
        </p:nvSpPr>
        <p:spPr>
          <a:xfrm>
            <a:off x="7277100" y="1866900"/>
            <a:ext cx="41148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· Adam 的改进版，修正了权重衰减的实现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· weight_decay=0.1 惩罚过大权重，抑制过拟合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· 学习率 lr=0.0004，大模型训练的事实标准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0444510-4DF4-49E1-A6A9-4D376DAF8305}"/>
              </a:ext>
            </a:extLst>
          </p:cNvPr>
          <p:cNvSpPr/>
          <p:nvPr/>
        </p:nvSpPr>
        <p:spPr>
          <a:xfrm>
            <a:off x="7086600" y="3429000"/>
            <a:ext cx="4495800" cy="1905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6614BCB-E683-4C45-ADFB-551DEF2A3867}"/>
              </a:ext>
            </a:extLst>
          </p:cNvPr>
          <p:cNvSpPr txBox="1"/>
          <p:nvPr/>
        </p:nvSpPr>
        <p:spPr>
          <a:xfrm>
            <a:off x="7277100" y="36385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双通道监控设计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CB96C37-6D68-42FC-91F9-C5065B7C7D21}"/>
              </a:ext>
            </a:extLst>
          </p:cNvPr>
          <p:cNvSpPr txBox="1"/>
          <p:nvPr/>
        </p:nvSpPr>
        <p:spPr>
          <a:xfrm>
            <a:off x="7277100" y="3962400"/>
            <a:ext cx="41148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· evaluate_model：数值损失，评估时关闭梯度与 Dropout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· generate_and_print_sample：每轮打印一段生成文本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· 数值 + 样本互补，全面跟踪训练进展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47C0821-4083-4C82-AA25-385D26AA5626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A0212D3-AA90-4034-81F8-912F1DBF8528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11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4EBAB88-25AB-4EBF-8D22-E75A92FDD857}"/>
              </a:ext>
            </a:extLst>
          </p:cNvPr>
          <p:cNvSpPr txBox="1"/>
          <p:nvPr/>
        </p:nvSpPr>
        <p:spPr>
          <a:xfrm>
            <a:off x="609600" y="1333500"/>
            <a:ext cx="4191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训练 / 验证损失曲线（图 5-12 数据）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C4F403F-E656-4D12-9A6A-2291A03784CB}"/>
              </a:ext>
            </a:extLst>
          </p:cNvPr>
          <p:cNvSpPr/>
          <p:nvPr/>
        </p:nvSpPr>
        <p:spPr>
          <a:xfrm>
            <a:off x="4953000" y="1447800"/>
            <a:ext cx="266700" cy="28575"/>
          </a:xfrm>
          <a:prstGeom prst="rect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70D4AEC-CAA9-4945-88CB-CE1451AFAE23}"/>
              </a:ext>
            </a:extLst>
          </p:cNvPr>
          <p:cNvSpPr txBox="1"/>
          <p:nvPr/>
        </p:nvSpPr>
        <p:spPr>
          <a:xfrm>
            <a:off x="5295900" y="13716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训练损失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1E6C4B9-1844-4D05-B02A-32A1CBFB5CD5}"/>
              </a:ext>
            </a:extLst>
          </p:cNvPr>
          <p:cNvSpPr/>
          <p:nvPr/>
        </p:nvSpPr>
        <p:spPr>
          <a:xfrm>
            <a:off x="6210300" y="1447800"/>
            <a:ext cx="266700" cy="28575"/>
          </a:xfrm>
          <a:prstGeom prst="rect">
            <a:avLst/>
          </a:prstGeom>
          <a:solidFill>
            <a:srgbClr val="F0A63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79EED3-ED35-4BBD-8503-A19F53F83523}"/>
              </a:ext>
            </a:extLst>
          </p:cNvPr>
          <p:cNvSpPr txBox="1"/>
          <p:nvPr/>
        </p:nvSpPr>
        <p:spPr>
          <a:xfrm>
            <a:off x="6553200" y="1371600"/>
            <a:ext cx="762000" cy="18288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验证损失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8F890C1-F48A-4C36-948E-CC22AAAAA0A7}"/>
              </a:ext>
            </a:extLst>
          </p:cNvPr>
          <p:cNvSpPr/>
          <p:nvPr/>
        </p:nvSpPr>
        <p:spPr>
          <a:xfrm>
            <a:off x="1238250" y="4438650"/>
            <a:ext cx="6667500" cy="9525"/>
          </a:xfrm>
          <a:prstGeom prst="rect">
            <a:avLst/>
          </a:prstGeom>
          <a:solidFill>
            <a:srgbClr val="1E2C4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588B49B-9399-4E5F-B724-70EEA3E8B867}"/>
              </a:ext>
            </a:extLst>
          </p:cNvPr>
          <p:cNvSpPr/>
          <p:nvPr/>
        </p:nvSpPr>
        <p:spPr>
          <a:xfrm>
            <a:off x="1238250" y="3838575"/>
            <a:ext cx="6667500" cy="9525"/>
          </a:xfrm>
          <a:prstGeom prst="rect">
            <a:avLst/>
          </a:prstGeom>
          <a:solidFill>
            <a:srgbClr val="1E2C4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2C3CFBE-AB70-41D5-BB4C-91D0BFBFA07B}"/>
              </a:ext>
            </a:extLst>
          </p:cNvPr>
          <p:cNvSpPr/>
          <p:nvPr/>
        </p:nvSpPr>
        <p:spPr>
          <a:xfrm>
            <a:off x="1238250" y="3228975"/>
            <a:ext cx="6667500" cy="9525"/>
          </a:xfrm>
          <a:prstGeom prst="rect">
            <a:avLst/>
          </a:prstGeom>
          <a:solidFill>
            <a:srgbClr val="1E2C4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A599FF3-F355-41AA-A8AF-2E7A8EE84E34}"/>
              </a:ext>
            </a:extLst>
          </p:cNvPr>
          <p:cNvSpPr/>
          <p:nvPr/>
        </p:nvSpPr>
        <p:spPr>
          <a:xfrm>
            <a:off x="1238250" y="2628900"/>
            <a:ext cx="6667500" cy="9525"/>
          </a:xfrm>
          <a:prstGeom prst="rect">
            <a:avLst/>
          </a:prstGeom>
          <a:solidFill>
            <a:srgbClr val="1E2C4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2AC1BBD-91F2-4F06-AB9C-FD48B49E3343}"/>
              </a:ext>
            </a:extLst>
          </p:cNvPr>
          <p:cNvSpPr/>
          <p:nvPr/>
        </p:nvSpPr>
        <p:spPr>
          <a:xfrm>
            <a:off x="1238250" y="2019300"/>
            <a:ext cx="6667500" cy="9525"/>
          </a:xfrm>
          <a:prstGeom prst="rect">
            <a:avLst/>
          </a:prstGeom>
          <a:solidFill>
            <a:srgbClr val="1E2C47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8DC375D-FD02-4EB5-AFAF-9F7004E27689}"/>
              </a:ext>
            </a:extLst>
          </p:cNvPr>
          <p:cNvSpPr/>
          <p:nvPr/>
        </p:nvSpPr>
        <p:spPr>
          <a:xfrm>
            <a:off x="1238250" y="1714500"/>
            <a:ext cx="14288" cy="3333750"/>
          </a:xfrm>
          <a:prstGeom prst="rect">
            <a:avLst/>
          </a:prstGeom>
          <a:solidFill>
            <a:srgbClr val="2C3E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1E4B4B5-91A3-4F76-94C4-172B81B30ECA}"/>
              </a:ext>
            </a:extLst>
          </p:cNvPr>
          <p:cNvSpPr/>
          <p:nvPr/>
        </p:nvSpPr>
        <p:spPr>
          <a:xfrm>
            <a:off x="1238250" y="5048250"/>
            <a:ext cx="6667500" cy="14288"/>
          </a:xfrm>
          <a:prstGeom prst="rect">
            <a:avLst/>
          </a:prstGeom>
          <a:solidFill>
            <a:srgbClr val="2C3E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42F2CA8-868F-4D93-A77A-EFBDFD81D7AF}"/>
              </a:ext>
            </a:extLst>
          </p:cNvPr>
          <p:cNvSpPr txBox="1"/>
          <p:nvPr/>
        </p:nvSpPr>
        <p:spPr>
          <a:xfrm>
            <a:off x="876300" y="4962525"/>
            <a:ext cx="285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0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F488FF3-8103-4E6A-A40D-BCBF1E8913BF}"/>
              </a:ext>
            </a:extLst>
          </p:cNvPr>
          <p:cNvSpPr txBox="1"/>
          <p:nvPr/>
        </p:nvSpPr>
        <p:spPr>
          <a:xfrm>
            <a:off x="876300" y="4352925"/>
            <a:ext cx="285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2E46B39-64F6-4D4C-8A54-0CA8AA3EAA2B}"/>
              </a:ext>
            </a:extLst>
          </p:cNvPr>
          <p:cNvSpPr txBox="1"/>
          <p:nvPr/>
        </p:nvSpPr>
        <p:spPr>
          <a:xfrm>
            <a:off x="876300" y="3752850"/>
            <a:ext cx="285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B369D5C-CF04-4FE7-8503-4448B6363E34}"/>
              </a:ext>
            </a:extLst>
          </p:cNvPr>
          <p:cNvSpPr txBox="1"/>
          <p:nvPr/>
        </p:nvSpPr>
        <p:spPr>
          <a:xfrm>
            <a:off x="876300" y="3143250"/>
            <a:ext cx="285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6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520FDA0-568A-4122-94FC-C9E6C6DFC549}"/>
              </a:ext>
            </a:extLst>
          </p:cNvPr>
          <p:cNvSpPr txBox="1"/>
          <p:nvPr/>
        </p:nvSpPr>
        <p:spPr>
          <a:xfrm>
            <a:off x="876300" y="2543175"/>
            <a:ext cx="285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8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5C9614E-9A16-47DE-9909-C174ECD722F6}"/>
              </a:ext>
            </a:extLst>
          </p:cNvPr>
          <p:cNvSpPr txBox="1"/>
          <p:nvPr/>
        </p:nvSpPr>
        <p:spPr>
          <a:xfrm>
            <a:off x="876300" y="1933575"/>
            <a:ext cx="28575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10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D3ECD56-783F-4644-B60D-348BA3D3BF05}"/>
              </a:ext>
            </a:extLst>
          </p:cNvPr>
          <p:cNvSpPr txBox="1"/>
          <p:nvPr/>
        </p:nvSpPr>
        <p:spPr>
          <a:xfrm>
            <a:off x="1085850" y="5162550"/>
            <a:ext cx="3048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0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0549BA1-3624-42D4-B92A-AA74AD891ECE}"/>
              </a:ext>
            </a:extLst>
          </p:cNvPr>
          <p:cNvSpPr txBox="1"/>
          <p:nvPr/>
        </p:nvSpPr>
        <p:spPr>
          <a:xfrm>
            <a:off x="2628900" y="5162550"/>
            <a:ext cx="3048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20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386BB72-470A-4BBB-9C35-2466CC33D90F}"/>
              </a:ext>
            </a:extLst>
          </p:cNvPr>
          <p:cNvSpPr txBox="1"/>
          <p:nvPr/>
        </p:nvSpPr>
        <p:spPr>
          <a:xfrm>
            <a:off x="4181475" y="5162550"/>
            <a:ext cx="3048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40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9E88CA9-098B-42FD-9CA6-DEA276E05406}"/>
              </a:ext>
            </a:extLst>
          </p:cNvPr>
          <p:cNvSpPr txBox="1"/>
          <p:nvPr/>
        </p:nvSpPr>
        <p:spPr>
          <a:xfrm>
            <a:off x="5724525" y="5162550"/>
            <a:ext cx="3048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60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51D26DC-0359-4DCD-A40E-185E0699B2C3}"/>
              </a:ext>
            </a:extLst>
          </p:cNvPr>
          <p:cNvSpPr txBox="1"/>
          <p:nvPr/>
        </p:nvSpPr>
        <p:spPr>
          <a:xfrm>
            <a:off x="7277100" y="5162550"/>
            <a:ext cx="304800" cy="1714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80</a:t>
            </a:r>
          </a:p>
        </p:txBody>
      </p:sp>
      <p:cxnSp>
        <p:nvCxnSpPr>
          <p:cNvPr id="26" name="Straight Connector 26">
            <a:extLst>
              <a:ext uri="{FF2B5EF4-FFF2-40B4-BE49-F238E27FC236}">
                <a16:creationId xmlns:a16="http://schemas.microsoft.com/office/drawing/2014/main" id="{67321714-9573-4129-BEC1-DEDF2C33EECA}"/>
              </a:ext>
            </a:extLst>
          </p:cNvPr>
          <p:cNvCxnSpPr/>
          <p:nvPr/>
        </p:nvCxnSpPr>
        <p:spPr>
          <a:xfrm>
            <a:off x="1238250" y="2085975"/>
            <a:ext cx="390525" cy="504825"/>
          </a:xfrm>
          <a:prstGeom prst="line">
            <a:avLst/>
          </a:prstGeom>
          <a:ln w="31750" cap="flat">
            <a:solidFill>
              <a:srgbClr val="3EC6B8"/>
            </a:solidFill>
          </a:ln>
        </p:spPr>
      </p:cxn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0630A510-F7C4-42CA-8CED-6E608D7C5CB9}"/>
              </a:ext>
            </a:extLst>
          </p:cNvPr>
          <p:cNvCxnSpPr/>
          <p:nvPr/>
        </p:nvCxnSpPr>
        <p:spPr>
          <a:xfrm>
            <a:off x="1628775" y="2590800"/>
            <a:ext cx="381000" cy="438150"/>
          </a:xfrm>
          <a:prstGeom prst="line">
            <a:avLst/>
          </a:prstGeom>
          <a:ln w="31750" cap="flat">
            <a:solidFill>
              <a:srgbClr val="3EC6B8"/>
            </a:solidFill>
          </a:ln>
        </p:spPr>
      </p:cxnSp>
      <p:cxnSp>
        <p:nvCxnSpPr>
          <p:cNvPr id="28" name="Straight Connector 28">
            <a:extLst>
              <a:ext uri="{FF2B5EF4-FFF2-40B4-BE49-F238E27FC236}">
                <a16:creationId xmlns:a16="http://schemas.microsoft.com/office/drawing/2014/main" id="{16901E18-B30D-49E1-935E-E49CCB7E2C6D}"/>
              </a:ext>
            </a:extLst>
          </p:cNvPr>
          <p:cNvCxnSpPr/>
          <p:nvPr/>
        </p:nvCxnSpPr>
        <p:spPr>
          <a:xfrm>
            <a:off x="2009775" y="3028950"/>
            <a:ext cx="390525" cy="209550"/>
          </a:xfrm>
          <a:prstGeom prst="line">
            <a:avLst/>
          </a:prstGeom>
          <a:ln w="31750" cap="flat">
            <a:solidFill>
              <a:srgbClr val="3EC6B8"/>
            </a:solidFill>
          </a:ln>
        </p:spPr>
      </p:cxnSp>
      <p:cxnSp>
        <p:nvCxnSpPr>
          <p:cNvPr id="29" name="Straight Connector 29">
            <a:extLst>
              <a:ext uri="{FF2B5EF4-FFF2-40B4-BE49-F238E27FC236}">
                <a16:creationId xmlns:a16="http://schemas.microsoft.com/office/drawing/2014/main" id="{A81D50E5-BDC5-4F5D-916D-5D483E8ABDC7}"/>
              </a:ext>
            </a:extLst>
          </p:cNvPr>
          <p:cNvCxnSpPr/>
          <p:nvPr/>
        </p:nvCxnSpPr>
        <p:spPr>
          <a:xfrm>
            <a:off x="2400300" y="3238500"/>
            <a:ext cx="5029200" cy="1647825"/>
          </a:xfrm>
          <a:prstGeom prst="line">
            <a:avLst/>
          </a:prstGeom>
          <a:ln w="31750" cap="flat">
            <a:solidFill>
              <a:srgbClr val="3EC6B8"/>
            </a:solidFill>
          </a:ln>
        </p:spPr>
      </p:cxnSp>
      <p:cxnSp>
        <p:nvCxnSpPr>
          <p:cNvPr id="30" name="Straight Connector 30">
            <a:extLst>
              <a:ext uri="{FF2B5EF4-FFF2-40B4-BE49-F238E27FC236}">
                <a16:creationId xmlns:a16="http://schemas.microsoft.com/office/drawing/2014/main" id="{521E74CC-8739-4FD6-8624-5B63C680C67E}"/>
              </a:ext>
            </a:extLst>
          </p:cNvPr>
          <p:cNvCxnSpPr/>
          <p:nvPr/>
        </p:nvCxnSpPr>
        <p:spPr>
          <a:xfrm>
            <a:off x="7429500" y="4886325"/>
            <a:ext cx="381000" cy="47625"/>
          </a:xfrm>
          <a:prstGeom prst="line">
            <a:avLst/>
          </a:prstGeom>
          <a:ln w="31750" cap="flat">
            <a:solidFill>
              <a:srgbClr val="3EC6B8"/>
            </a:solidFill>
          </a:ln>
        </p:spPr>
      </p:cxnSp>
      <p:cxnSp>
        <p:nvCxnSpPr>
          <p:cNvPr id="31" name="Straight Connector 31">
            <a:extLst>
              <a:ext uri="{FF2B5EF4-FFF2-40B4-BE49-F238E27FC236}">
                <a16:creationId xmlns:a16="http://schemas.microsoft.com/office/drawing/2014/main" id="{532B998D-9593-4DB5-B2B9-0933E95C1CE9}"/>
              </a:ext>
            </a:extLst>
          </p:cNvPr>
          <p:cNvCxnSpPr/>
          <p:nvPr/>
        </p:nvCxnSpPr>
        <p:spPr>
          <a:xfrm>
            <a:off x="1238250" y="2038350"/>
            <a:ext cx="390525" cy="485775"/>
          </a:xfrm>
          <a:prstGeom prst="line">
            <a:avLst/>
          </a:prstGeom>
          <a:ln w="31750" cap="flat">
            <a:solidFill>
              <a:srgbClr val="F0A63C"/>
            </a:solidFill>
          </a:ln>
        </p:spPr>
      </p:cxnSp>
      <p:cxnSp>
        <p:nvCxnSpPr>
          <p:cNvPr id="32" name="Straight Connector 32">
            <a:extLst>
              <a:ext uri="{FF2B5EF4-FFF2-40B4-BE49-F238E27FC236}">
                <a16:creationId xmlns:a16="http://schemas.microsoft.com/office/drawing/2014/main" id="{C96B5F3C-4B90-49A2-BFC0-60FC1EF9B1D8}"/>
              </a:ext>
            </a:extLst>
          </p:cNvPr>
          <p:cNvCxnSpPr/>
          <p:nvPr/>
        </p:nvCxnSpPr>
        <p:spPr>
          <a:xfrm>
            <a:off x="1628775" y="2524125"/>
            <a:ext cx="381000" cy="390525"/>
          </a:xfrm>
          <a:prstGeom prst="line">
            <a:avLst/>
          </a:prstGeom>
          <a:ln w="31750" cap="flat">
            <a:solidFill>
              <a:srgbClr val="F0A63C"/>
            </a:solidFill>
          </a:ln>
        </p:spPr>
      </p:cxnSp>
      <p:cxnSp>
        <p:nvCxnSpPr>
          <p:cNvPr id="33" name="Straight Connector 33">
            <a:extLst>
              <a:ext uri="{FF2B5EF4-FFF2-40B4-BE49-F238E27FC236}">
                <a16:creationId xmlns:a16="http://schemas.microsoft.com/office/drawing/2014/main" id="{23DCD7A1-0AFD-4A9A-A671-E6E96DA4996D}"/>
              </a:ext>
            </a:extLst>
          </p:cNvPr>
          <p:cNvCxnSpPr/>
          <p:nvPr/>
        </p:nvCxnSpPr>
        <p:spPr>
          <a:xfrm>
            <a:off x="2009775" y="2914650"/>
            <a:ext cx="390525" cy="133350"/>
          </a:xfrm>
          <a:prstGeom prst="line">
            <a:avLst/>
          </a:prstGeom>
          <a:ln w="31750" cap="flat">
            <a:solidFill>
              <a:srgbClr val="F0A63C"/>
            </a:solidFill>
          </a:ln>
        </p:spPr>
      </p:cxnSp>
      <p:cxnSp>
        <p:nvCxnSpPr>
          <p:cNvPr id="34" name="Straight Connector 34">
            <a:extLst>
              <a:ext uri="{FF2B5EF4-FFF2-40B4-BE49-F238E27FC236}">
                <a16:creationId xmlns:a16="http://schemas.microsoft.com/office/drawing/2014/main" id="{3FB8FF38-98F4-4481-881F-4AEB8177EA8E}"/>
              </a:ext>
            </a:extLst>
          </p:cNvPr>
          <p:cNvCxnSpPr/>
          <p:nvPr/>
        </p:nvCxnSpPr>
        <p:spPr>
          <a:xfrm>
            <a:off x="2400300" y="3048000"/>
            <a:ext cx="5029200" cy="66675"/>
          </a:xfrm>
          <a:prstGeom prst="line">
            <a:avLst/>
          </a:prstGeom>
          <a:ln w="31750" cap="flat">
            <a:solidFill>
              <a:srgbClr val="F0A63C"/>
            </a:solidFill>
          </a:ln>
        </p:spPr>
      </p:cxnSp>
      <p:sp>
        <p:nvSpPr>
          <p:cNvPr id="35" name="Shape 35">
            <a:extLst>
              <a:ext uri="{FF2B5EF4-FFF2-40B4-BE49-F238E27FC236}">
                <a16:creationId xmlns:a16="http://schemas.microsoft.com/office/drawing/2014/main" id="{B4500E0C-49D0-402D-BED0-691983108DBC}"/>
              </a:ext>
            </a:extLst>
          </p:cNvPr>
          <p:cNvSpPr/>
          <p:nvPr/>
        </p:nvSpPr>
        <p:spPr>
          <a:xfrm>
            <a:off x="7429500" y="3095625"/>
            <a:ext cx="381000" cy="14288"/>
          </a:xfrm>
          <a:prstGeom prst="rect">
            <a:avLst/>
          </a:prstGeom>
          <a:solidFill>
            <a:srgbClr val="F0A63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41D08CF4-F109-44AD-AB16-C38BE720004F}"/>
              </a:ext>
            </a:extLst>
          </p:cNvPr>
          <p:cNvSpPr/>
          <p:nvPr/>
        </p:nvSpPr>
        <p:spPr>
          <a:xfrm>
            <a:off x="8420100" y="1333500"/>
            <a:ext cx="31623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F4F6D93-6508-4A38-AADC-9DC7B8276987}"/>
              </a:ext>
            </a:extLst>
          </p:cNvPr>
          <p:cNvSpPr txBox="1"/>
          <p:nvPr/>
        </p:nvSpPr>
        <p:spPr>
          <a:xfrm>
            <a:off x="8610600" y="152400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训练损失（第 10 轮）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D6CD368-3682-4B2F-90DD-68B365DFA725}"/>
              </a:ext>
            </a:extLst>
          </p:cNvPr>
          <p:cNvSpPr txBox="1"/>
          <p:nvPr/>
        </p:nvSpPr>
        <p:spPr>
          <a:xfrm>
            <a:off x="8610600" y="1809750"/>
            <a:ext cx="27813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</a:rPr>
              <a:t>0.391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65D0E34E-AF38-4827-8D62-F90B53D91251}"/>
              </a:ext>
            </a:extLst>
          </p:cNvPr>
          <p:cNvSpPr txBox="1"/>
          <p:nvPr/>
        </p:nvSpPr>
        <p:spPr>
          <a:xfrm>
            <a:off x="8610600" y="240030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初始 9.781，下降约 96%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65F3CA0F-2408-4510-95C6-E01EA3A53781}"/>
              </a:ext>
            </a:extLst>
          </p:cNvPr>
          <p:cNvSpPr/>
          <p:nvPr/>
        </p:nvSpPr>
        <p:spPr>
          <a:xfrm>
            <a:off x="8420100" y="2952750"/>
            <a:ext cx="31623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CCFE9C2-545D-4006-91FD-C5CEA9D2246E}"/>
              </a:ext>
            </a:extLst>
          </p:cNvPr>
          <p:cNvSpPr txBox="1"/>
          <p:nvPr/>
        </p:nvSpPr>
        <p:spPr>
          <a:xfrm>
            <a:off x="8610600" y="31432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验证损失（第 10 轮）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1421CA9B-BE02-4079-B76A-83F8E72388C3}"/>
              </a:ext>
            </a:extLst>
          </p:cNvPr>
          <p:cNvSpPr txBox="1"/>
          <p:nvPr/>
        </p:nvSpPr>
        <p:spPr>
          <a:xfrm>
            <a:off x="8610600" y="3429000"/>
            <a:ext cx="2781300" cy="548640"/>
          </a:xfrm>
        </p:spPr>
        <p:txBody>
          <a:bodyPr wrap="square" rtlCol="0" lIns="0" tIns="0" rIns="0" bIns="0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</a:rPr>
              <a:t>6.452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91487A79-CB64-480D-8E74-7EF174F752B9}"/>
              </a:ext>
            </a:extLst>
          </p:cNvPr>
          <p:cNvSpPr txBox="1"/>
          <p:nvPr/>
        </p:nvSpPr>
        <p:spPr>
          <a:xfrm>
            <a:off x="8610600" y="401955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初始 9.933，第 2 轮后停滞</a:t>
            </a: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6C20D64D-5235-4982-AA5E-17C1DDCC2B67}"/>
              </a:ext>
            </a:extLst>
          </p:cNvPr>
          <p:cNvSpPr/>
          <p:nvPr/>
        </p:nvSpPr>
        <p:spPr>
          <a:xfrm>
            <a:off x="8420100" y="4572000"/>
            <a:ext cx="31623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18745522-042A-442B-8AE3-60939873BBD9}"/>
              </a:ext>
            </a:extLst>
          </p:cNvPr>
          <p:cNvSpPr txBox="1"/>
          <p:nvPr/>
        </p:nvSpPr>
        <p:spPr>
          <a:xfrm>
            <a:off x="8610600" y="4762500"/>
            <a:ext cx="2781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生成文本的演变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8A933421-08E7-438F-82A4-4A0F4719D773}"/>
              </a:ext>
            </a:extLst>
          </p:cNvPr>
          <p:cNvSpPr txBox="1"/>
          <p:nvPr/>
        </p:nvSpPr>
        <p:spPr>
          <a:xfrm>
            <a:off x="8610600" y="5048250"/>
            <a:ext cx="27813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第 1 轮：",,,,,,,,,,"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第 2 轮："and, and, and…"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第 9–10 轮：语法正确，开始引用原文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D8437759-58EA-43D4-91FE-9848D09B7870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736C0ACE-C1DA-4D21-B076-007499579BE1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12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4D1DB04D-4519-4A5A-B0A9-863B3F382864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0255BE-23D2-4836-9BC1-BD21AE855C68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读懂曲线：过拟合与真实世界的预训练成本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A736C9F-443C-483E-BC61-E507062BB532}"/>
              </a:ext>
            </a:extLst>
          </p:cNvPr>
          <p:cNvSpPr/>
          <p:nvPr/>
        </p:nvSpPr>
        <p:spPr>
          <a:xfrm>
            <a:off x="609600" y="1333500"/>
            <a:ext cx="5905500" cy="4095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1C45EB9-649C-4455-92DF-EC27B2099DD5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过拟合信号（图 5-12 的解读）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C52BEEA-767B-485C-92AC-46CB4C41C1E5}"/>
              </a:ext>
            </a:extLst>
          </p:cNvPr>
          <p:cNvSpPr txBox="1"/>
          <p:nvPr/>
        </p:nvSpPr>
        <p:spPr>
          <a:xfrm>
            <a:off x="800100" y="1943100"/>
            <a:ext cx="55245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第 2 轮起：训练损失继续下降，验证损失停滞 —— 两条曲线发散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数据集极小（5,145 词元）+ 多轮训练 → 模型逐字记忆训练集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证据：在原文中搜索生成片段，能找到 “quite insensible to the irony”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大规模预训练通常只训练 1 个 epoch，多轮反而有害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改进方向：更多数据、更大批次、学习率预热与衰减、梯度裁剪（附录 D）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508237C-72B4-4EBE-BE2A-1C43C11C26BE}"/>
              </a:ext>
            </a:extLst>
          </p:cNvPr>
          <p:cNvSpPr/>
          <p:nvPr/>
        </p:nvSpPr>
        <p:spPr>
          <a:xfrm>
            <a:off x="6896100" y="1333500"/>
            <a:ext cx="4686300" cy="409575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F0A6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55B259D-4EF2-4B19-B9BE-B1B184954D0A}"/>
              </a:ext>
            </a:extLst>
          </p:cNvPr>
          <p:cNvSpPr txBox="1"/>
          <p:nvPr/>
        </p:nvSpPr>
        <p:spPr>
          <a:xfrm>
            <a:off x="7086600" y="15430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预训练一个 LLM 有多贵？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92F8F54-D746-4381-A54F-EB34EB4F58B2}"/>
              </a:ext>
            </a:extLst>
          </p:cNvPr>
          <p:cNvSpPr txBox="1"/>
          <p:nvPr/>
        </p:nvSpPr>
        <p:spPr>
          <a:xfrm>
            <a:off x="7086600" y="1828800"/>
            <a:ext cx="43053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400" b="1">
                <a:solidFill>
                  <a:srgbClr val="F0A63C"/>
                </a:solidFill>
                <a:latin typeface="Helvetica Neue"/>
                <a:ea typeface="Helvetica Neue"/>
              </a:rPr>
              <a:t>$690,000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63DA78F-C214-4FCC-A5DD-CCE88F65262B}"/>
              </a:ext>
            </a:extLst>
          </p:cNvPr>
          <p:cNvSpPr txBox="1"/>
          <p:nvPr/>
        </p:nvSpPr>
        <p:spPr>
          <a:xfrm>
            <a:off x="7086600" y="2857500"/>
            <a:ext cx="4305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Llama 2（7B）预训练总成本估算（本书 5.1.3 节）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0CB5A33-B263-47AE-9856-3C56CFA9F525}"/>
              </a:ext>
            </a:extLst>
          </p:cNvPr>
          <p:cNvSpPr txBox="1"/>
          <p:nvPr/>
        </p:nvSpPr>
        <p:spPr>
          <a:xfrm>
            <a:off x="7086600" y="3314700"/>
            <a:ext cx="161925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3EC6B8"/>
                </a:solidFill>
                <a:latin typeface="PingFang SC"/>
                <a:ea typeface="PingFang SC"/>
              </a:rPr>
              <a:t>2 万亿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05BC515-2035-4330-A8B6-017AE0427AC1}"/>
              </a:ext>
            </a:extLst>
          </p:cNvPr>
          <p:cNvSpPr txBox="1"/>
          <p:nvPr/>
        </p:nvSpPr>
        <p:spPr>
          <a:xfrm>
            <a:off x="8801100" y="3371850"/>
            <a:ext cx="2590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预训练处理的词元总量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A5C4EE2-E751-49A6-AB63-5D35896CFAEF}"/>
              </a:ext>
            </a:extLst>
          </p:cNvPr>
          <p:cNvSpPr txBox="1"/>
          <p:nvPr/>
        </p:nvSpPr>
        <p:spPr>
          <a:xfrm>
            <a:off x="7086600" y="3867150"/>
            <a:ext cx="161925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3EC6B8"/>
                </a:solidFill>
                <a:latin typeface="Helvetica Neue"/>
                <a:ea typeface="Helvetica Neue"/>
              </a:rPr>
              <a:t>184,320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AE0D607-EAE0-4D0E-A7A7-E2A58445FC7F}"/>
              </a:ext>
            </a:extLst>
          </p:cNvPr>
          <p:cNvSpPr txBox="1"/>
          <p:nvPr/>
        </p:nvSpPr>
        <p:spPr>
          <a:xfrm>
            <a:off x="8801100" y="3924300"/>
            <a:ext cx="2590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A100 GPU 训练小时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7953C37-9F25-453F-BBA9-BA0846750CDB}"/>
              </a:ext>
            </a:extLst>
          </p:cNvPr>
          <p:cNvSpPr txBox="1"/>
          <p:nvPr/>
        </p:nvSpPr>
        <p:spPr>
          <a:xfrm>
            <a:off x="7086600" y="4419600"/>
            <a:ext cx="161925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3EC6B8"/>
                </a:solidFill>
                <a:latin typeface="Helvetica Neue"/>
                <a:ea typeface="Helvetica Neue"/>
              </a:rPr>
              <a:t>$30 / 小时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90A99ED-AAC0-480E-8436-087CBCA43229}"/>
              </a:ext>
            </a:extLst>
          </p:cNvPr>
          <p:cNvSpPr txBox="1"/>
          <p:nvPr/>
        </p:nvSpPr>
        <p:spPr>
          <a:xfrm>
            <a:off x="8801100" y="4476750"/>
            <a:ext cx="2590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8×A100 服务器时租（184320÷8×30）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A448E53-1304-4D2E-97A5-0D489EAC631D}"/>
              </a:ext>
            </a:extLst>
          </p:cNvPr>
          <p:cNvSpPr txBox="1"/>
          <p:nvPr/>
        </p:nvSpPr>
        <p:spPr>
          <a:xfrm>
            <a:off x="7086600" y="4991100"/>
            <a:ext cx="43053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FFFFFF"/>
                </a:solidFill>
                <a:latin typeface="PingFang SC"/>
                <a:ea typeface="PingFang SC"/>
              </a:rPr>
              <a:t>教学用小数据集几分钟即可跑完 —— 对比之下，更能体会预训练的代价。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4C86AE5-E382-49C7-8287-435D280456D1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F9F46F9-1C47-47ED-BC5C-83DCCBC04518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13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32CB90F-8E6D-4889-BE93-B91302847083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9C2F57-1653-4269-85B6-48D899131AC3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解码策略：让生成摆脱“死记硬背”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A55D159-855C-4DCE-954E-924795F6E29B}"/>
              </a:ext>
            </a:extLst>
          </p:cNvPr>
          <p:cNvSpPr/>
          <p:nvPr/>
        </p:nvSpPr>
        <p:spPr>
          <a:xfrm>
            <a:off x="609600" y="1333500"/>
            <a:ext cx="5334000" cy="2857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01457F-B24E-4166-A513-E07DB3A2C684}"/>
              </a:ext>
            </a:extLst>
          </p:cNvPr>
          <p:cNvSpPr txBox="1"/>
          <p:nvPr/>
        </p:nvSpPr>
        <p:spPr>
          <a:xfrm>
            <a:off x="800100" y="15430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贪心解码的问题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63C460C-939F-4A53-8B16-80D9D068EB25}"/>
              </a:ext>
            </a:extLst>
          </p:cNvPr>
          <p:cNvSpPr txBox="1"/>
          <p:nvPr/>
        </p:nvSpPr>
        <p:spPr>
          <a:xfrm>
            <a:off x="800100" y="1885950"/>
            <a:ext cx="4953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 i="1">
                <a:solidFill>
                  <a:srgbClr val="F0A63C"/>
                </a:solidFill>
                <a:latin typeface="Helvetica Neue"/>
                <a:ea typeface="Helvetica Neue"/>
              </a:rPr>
              <a:t>输出：“Every effort moves you know,” was one of the axioms he laid down across the…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CB75DC4-A5C5-4035-8D2F-12F67E96F8CB}"/>
              </a:ext>
            </a:extLst>
          </p:cNvPr>
          <p:cNvSpPr txBox="1"/>
          <p:nvPr/>
        </p:nvSpPr>
        <p:spPr>
          <a:xfrm>
            <a:off x="800100" y="2552700"/>
            <a:ext cx="49530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argmax 每步都选概率最大的词元（贪婪解码）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相同输入永远得到相同输出，毫无变化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· 小模型直接逐字复述训练集中记住的段落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8A64940-505E-46F8-AD4C-F40D7998C681}"/>
              </a:ext>
            </a:extLst>
          </p:cNvPr>
          <p:cNvSpPr/>
          <p:nvPr/>
        </p:nvSpPr>
        <p:spPr>
          <a:xfrm>
            <a:off x="6324600" y="1333500"/>
            <a:ext cx="5257800" cy="2857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05E57E5-59B8-485A-A8E1-CD68CB258CC7}"/>
              </a:ext>
            </a:extLst>
          </p:cNvPr>
          <p:cNvSpPr txBox="1"/>
          <p:nvPr/>
        </p:nvSpPr>
        <p:spPr>
          <a:xfrm>
            <a:off x="6515100" y="15430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两种改进手段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F6268D3-686B-4D44-9467-664A31E7441E}"/>
              </a:ext>
            </a:extLst>
          </p:cNvPr>
          <p:cNvSpPr txBox="1"/>
          <p:nvPr/>
        </p:nvSpPr>
        <p:spPr>
          <a:xfrm>
            <a:off x="6515100" y="1885950"/>
            <a:ext cx="4876800" cy="2095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· 温度缩放</a:t>
            </a: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　给 logits 除以温度 T，重塑概率分布的形状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· Top-k 采样</a:t>
            </a: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　只在概率最高的前 k 个候选词元中采样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FFFFF"/>
                </a:solidFill>
                <a:latin typeface="PingFang SC"/>
                <a:ea typeface="PingFang SC"/>
              </a:rPr>
              <a:t>· 组合进新的 generate 函数</a:t>
            </a: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　兼顾连贯性与多样性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6C52BC2-2D25-471C-8E76-8D8F4CDDA92F}"/>
              </a:ext>
            </a:extLst>
          </p:cNvPr>
          <p:cNvSpPr/>
          <p:nvPr/>
        </p:nvSpPr>
        <p:spPr>
          <a:xfrm>
            <a:off x="609600" y="4476750"/>
            <a:ext cx="10972800" cy="1333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3A9220-AE9C-4CAF-B011-00CC1A7592B5}"/>
              </a:ext>
            </a:extLst>
          </p:cNvPr>
          <p:cNvSpPr txBox="1"/>
          <p:nvPr/>
        </p:nvSpPr>
        <p:spPr>
          <a:xfrm>
            <a:off x="838200" y="46863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本节核心问题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ECFBB5C-413A-42BB-84E7-CCD5A2B8D259}"/>
              </a:ext>
            </a:extLst>
          </p:cNvPr>
          <p:cNvSpPr txBox="1"/>
          <p:nvPr/>
        </p:nvSpPr>
        <p:spPr>
          <a:xfrm>
            <a:off x="838200" y="5010150"/>
            <a:ext cx="105156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FFFFFF"/>
                </a:solidFill>
                <a:latin typeface="PingFang SC"/>
                <a:ea typeface="PingFang SC"/>
              </a:rPr>
              <a:t>如何在“确定但死板”与“多样但失控”之间取得平衡？—— 先引入温度缩放，再用 Top-k 采样圈定候选范围。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8610C13-67F6-4923-AA2B-9CCEB441EC20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4B5A979-7D57-4981-A80B-0641B99C23F7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14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3757B66-4072-4625-A2AF-3893DBA4B74F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5.3.1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BB93758-BB90-4D6F-A94C-96154EACC167}"/>
              </a:ext>
            </a:extLst>
          </p:cNvPr>
          <p:cNvSpPr txBox="1"/>
          <p:nvPr/>
        </p:nvSpPr>
        <p:spPr>
          <a:xfrm>
            <a:off x="15430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温度缩放：T 控制概率分布的“形状”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E8CDDB0-AEFC-4FEF-9691-BD557E70D109}"/>
              </a:ext>
            </a:extLst>
          </p:cNvPr>
          <p:cNvSpPr/>
          <p:nvPr/>
        </p:nvSpPr>
        <p:spPr>
          <a:xfrm>
            <a:off x="609600" y="1333500"/>
            <a:ext cx="3505200" cy="161925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3EC6B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4A510E-26E4-4C5E-8FEF-961E532B1C17}"/>
              </a:ext>
            </a:extLst>
          </p:cNvPr>
          <p:cNvSpPr txBox="1"/>
          <p:nvPr/>
        </p:nvSpPr>
        <p:spPr>
          <a:xfrm>
            <a:off x="800100" y="154305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EC6B8"/>
                </a:solidFill>
                <a:latin typeface="Helvetica Neue"/>
                <a:ea typeface="Helvetica Neue"/>
              </a:rPr>
              <a:t>T &lt; 1 低温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27B366-C926-4F51-8D10-E5D8EA636673}"/>
              </a:ext>
            </a:extLst>
          </p:cNvPr>
          <p:cNvSpPr txBox="1"/>
          <p:nvPr/>
        </p:nvSpPr>
        <p:spPr>
          <a:xfrm>
            <a:off x="800100" y="1905000"/>
            <a:ext cx="31242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分布更集中：几乎总是选中最可能的词元，行为接近贪心解码。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83D0230-D22E-4334-97AE-7F0849BEB5EC}"/>
              </a:ext>
            </a:extLst>
          </p:cNvPr>
          <p:cNvSpPr/>
          <p:nvPr/>
        </p:nvSpPr>
        <p:spPr>
          <a:xfrm>
            <a:off x="4343400" y="1333500"/>
            <a:ext cx="3505200" cy="1619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3405279-62DB-4EE5-92FB-517F4B6D5DBD}"/>
              </a:ext>
            </a:extLst>
          </p:cNvPr>
          <p:cNvSpPr txBox="1"/>
          <p:nvPr/>
        </p:nvSpPr>
        <p:spPr>
          <a:xfrm>
            <a:off x="4533900" y="154305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</a:rPr>
              <a:t>T = 1 原始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8B213A6-98FD-4AB1-A3F0-37D298145522}"/>
              </a:ext>
            </a:extLst>
          </p:cNvPr>
          <p:cNvSpPr txBox="1"/>
          <p:nvPr/>
        </p:nvSpPr>
        <p:spPr>
          <a:xfrm>
            <a:off x="4533900" y="1905000"/>
            <a:ext cx="31242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不做缩放，按模型输出的原始 softmax 概率采样。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2369610-C02D-4CAF-A26D-F0D865C79FDF}"/>
              </a:ext>
            </a:extLst>
          </p:cNvPr>
          <p:cNvSpPr/>
          <p:nvPr/>
        </p:nvSpPr>
        <p:spPr>
          <a:xfrm>
            <a:off x="8077200" y="1333500"/>
            <a:ext cx="3505200" cy="161925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F0A6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D533B51-4695-4BE8-B96C-98E321ED206F}"/>
              </a:ext>
            </a:extLst>
          </p:cNvPr>
          <p:cNvSpPr txBox="1"/>
          <p:nvPr/>
        </p:nvSpPr>
        <p:spPr>
          <a:xfrm>
            <a:off x="8267700" y="154305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0A63C"/>
                </a:solidFill>
                <a:latin typeface="Helvetica Neue"/>
                <a:ea typeface="Helvetica Neue"/>
              </a:rPr>
              <a:t>T &gt; 1 高温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194C443-84CC-42BC-A6E2-5F5C6F564678}"/>
              </a:ext>
            </a:extLst>
          </p:cNvPr>
          <p:cNvSpPr txBox="1"/>
          <p:nvPr/>
        </p:nvSpPr>
        <p:spPr>
          <a:xfrm>
            <a:off x="8267700" y="1905000"/>
            <a:ext cx="31242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分布更均匀：多样性增加，但可能失控（T=5 时约 4% 生成 “you pizza”）。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F09DB86-5821-49D2-9245-D891AE80F071}"/>
              </a:ext>
            </a:extLst>
          </p:cNvPr>
          <p:cNvSpPr/>
          <p:nvPr/>
        </p:nvSpPr>
        <p:spPr>
          <a:xfrm>
            <a:off x="609600" y="3238500"/>
            <a:ext cx="10972800" cy="2857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33C6EF8-9B1B-4FCB-8060-9C935F5F1024}"/>
              </a:ext>
            </a:extLst>
          </p:cNvPr>
          <p:cNvSpPr txBox="1"/>
          <p:nvPr/>
        </p:nvSpPr>
        <p:spPr>
          <a:xfrm>
            <a:off x="800100" y="3448050"/>
            <a:ext cx="762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实验：同一组 logits 用 multinomial 采样 1000 次的词元频数（9 词小词汇表）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CF4F43D-7C97-494F-A413-006EC3CCCC29}"/>
              </a:ext>
            </a:extLst>
          </p:cNvPr>
          <p:cNvSpPr txBox="1"/>
          <p:nvPr/>
        </p:nvSpPr>
        <p:spPr>
          <a:xfrm>
            <a:off x="800100" y="3981450"/>
            <a:ext cx="857250" cy="19812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</a:rPr>
              <a:t>forward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8E44167-30EC-425C-96FB-1B7460B4E479}"/>
              </a:ext>
            </a:extLst>
          </p:cNvPr>
          <p:cNvSpPr/>
          <p:nvPr/>
        </p:nvSpPr>
        <p:spPr>
          <a:xfrm>
            <a:off x="1809750" y="3905250"/>
            <a:ext cx="5905500" cy="323850"/>
          </a:xfrm>
          <a:prstGeom prst="rect">
            <a:avLst/>
          </a:prstGeom>
          <a:solidFill>
            <a:srgbClr val="1623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1CB628C8-2274-43B5-91F7-A8BE1B8F8910}"/>
              </a:ext>
            </a:extLst>
          </p:cNvPr>
          <p:cNvSpPr/>
          <p:nvPr/>
        </p:nvSpPr>
        <p:spPr>
          <a:xfrm>
            <a:off x="1809750" y="3905250"/>
            <a:ext cx="5905500" cy="323850"/>
          </a:xfrm>
          <a:prstGeom prst="rect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1A7164F-BAF0-42D3-B948-FB4DC109AF7A}"/>
              </a:ext>
            </a:extLst>
          </p:cNvPr>
          <p:cNvSpPr txBox="1"/>
          <p:nvPr/>
        </p:nvSpPr>
        <p:spPr>
          <a:xfrm>
            <a:off x="7810500" y="39814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582 次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60D0E75-D962-4131-880B-3B7CE951AFC6}"/>
              </a:ext>
            </a:extLst>
          </p:cNvPr>
          <p:cNvSpPr txBox="1"/>
          <p:nvPr/>
        </p:nvSpPr>
        <p:spPr>
          <a:xfrm>
            <a:off x="800100" y="4476750"/>
            <a:ext cx="857250" cy="19812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</a:rPr>
              <a:t>toward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DC99D72-902F-413C-961A-6A9F1EAC61DF}"/>
              </a:ext>
            </a:extLst>
          </p:cNvPr>
          <p:cNvSpPr/>
          <p:nvPr/>
        </p:nvSpPr>
        <p:spPr>
          <a:xfrm>
            <a:off x="1809750" y="4400550"/>
            <a:ext cx="5905500" cy="323850"/>
          </a:xfrm>
          <a:prstGeom prst="rect">
            <a:avLst/>
          </a:prstGeom>
          <a:solidFill>
            <a:srgbClr val="1623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87F3A5A-FC77-443E-A0D1-617D4BADE12A}"/>
              </a:ext>
            </a:extLst>
          </p:cNvPr>
          <p:cNvSpPr/>
          <p:nvPr/>
        </p:nvSpPr>
        <p:spPr>
          <a:xfrm>
            <a:off x="1809750" y="4400550"/>
            <a:ext cx="3476625" cy="323850"/>
          </a:xfrm>
          <a:prstGeom prst="rect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03AD614-310B-419C-9D0F-42A4AA1FD9A3}"/>
              </a:ext>
            </a:extLst>
          </p:cNvPr>
          <p:cNvSpPr txBox="1"/>
          <p:nvPr/>
        </p:nvSpPr>
        <p:spPr>
          <a:xfrm>
            <a:off x="5400675" y="44767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343 次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DCD8426-3616-471C-9ACB-4234294DFE68}"/>
              </a:ext>
            </a:extLst>
          </p:cNvPr>
          <p:cNvSpPr txBox="1"/>
          <p:nvPr/>
        </p:nvSpPr>
        <p:spPr>
          <a:xfrm>
            <a:off x="800100" y="4972050"/>
            <a:ext cx="857250" cy="19812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</a:rPr>
              <a:t>closer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4AAF11C9-A0F3-4E46-B884-944EBDEA174F}"/>
              </a:ext>
            </a:extLst>
          </p:cNvPr>
          <p:cNvSpPr/>
          <p:nvPr/>
        </p:nvSpPr>
        <p:spPr>
          <a:xfrm>
            <a:off x="1809750" y="4895850"/>
            <a:ext cx="5905500" cy="323850"/>
          </a:xfrm>
          <a:prstGeom prst="rect">
            <a:avLst/>
          </a:prstGeom>
          <a:solidFill>
            <a:srgbClr val="1623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9DE2CCDC-EE84-4D26-B915-38133F4A5BCE}"/>
              </a:ext>
            </a:extLst>
          </p:cNvPr>
          <p:cNvSpPr/>
          <p:nvPr/>
        </p:nvSpPr>
        <p:spPr>
          <a:xfrm>
            <a:off x="1809750" y="4895850"/>
            <a:ext cx="742950" cy="323850"/>
          </a:xfrm>
          <a:prstGeom prst="rect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3F7EAA8-1639-4E4C-9E9B-93B69626EF21}"/>
              </a:ext>
            </a:extLst>
          </p:cNvPr>
          <p:cNvSpPr txBox="1"/>
          <p:nvPr/>
        </p:nvSpPr>
        <p:spPr>
          <a:xfrm>
            <a:off x="2667000" y="49720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73 次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D0EAE77-4ACC-4377-993C-08490D5A730F}"/>
              </a:ext>
            </a:extLst>
          </p:cNvPr>
          <p:cNvSpPr txBox="1"/>
          <p:nvPr/>
        </p:nvSpPr>
        <p:spPr>
          <a:xfrm>
            <a:off x="800100" y="5467350"/>
            <a:ext cx="857250" cy="19812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  <a:ea typeface="Helvetica Neue"/>
              </a:rPr>
              <a:t>inches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AE8986B5-B39B-4DD8-94EF-2AD3E7A960E1}"/>
              </a:ext>
            </a:extLst>
          </p:cNvPr>
          <p:cNvSpPr/>
          <p:nvPr/>
        </p:nvSpPr>
        <p:spPr>
          <a:xfrm>
            <a:off x="1809750" y="5391150"/>
            <a:ext cx="5905500" cy="323850"/>
          </a:xfrm>
          <a:prstGeom prst="rect">
            <a:avLst/>
          </a:prstGeom>
          <a:solidFill>
            <a:srgbClr val="1623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49CB4E56-7FFB-4198-B06B-8B562CB5367A}"/>
              </a:ext>
            </a:extLst>
          </p:cNvPr>
          <p:cNvSpPr/>
          <p:nvPr/>
        </p:nvSpPr>
        <p:spPr>
          <a:xfrm>
            <a:off x="1809750" y="5391150"/>
            <a:ext cx="28575" cy="323850"/>
          </a:xfrm>
          <a:prstGeom prst="rect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EC5CB0D-959E-4EB0-98F8-C97D91E7C931}"/>
              </a:ext>
            </a:extLst>
          </p:cNvPr>
          <p:cNvSpPr txBox="1"/>
          <p:nvPr/>
        </p:nvSpPr>
        <p:spPr>
          <a:xfrm>
            <a:off x="1933575" y="54673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2 次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31B6510-CEE5-40C4-ADE6-B076A880041A}"/>
              </a:ext>
            </a:extLst>
          </p:cNvPr>
          <p:cNvSpPr txBox="1"/>
          <p:nvPr/>
        </p:nvSpPr>
        <p:spPr>
          <a:xfrm>
            <a:off x="800100" y="5829300"/>
            <a:ext cx="10515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B6B85"/>
                </a:solidFill>
                <a:latin typeface="PingFang SC"/>
                <a:ea typeface="PingFang SC"/>
              </a:rPr>
              <a:t>其余词元（every / effort / moves / pizza / you）在 1000 次采样中均为 0 次 —— 概率采样让次优词元也有机会被选中。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E486C7F-7C0F-44ED-9FF6-65A10C6F2ACA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7B0497DF-3263-4CB3-A8FD-B676094D254F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15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51DE04B-C57A-4AD1-B292-C60611EE7CF0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5.3.2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431343-F265-4686-AB04-A9C5FABAAC5E}"/>
              </a:ext>
            </a:extLst>
          </p:cNvPr>
          <p:cNvSpPr txBox="1"/>
          <p:nvPr/>
        </p:nvSpPr>
        <p:spPr>
          <a:xfrm>
            <a:off x="15430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Top-k 采样：只在头部候选中采样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E4C20D1-4ED7-4484-B276-326795C38DFA}"/>
              </a:ext>
            </a:extLst>
          </p:cNvPr>
          <p:cNvSpPr/>
          <p:nvPr/>
        </p:nvSpPr>
        <p:spPr>
          <a:xfrm>
            <a:off x="609600" y="1333500"/>
            <a:ext cx="6096000" cy="4095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7A5E41-6CDC-4C32-9466-2B59A4BDF9D6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四步完成 Top-k（示例：k = 3，9 词词汇表）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21DB24-25D5-4DC2-9ED2-86BEFBA47058}"/>
              </a:ext>
            </a:extLst>
          </p:cNvPr>
          <p:cNvSpPr txBox="1"/>
          <p:nvPr/>
        </p:nvSpPr>
        <p:spPr>
          <a:xfrm>
            <a:off x="800100" y="1924050"/>
            <a:ext cx="5715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EC6B8"/>
                </a:solidFill>
                <a:latin typeface="PingFang SC"/>
                <a:ea typeface="PingFang SC"/>
              </a:rPr>
              <a:t>① </a:t>
            </a:r>
            <a:r>
              <a:rPr sz="1300">
                <a:solidFill>
                  <a:srgbClr val="FFFFFF"/>
                </a:solidFill>
                <a:latin typeface="PingFang SC"/>
                <a:ea typeface="PingFang SC"/>
              </a:rPr>
              <a:t>取前 k 个 logits：torch.topk → 6.75 / 6.28 / 4.51（forward / toward / closer）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E3BAF61-0E95-4095-A436-563CE20C4760}"/>
              </a:ext>
            </a:extLst>
          </p:cNvPr>
          <p:cNvSpPr txBox="1"/>
          <p:nvPr/>
        </p:nvSpPr>
        <p:spPr>
          <a:xfrm>
            <a:off x="800100" y="2514600"/>
            <a:ext cx="5715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EC6B8"/>
                </a:solidFill>
                <a:latin typeface="PingFang SC"/>
                <a:ea typeface="PingFang SC"/>
              </a:rPr>
              <a:t>② </a:t>
            </a:r>
            <a:r>
              <a:rPr sz="1300">
                <a:solidFill>
                  <a:srgbClr val="FFFFFF"/>
                </a:solidFill>
                <a:latin typeface="PingFang SC"/>
                <a:ea typeface="PingFang SC"/>
              </a:rPr>
              <a:t>掩码：其余 logits 全部设为 −inf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ED7D74-0692-44B8-B080-495003F651B9}"/>
              </a:ext>
            </a:extLst>
          </p:cNvPr>
          <p:cNvSpPr txBox="1"/>
          <p:nvPr/>
        </p:nvSpPr>
        <p:spPr>
          <a:xfrm>
            <a:off x="800100" y="2857500"/>
            <a:ext cx="5715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EC6B8"/>
                </a:solidFill>
                <a:latin typeface="PingFang SC"/>
                <a:ea typeface="PingFang SC"/>
              </a:rPr>
              <a:t>③ </a:t>
            </a:r>
            <a:r>
              <a:rPr sz="1300">
                <a:solidFill>
                  <a:srgbClr val="FFFFFF"/>
                </a:solidFill>
                <a:latin typeface="PingFang SC"/>
                <a:ea typeface="PingFang SC"/>
              </a:rPr>
              <a:t>softmax → 概率 [0.5775, 0.3610, 0.0615]，总和为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B4684D3-78E6-4B8B-B703-EB58CFEEC9DA}"/>
              </a:ext>
            </a:extLst>
          </p:cNvPr>
          <p:cNvSpPr txBox="1"/>
          <p:nvPr/>
        </p:nvSpPr>
        <p:spPr>
          <a:xfrm>
            <a:off x="800100" y="3200400"/>
            <a:ext cx="57150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EC6B8"/>
                </a:solidFill>
                <a:latin typeface="PingFang SC"/>
                <a:ea typeface="PingFang SC"/>
              </a:rPr>
              <a:t>④ </a:t>
            </a:r>
            <a:r>
              <a:rPr sz="1300">
                <a:solidFill>
                  <a:srgbClr val="FFFFFF"/>
                </a:solidFill>
                <a:latin typeface="PingFang SC"/>
                <a:ea typeface="PingFang SC"/>
              </a:rPr>
              <a:t>按概率采样：结合温度 T，用 multinomial 选出下一个词元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D3A54CD-C2BA-408D-9BCE-DFB652ABF6AF}"/>
              </a:ext>
            </a:extLst>
          </p:cNvPr>
          <p:cNvSpPr/>
          <p:nvPr/>
        </p:nvSpPr>
        <p:spPr>
          <a:xfrm>
            <a:off x="800100" y="4095750"/>
            <a:ext cx="5715000" cy="104775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29A49AA-BEA5-4B20-AD65-08DC3F353A31}"/>
              </a:ext>
            </a:extLst>
          </p:cNvPr>
          <p:cNvSpPr txBox="1"/>
          <p:nvPr/>
        </p:nvSpPr>
        <p:spPr>
          <a:xfrm>
            <a:off x="990600" y="4305300"/>
            <a:ext cx="5334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new_logits = torch.where(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logits &lt; top_logits[-1], float('-inf'), logits)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37D6FF3-EB0E-46EC-909F-E452AE4C9E2E}"/>
              </a:ext>
            </a:extLst>
          </p:cNvPr>
          <p:cNvSpPr/>
          <p:nvPr/>
        </p:nvSpPr>
        <p:spPr>
          <a:xfrm>
            <a:off x="7086600" y="1333500"/>
            <a:ext cx="4495800" cy="4095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08FC50F-263E-4813-95CB-5ADD0BC97A14}"/>
              </a:ext>
            </a:extLst>
          </p:cNvPr>
          <p:cNvSpPr txBox="1"/>
          <p:nvPr/>
        </p:nvSpPr>
        <p:spPr>
          <a:xfrm>
            <a:off x="7277100" y="154305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为什么有效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25B0BB5-9D72-4011-AD34-2C07240180BB}"/>
              </a:ext>
            </a:extLst>
          </p:cNvPr>
          <p:cNvSpPr txBox="1"/>
          <p:nvPr/>
        </p:nvSpPr>
        <p:spPr>
          <a:xfrm>
            <a:off x="7277100" y="1885950"/>
            <a:ext cx="4114800" cy="3238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低概率胡话词元（如 pizza）概率直接归零，不可能被选中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候选集内仍按概率 + 温度采样，保留多样性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k 越小越保守，k 越大越发散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与温度缩放互补：一个圈定候选范围，一个调节分布形状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现代 LLM 的 temperature + top_k / top_p 组合策略即源于此思想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944CA27-0CF5-47C9-9E05-0AAA2361058B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DDD9230-77B4-4826-81D8-355A5ADCAF00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16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A3F3169-D736-4249-B316-F39B4AC84FC6}"/>
              </a:ext>
            </a:extLst>
          </p:cNvPr>
          <p:cNvSpPr/>
          <p:nvPr/>
        </p:nvSpPr>
        <p:spPr>
          <a:xfrm>
            <a:off x="609600" y="495300"/>
            <a:ext cx="8001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5.3.3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8991BD1-E4A8-4C7C-B158-89E62F5C2B7B}"/>
              </a:ext>
            </a:extLst>
          </p:cNvPr>
          <p:cNvSpPr txBox="1"/>
          <p:nvPr/>
        </p:nvSpPr>
        <p:spPr>
          <a:xfrm>
            <a:off x="15430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新的 generate 函数：温度 + Top-k 组合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B3B2F29-3C40-4593-ABC8-02560D51A7EF}"/>
              </a:ext>
            </a:extLst>
          </p:cNvPr>
          <p:cNvSpPr/>
          <p:nvPr/>
        </p:nvSpPr>
        <p:spPr>
          <a:xfrm>
            <a:off x="609600" y="1333500"/>
            <a:ext cx="5905500" cy="4286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90E0CA9-E624-4463-BD7C-46952D79F684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代码清单 5-4（精简）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D7A0A3F-BCD0-4390-A401-001856ABCF33}"/>
              </a:ext>
            </a:extLst>
          </p:cNvPr>
          <p:cNvSpPr txBox="1"/>
          <p:nvPr/>
        </p:nvSpPr>
        <p:spPr>
          <a:xfrm>
            <a:off x="800100" y="1866900"/>
            <a:ext cx="55245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def generate(model, idx, max_new_tokens, context_size,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 temperature=0.0, top_k=None, eos_id=None):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for _ in range(max_new_tokens):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logits = model(idx[:, -context_size:])[:, -1, :]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if top_k is not None:                 # ① Top-k 掩码</a:t>
            </a:r>
            <a:r>
              <a:rPr sz="1150">
                <a:solidFill>
                  <a:srgbClr val="F0A63C"/>
                </a:solidFill>
                <a:latin typeface="PingFang SC"/>
                <a:ea typeface="PingFang SC"/>
              </a:rPr>
              <a:t> ① Top-k 掩码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top_logits, _ = torch.topk(logits, top_k)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min_val = top_logits[:, -1]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logits = torch.where(logits &lt; min_val, -inf, logits)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if temperature &gt; 0.0:                 # ② 温度 + 采样</a:t>
            </a:r>
            <a:r>
              <a:rPr sz="1150">
                <a:solidFill>
                  <a:srgbClr val="F0A63C"/>
                </a:solidFill>
                <a:latin typeface="PingFang SC"/>
                <a:ea typeface="PingFang SC"/>
              </a:rPr>
              <a:t> ② 温度 + 采样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probs = torch.softmax(logits / temperature, -1)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idx_next = torch.multinomial(probs, 1)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else:                                 # ③ 退化：贪心</a:t>
            </a:r>
            <a:r>
              <a:rPr sz="1150">
                <a:solidFill>
                  <a:srgbClr val="F0A63C"/>
                </a:solidFill>
                <a:latin typeface="PingFang SC"/>
                <a:ea typeface="PingFang SC"/>
              </a:rPr>
              <a:t> ③ 退化为贪心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    idx_next = torch.argmax(logits, -1, keepdim=True)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if idx_next == eos_id: break          # ④ 提前结束</a:t>
            </a:r>
            <a:r>
              <a:rPr sz="1150">
                <a:solidFill>
                  <a:srgbClr val="F0A63C"/>
                </a:solidFill>
                <a:latin typeface="PingFang SC"/>
                <a:ea typeface="PingFang SC"/>
              </a:rPr>
              <a:t> ④ 遇到结束词元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    idx = torch.cat((idx, idx_next), dim=1)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D8E2F0"/>
                </a:solidFill>
                <a:latin typeface="Helvetica Neue"/>
                <a:ea typeface="Helvetica Neue"/>
              </a:rPr>
              <a:t>    return idx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44A0E3C-0AD7-43F4-AB6F-B921F15380D4}"/>
              </a:ext>
            </a:extLst>
          </p:cNvPr>
          <p:cNvSpPr/>
          <p:nvPr/>
        </p:nvSpPr>
        <p:spPr>
          <a:xfrm>
            <a:off x="6896100" y="1333500"/>
            <a:ext cx="4686300" cy="2000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801650C-432E-4D8D-B263-6314DE9F0A34}"/>
              </a:ext>
            </a:extLst>
          </p:cNvPr>
          <p:cNvSpPr txBox="1"/>
          <p:nvPr/>
        </p:nvSpPr>
        <p:spPr>
          <a:xfrm>
            <a:off x="7086600" y="1524000"/>
            <a:ext cx="4305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贪心（temperature = 0）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D619B1-A1D1-40AF-B5A7-E8407B0987C3}"/>
              </a:ext>
            </a:extLst>
          </p:cNvPr>
          <p:cNvSpPr txBox="1"/>
          <p:nvPr/>
        </p:nvSpPr>
        <p:spPr>
          <a:xfrm>
            <a:off x="7086600" y="1847850"/>
            <a:ext cx="43053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 i="1">
                <a:solidFill>
                  <a:srgbClr val="FFFFFF"/>
                </a:solidFill>
                <a:latin typeface="Helvetica Neue"/>
                <a:ea typeface="Helvetica Neue"/>
              </a:rPr>
              <a:t>“Every effort moves you know,” was one of the axioms he laid down across the Sevres and silver…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BCFCD99-125D-45BB-904A-44956A79E24D}"/>
              </a:ext>
            </a:extLst>
          </p:cNvPr>
          <p:cNvSpPr txBox="1"/>
          <p:nvPr/>
        </p:nvSpPr>
        <p:spPr>
          <a:xfrm>
            <a:off x="7086600" y="2724150"/>
            <a:ext cx="4305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—— 与训练集记忆一致，输出死板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1D76A88-2722-4780-BB0D-24C6CDFDB2DF}"/>
              </a:ext>
            </a:extLst>
          </p:cNvPr>
          <p:cNvSpPr/>
          <p:nvPr/>
        </p:nvSpPr>
        <p:spPr>
          <a:xfrm>
            <a:off x="6896100" y="3524250"/>
            <a:ext cx="4686300" cy="209550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F0A6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352953-DE7A-4A35-A76A-A7D79129C506}"/>
              </a:ext>
            </a:extLst>
          </p:cNvPr>
          <p:cNvSpPr txBox="1"/>
          <p:nvPr/>
        </p:nvSpPr>
        <p:spPr>
          <a:xfrm>
            <a:off x="7086600" y="3714750"/>
            <a:ext cx="43053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Helvetica Neue"/>
                <a:ea typeface="Helvetica Neue"/>
              </a:rPr>
              <a:t>采样（top_k = 25, T = 1.4）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35A52BA-65B3-4C92-84FD-B0A564F8FF11}"/>
              </a:ext>
            </a:extLst>
          </p:cNvPr>
          <p:cNvSpPr txBox="1"/>
          <p:nvPr/>
        </p:nvSpPr>
        <p:spPr>
          <a:xfrm>
            <a:off x="7086600" y="4038600"/>
            <a:ext cx="43053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 i="1">
                <a:solidFill>
                  <a:srgbClr val="FFFFFF"/>
                </a:solidFill>
                <a:latin typeface="Helvetica Neue"/>
                <a:ea typeface="Helvetica Neue"/>
              </a:rPr>
              <a:t>“Every effort moves you stand to work on surprise, a one of us had gone with random-”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483E75F-E2D5-447A-83C7-DDDE0AC1DB95}"/>
              </a:ext>
            </a:extLst>
          </p:cNvPr>
          <p:cNvSpPr txBox="1"/>
          <p:nvPr/>
        </p:nvSpPr>
        <p:spPr>
          <a:xfrm>
            <a:off x="7086600" y="4914900"/>
            <a:ext cx="4305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—— 新颖表达，不再复述原文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CCED485-7E38-4C8A-876E-C5209C7DD957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6D85C22-A59C-4489-9C40-E5DA304E956D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17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B0D8030-D2F7-45E2-8DAE-D7B604100312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6AD13EA-4EF2-4A5C-813C-8BE75890B430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保存与加载：让训练成果可复用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33A4F5B-B2C0-47E7-8A1B-79727868CB7B}"/>
              </a:ext>
            </a:extLst>
          </p:cNvPr>
          <p:cNvSpPr/>
          <p:nvPr/>
        </p:nvSpPr>
        <p:spPr>
          <a:xfrm>
            <a:off x="609600" y="1333500"/>
            <a:ext cx="5334000" cy="4191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0627DD-F0B3-41EE-8E48-DEC8E90C9030}"/>
              </a:ext>
            </a:extLst>
          </p:cNvPr>
          <p:cNvSpPr txBox="1"/>
          <p:nvPr/>
        </p:nvSpPr>
        <p:spPr>
          <a:xfrm>
            <a:off x="800100" y="154305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EC6B8"/>
                </a:solidFill>
                <a:latin typeface="PingFang SC"/>
                <a:ea typeface="PingFang SC"/>
              </a:rPr>
              <a:t>保存</a:t>
            </a:r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  SAVE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1284DCD-537F-42A3-A5C7-8EDE5B377267}"/>
              </a:ext>
            </a:extLst>
          </p:cNvPr>
          <p:cNvSpPr txBox="1"/>
          <p:nvPr/>
        </p:nvSpPr>
        <p:spPr>
          <a:xfrm>
            <a:off x="800100" y="1943100"/>
            <a:ext cx="49530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torch.save(model.state_dict(), "model.pth")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# 续训时连同优化器状态一起保存：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torch.save({"model_state_dict": model.state_dict(),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"optimizer_state_dict": optimizer.state_dict()},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"model_and_optimizer.pth")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3792799-C6ED-49BF-830C-4BF8C0CDF29D}"/>
              </a:ext>
            </a:extLst>
          </p:cNvPr>
          <p:cNvSpPr txBox="1"/>
          <p:nvPr/>
        </p:nvSpPr>
        <p:spPr>
          <a:xfrm>
            <a:off x="800100" y="3238500"/>
            <a:ext cx="4953000" cy="2095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state_dict：把每一层映射到其参数的字典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.pth 是 PyTorch 模型文件的规范扩展名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AdamW 为每个权重维护历史状态，动态调整学习率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丢失优化器状态 → 续训时重置，可能无法收敛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56974E6-87F7-4E61-908F-B31B73AB95FF}"/>
              </a:ext>
            </a:extLst>
          </p:cNvPr>
          <p:cNvSpPr/>
          <p:nvPr/>
        </p:nvSpPr>
        <p:spPr>
          <a:xfrm>
            <a:off x="6324600" y="1333500"/>
            <a:ext cx="5257800" cy="4191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7E9CC2C-084C-4418-8A8A-1671D3FD4980}"/>
              </a:ext>
            </a:extLst>
          </p:cNvPr>
          <p:cNvSpPr txBox="1"/>
          <p:nvPr/>
        </p:nvSpPr>
        <p:spPr>
          <a:xfrm>
            <a:off x="6515100" y="1543050"/>
            <a:ext cx="285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0A63C"/>
                </a:solidFill>
                <a:latin typeface="PingFang SC"/>
                <a:ea typeface="PingFang SC"/>
              </a:rPr>
              <a:t>加载</a:t>
            </a:r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  LOAD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7F6C579-E4C8-4D1B-9B85-3BDA290798F7}"/>
              </a:ext>
            </a:extLst>
          </p:cNvPr>
          <p:cNvSpPr txBox="1"/>
          <p:nvPr/>
        </p:nvSpPr>
        <p:spPr>
          <a:xfrm>
            <a:off x="6515100" y="1943100"/>
            <a:ext cx="4876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checkpoint = torch.load("model_and_optimizer.pth",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                        map_location=device)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model = GPTModel(GPT_CONFIG_124M)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model.load_state_dict(checkpoint["model_state_dict"])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optimizer.load_state_dict(checkpoint["optimizer_state_dict"])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BF6FC9A-6C98-4700-9C23-712400C08BF1}"/>
              </a:ext>
            </a:extLst>
          </p:cNvPr>
          <p:cNvSpPr txBox="1"/>
          <p:nvPr/>
        </p:nvSpPr>
        <p:spPr>
          <a:xfrm>
            <a:off x="6515100" y="3524250"/>
            <a:ext cx="48768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map_location 保证模型与数据位于同一设备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model.eval() 关闭 dropout；继续训练用 model.train()</a:t>
            </a:r>
          </a:p>
          <a:p>
            <a:pPr algn="l">
              <a:lnSpc>
                <a:spcPct val="140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加载后可无缝续训（对应练习 5.4）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9B5167E-2494-418B-BAC1-CD9741D9E2B2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60FB32C-EFA6-442D-8B07-4179E946C608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18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35D5093-E794-4CD5-9D07-F7D9E103127A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57E6BAF-41D0-4D27-9706-30EF93CAF72C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从 OpenAI 加载 GPT-2 预训练权重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F45A0C1-B333-4AC8-A01D-BE8E58292FB7}"/>
              </a:ext>
            </a:extLst>
          </p:cNvPr>
          <p:cNvSpPr/>
          <p:nvPr/>
        </p:nvSpPr>
        <p:spPr>
          <a:xfrm>
            <a:off x="609600" y="1238250"/>
            <a:ext cx="10972800" cy="762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246997-16A8-461E-9D95-99D1057A9AEF}"/>
              </a:ext>
            </a:extLst>
          </p:cNvPr>
          <p:cNvSpPr txBox="1"/>
          <p:nvPr/>
        </p:nvSpPr>
        <p:spPr>
          <a:xfrm>
            <a:off x="838200" y="1466850"/>
            <a:ext cx="105156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3EC6B8"/>
                </a:solidFill>
                <a:latin typeface="PingFang SC"/>
                <a:ea typeface="PingFang SC"/>
              </a:rPr>
              <a:t>为什么？</a:t>
            </a: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　自行预训练大模型需数万到数十万美元；OpenAI 公开了 GPT-2 权重，直接加载即可得到能生成连贯文本的模型。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01DBB64-839D-4254-A417-EB49AA48427C}"/>
              </a:ext>
            </a:extLst>
          </p:cNvPr>
          <p:cNvSpPr/>
          <p:nvPr/>
        </p:nvSpPr>
        <p:spPr>
          <a:xfrm>
            <a:off x="609600" y="2286000"/>
            <a:ext cx="2000250" cy="57150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安装依赖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1FE887B-3D81-4488-BE88-71F081C70EB3}"/>
              </a:ext>
            </a:extLst>
          </p:cNvPr>
          <p:cNvSpPr/>
          <p:nvPr/>
        </p:nvSpPr>
        <p:spPr>
          <a:xfrm>
            <a:off x="2743200" y="2286000"/>
            <a:ext cx="2000250" cy="57150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获取下载脚本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13EC263-FB43-40EC-8C7C-4234D5963D8C}"/>
              </a:ext>
            </a:extLst>
          </p:cNvPr>
          <p:cNvSpPr/>
          <p:nvPr/>
        </p:nvSpPr>
        <p:spPr>
          <a:xfrm>
            <a:off x="4876800" y="2286000"/>
            <a:ext cx="2000250" cy="57150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下载并加载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8A4B595-0183-4FDA-AC3C-884CE12E963F}"/>
              </a:ext>
            </a:extLst>
          </p:cNvPr>
          <p:cNvSpPr/>
          <p:nvPr/>
        </p:nvSpPr>
        <p:spPr>
          <a:xfrm>
            <a:off x="7010400" y="2286000"/>
            <a:ext cx="2000250" cy="57150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映射权重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9A17D3A-EE90-41F2-8A37-C027F9F524ED}"/>
              </a:ext>
            </a:extLst>
          </p:cNvPr>
          <p:cNvSpPr/>
          <p:nvPr/>
        </p:nvSpPr>
        <p:spPr>
          <a:xfrm>
            <a:off x="9144000" y="2286000"/>
            <a:ext cx="2000250" cy="571500"/>
          </a:xfrm>
          <a:prstGeom prst="chevron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/>
                <a:ea typeface="PingFang SC"/>
              </a:rPr>
              <a:t>生成验证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E04D57F-DDE8-41A6-B953-1C430231EFE7}"/>
              </a:ext>
            </a:extLst>
          </p:cNvPr>
          <p:cNvSpPr/>
          <p:nvPr/>
        </p:nvSpPr>
        <p:spPr>
          <a:xfrm>
            <a:off x="609600" y="3143250"/>
            <a:ext cx="5334000" cy="2190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E0E3A61-57A3-464E-AA7E-38F122987BA2}"/>
              </a:ext>
            </a:extLst>
          </p:cNvPr>
          <p:cNvSpPr txBox="1"/>
          <p:nvPr/>
        </p:nvSpPr>
        <p:spPr>
          <a:xfrm>
            <a:off x="800100" y="335280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settings：架构设置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45FAE84-3235-4D68-BA4E-051A83BBF30A}"/>
              </a:ext>
            </a:extLst>
          </p:cNvPr>
          <p:cNvSpPr txBox="1"/>
          <p:nvPr/>
        </p:nvSpPr>
        <p:spPr>
          <a:xfrm>
            <a:off x="800100" y="3714750"/>
            <a:ext cx="4953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n_vocab 50257　　n_ctx 1024　　n_embd 768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n_head 12　　　  n_layer 12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1339D91-775B-45E3-A6A8-E8980B6E4E07}"/>
              </a:ext>
            </a:extLst>
          </p:cNvPr>
          <p:cNvSpPr txBox="1"/>
          <p:nvPr/>
        </p:nvSpPr>
        <p:spPr>
          <a:xfrm>
            <a:off x="800100" y="49530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作用类似我们手写的 GPT_CONFIG_124M 字典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8DEEA6A-F4CB-4509-8269-B4DFC9C9833C}"/>
              </a:ext>
            </a:extLst>
          </p:cNvPr>
          <p:cNvSpPr/>
          <p:nvPr/>
        </p:nvSpPr>
        <p:spPr>
          <a:xfrm>
            <a:off x="6248400" y="3143250"/>
            <a:ext cx="5334000" cy="2190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53AE525-97C2-4A50-9998-ED0A84F12768}"/>
              </a:ext>
            </a:extLst>
          </p:cNvPr>
          <p:cNvSpPr txBox="1"/>
          <p:nvPr/>
        </p:nvSpPr>
        <p:spPr>
          <a:xfrm>
            <a:off x="6438900" y="335280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params：权重参数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85540E5-68CE-43FB-A78B-3C9EFAAA1C5D}"/>
              </a:ext>
            </a:extLst>
          </p:cNvPr>
          <p:cNvSpPr txBox="1"/>
          <p:nvPr/>
        </p:nvSpPr>
        <p:spPr>
          <a:xfrm>
            <a:off x="6438900" y="3714750"/>
            <a:ext cx="4953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PingFang SC"/>
                <a:ea typeface="PingFang SC"/>
              </a:rPr>
              <a:t>blocks　12 个 Transformer 块的全部权重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PingFang SC"/>
                <a:ea typeface="PingFang SC"/>
              </a:rPr>
              <a:t>wte　词元嵌入 (50257, 768)，与输出头共享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PingFang SC"/>
                <a:ea typeface="PingFang SC"/>
              </a:rPr>
              <a:t>wpe / g / b　位置嵌入与 LayerNorm 参数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A85DB47-D69A-4EA2-B965-30083C913CB3}"/>
              </a:ext>
            </a:extLst>
          </p:cNvPr>
          <p:cNvSpPr txBox="1"/>
          <p:nvPr/>
        </p:nvSpPr>
        <p:spPr>
          <a:xfrm>
            <a:off x="6438900" y="49530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共下载 7 个文件，含 498MB 的模型 checkpoint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75CCDB0-0634-45F7-A3F0-0D206C98ADE8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04BE3B1-9196-4845-B468-5A0EF43DA7C3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19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63E72C7-22D8-4CAE-BA60-EDA6CF0656DF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26AE7F-8482-46EC-8147-C1F5E39C9400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GPT-2 家族：同一架构，四种规模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A6A23E3-AD1D-4945-923E-9F4D02AF24E5}"/>
              </a:ext>
            </a:extLst>
          </p:cNvPr>
          <p:cNvSpPr/>
          <p:nvPr/>
        </p:nvSpPr>
        <p:spPr>
          <a:xfrm>
            <a:off x="609600" y="1333500"/>
            <a:ext cx="2514600" cy="238125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3EC6B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27EE7E5-5FA2-4E97-8D43-23F0A8A5E0DA}"/>
              </a:ext>
            </a:extLst>
          </p:cNvPr>
          <p:cNvSpPr txBox="1"/>
          <p:nvPr/>
        </p:nvSpPr>
        <p:spPr>
          <a:xfrm>
            <a:off x="800100" y="1543050"/>
            <a:ext cx="2133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</a:rPr>
              <a:t>gpt2-small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7BC1BC-0D94-4FA3-A5D4-902C075FF06F}"/>
              </a:ext>
            </a:extLst>
          </p:cNvPr>
          <p:cNvSpPr txBox="1"/>
          <p:nvPr/>
        </p:nvSpPr>
        <p:spPr>
          <a:xfrm>
            <a:off x="800100" y="1866900"/>
            <a:ext cx="21336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3EC6B8"/>
                </a:solidFill>
                <a:latin typeface="Helvetica Neue"/>
                <a:ea typeface="Helvetica Neue"/>
              </a:rPr>
              <a:t>124M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E000200-4476-4C22-B9B7-8D441FB88CB6}"/>
              </a:ext>
            </a:extLst>
          </p:cNvPr>
          <p:cNvSpPr txBox="1"/>
          <p:nvPr/>
        </p:nvSpPr>
        <p:spPr>
          <a:xfrm>
            <a:off x="800100" y="2495550"/>
            <a:ext cx="21336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嵌入维度　768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层数　　　12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注意力头　12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0E47739-3933-478C-9215-476A778C0A95}"/>
              </a:ext>
            </a:extLst>
          </p:cNvPr>
          <p:cNvSpPr/>
          <p:nvPr/>
        </p:nvSpPr>
        <p:spPr>
          <a:xfrm>
            <a:off x="3352800" y="1333500"/>
            <a:ext cx="2514600" cy="2381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F8F914-CC6A-4BF1-905A-643A52EBD60C}"/>
              </a:ext>
            </a:extLst>
          </p:cNvPr>
          <p:cNvSpPr txBox="1"/>
          <p:nvPr/>
        </p:nvSpPr>
        <p:spPr>
          <a:xfrm>
            <a:off x="3543300" y="1543050"/>
            <a:ext cx="2133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</a:rPr>
              <a:t>gpt2-medium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11AAADA-3436-4326-A469-03BB94AD9755}"/>
              </a:ext>
            </a:extLst>
          </p:cNvPr>
          <p:cNvSpPr txBox="1"/>
          <p:nvPr/>
        </p:nvSpPr>
        <p:spPr>
          <a:xfrm>
            <a:off x="3543300" y="1866900"/>
            <a:ext cx="21336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3EC6B8"/>
                </a:solidFill>
                <a:latin typeface="Helvetica Neue"/>
                <a:ea typeface="Helvetica Neue"/>
              </a:rPr>
              <a:t>355M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6B42B12-4EC4-4274-812D-250993EC4049}"/>
              </a:ext>
            </a:extLst>
          </p:cNvPr>
          <p:cNvSpPr txBox="1"/>
          <p:nvPr/>
        </p:nvSpPr>
        <p:spPr>
          <a:xfrm>
            <a:off x="3543300" y="2495550"/>
            <a:ext cx="21336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嵌入维度　1024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层数　　　24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注意力头　16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5F8F54E-9CD1-4548-BDC1-1DF9E124BBA0}"/>
              </a:ext>
            </a:extLst>
          </p:cNvPr>
          <p:cNvSpPr/>
          <p:nvPr/>
        </p:nvSpPr>
        <p:spPr>
          <a:xfrm>
            <a:off x="6096000" y="1333500"/>
            <a:ext cx="2514600" cy="2381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EDD360-49CB-4F5B-B0ED-040883CAD222}"/>
              </a:ext>
            </a:extLst>
          </p:cNvPr>
          <p:cNvSpPr txBox="1"/>
          <p:nvPr/>
        </p:nvSpPr>
        <p:spPr>
          <a:xfrm>
            <a:off x="6286500" y="1543050"/>
            <a:ext cx="2133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</a:rPr>
              <a:t>gpt2-large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2E418C6-BDE1-4B6B-8592-990B27AD6878}"/>
              </a:ext>
            </a:extLst>
          </p:cNvPr>
          <p:cNvSpPr txBox="1"/>
          <p:nvPr/>
        </p:nvSpPr>
        <p:spPr>
          <a:xfrm>
            <a:off x="6286500" y="1866900"/>
            <a:ext cx="21336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3EC6B8"/>
                </a:solidFill>
                <a:latin typeface="Helvetica Neue"/>
                <a:ea typeface="Helvetica Neue"/>
              </a:rPr>
              <a:t>774M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CF6B81F-36E6-46F6-A1B9-DF56EA040E34}"/>
              </a:ext>
            </a:extLst>
          </p:cNvPr>
          <p:cNvSpPr txBox="1"/>
          <p:nvPr/>
        </p:nvSpPr>
        <p:spPr>
          <a:xfrm>
            <a:off x="6286500" y="2495550"/>
            <a:ext cx="21336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嵌入维度　1280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层数　　　36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注意力头　20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4828E05-9FE2-4AE6-998D-519C785B2D5B}"/>
              </a:ext>
            </a:extLst>
          </p:cNvPr>
          <p:cNvSpPr/>
          <p:nvPr/>
        </p:nvSpPr>
        <p:spPr>
          <a:xfrm>
            <a:off x="8839200" y="1333500"/>
            <a:ext cx="2514600" cy="2381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8B5AF72-C778-45DB-89AF-58E27F8EFBB9}"/>
              </a:ext>
            </a:extLst>
          </p:cNvPr>
          <p:cNvSpPr txBox="1"/>
          <p:nvPr/>
        </p:nvSpPr>
        <p:spPr>
          <a:xfrm>
            <a:off x="9029700" y="1543050"/>
            <a:ext cx="21336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</a:rPr>
              <a:t>gpt2-xl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23467F0-D532-430B-8C7C-37160E938E9F}"/>
              </a:ext>
            </a:extLst>
          </p:cNvPr>
          <p:cNvSpPr txBox="1"/>
          <p:nvPr/>
        </p:nvSpPr>
        <p:spPr>
          <a:xfrm>
            <a:off x="9029700" y="1866900"/>
            <a:ext cx="21336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3EC6B8"/>
                </a:solidFill>
                <a:latin typeface="Helvetica Neue"/>
                <a:ea typeface="Helvetica Neue"/>
              </a:rPr>
              <a:t>1558M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839C0FB-83B3-4909-A5E7-7F99542D1FB5}"/>
              </a:ext>
            </a:extLst>
          </p:cNvPr>
          <p:cNvSpPr txBox="1"/>
          <p:nvPr/>
        </p:nvSpPr>
        <p:spPr>
          <a:xfrm>
            <a:off x="9029700" y="2495550"/>
            <a:ext cx="21336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嵌入维度　1600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层数　　　48</a:t>
            </a:r>
          </a:p>
          <a:p>
            <a:pPr algn="l">
              <a:lnSpc>
                <a:spcPct val="150000"/>
              </a:lnSpc>
            </a:pPr>
            <a:r>
              <a:rPr sz="1200">
                <a:solidFill>
                  <a:srgbClr val="A9B7CC"/>
                </a:solidFill>
                <a:latin typeface="PingFang SC"/>
                <a:ea typeface="PingFang SC"/>
              </a:rPr>
              <a:t>注意力头　25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C2C5E36C-A828-4431-9B2E-1C9B956E4427}"/>
              </a:ext>
            </a:extLst>
          </p:cNvPr>
          <p:cNvSpPr/>
          <p:nvPr/>
        </p:nvSpPr>
        <p:spPr>
          <a:xfrm>
            <a:off x="609600" y="4000500"/>
            <a:ext cx="10972800" cy="20002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2D375F7-74A8-45C7-A4D9-9623BD77F006}"/>
              </a:ext>
            </a:extLst>
          </p:cNvPr>
          <p:cNvSpPr txBox="1"/>
          <p:nvPr/>
        </p:nvSpPr>
        <p:spPr>
          <a:xfrm>
            <a:off x="800100" y="4191000"/>
            <a:ext cx="3810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参数量对比（百万）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7913736-C0A1-4B84-942D-8D069A11E0DD}"/>
              </a:ext>
            </a:extLst>
          </p:cNvPr>
          <p:cNvSpPr txBox="1"/>
          <p:nvPr/>
        </p:nvSpPr>
        <p:spPr>
          <a:xfrm>
            <a:off x="800100" y="4533900"/>
            <a:ext cx="1047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gpt2-small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8AADE5D8-C8B6-43AC-9BA0-4C60E4E102E2}"/>
              </a:ext>
            </a:extLst>
          </p:cNvPr>
          <p:cNvSpPr/>
          <p:nvPr/>
        </p:nvSpPr>
        <p:spPr>
          <a:xfrm>
            <a:off x="1905000" y="4476750"/>
            <a:ext cx="533400" cy="285750"/>
          </a:xfrm>
          <a:prstGeom prst="rect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2A084B6-0B13-4D36-AA94-7BC4B7306AB3}"/>
              </a:ext>
            </a:extLst>
          </p:cNvPr>
          <p:cNvSpPr txBox="1"/>
          <p:nvPr/>
        </p:nvSpPr>
        <p:spPr>
          <a:xfrm>
            <a:off x="2514600" y="453390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124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7E003AF-BE09-4E82-BE91-71A1648AC3A7}"/>
              </a:ext>
            </a:extLst>
          </p:cNvPr>
          <p:cNvSpPr txBox="1"/>
          <p:nvPr/>
        </p:nvSpPr>
        <p:spPr>
          <a:xfrm>
            <a:off x="800100" y="4972050"/>
            <a:ext cx="1047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gpt2-medium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F85DF205-7E2F-40AD-991D-9401F040CE2B}"/>
              </a:ext>
            </a:extLst>
          </p:cNvPr>
          <p:cNvSpPr/>
          <p:nvPr/>
        </p:nvSpPr>
        <p:spPr>
          <a:xfrm>
            <a:off x="1905000" y="4914900"/>
            <a:ext cx="1524000" cy="285750"/>
          </a:xfrm>
          <a:prstGeom prst="rect">
            <a:avLst/>
          </a:prstGeom>
          <a:solidFill>
            <a:srgbClr val="2C3E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688B97C-7A19-41CC-8F92-12CAB944011F}"/>
              </a:ext>
            </a:extLst>
          </p:cNvPr>
          <p:cNvSpPr txBox="1"/>
          <p:nvPr/>
        </p:nvSpPr>
        <p:spPr>
          <a:xfrm>
            <a:off x="3505200" y="49720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355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6B02F90-A234-4F6D-9BC9-FA848884ECC3}"/>
              </a:ext>
            </a:extLst>
          </p:cNvPr>
          <p:cNvSpPr txBox="1"/>
          <p:nvPr/>
        </p:nvSpPr>
        <p:spPr>
          <a:xfrm>
            <a:off x="800100" y="5410200"/>
            <a:ext cx="1047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gpt2-large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5A2DD495-43E9-40EC-9313-E84E46E7A4BB}"/>
              </a:ext>
            </a:extLst>
          </p:cNvPr>
          <p:cNvSpPr/>
          <p:nvPr/>
        </p:nvSpPr>
        <p:spPr>
          <a:xfrm>
            <a:off x="1905000" y="5353050"/>
            <a:ext cx="3314700" cy="285750"/>
          </a:xfrm>
          <a:prstGeom prst="rect">
            <a:avLst/>
          </a:prstGeom>
          <a:solidFill>
            <a:srgbClr val="2C3E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02FF085-8A05-44BD-A168-04FCE863E8F2}"/>
              </a:ext>
            </a:extLst>
          </p:cNvPr>
          <p:cNvSpPr txBox="1"/>
          <p:nvPr/>
        </p:nvSpPr>
        <p:spPr>
          <a:xfrm>
            <a:off x="5295900" y="541020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774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EAE589B-EE46-4780-B952-CC4287FA5971}"/>
              </a:ext>
            </a:extLst>
          </p:cNvPr>
          <p:cNvSpPr txBox="1"/>
          <p:nvPr/>
        </p:nvSpPr>
        <p:spPr>
          <a:xfrm>
            <a:off x="800100" y="5848350"/>
            <a:ext cx="10477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gpt2-xl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FBD035BB-7CD6-4C1A-8A62-2B1C6A1CA03C}"/>
              </a:ext>
            </a:extLst>
          </p:cNvPr>
          <p:cNvSpPr/>
          <p:nvPr/>
        </p:nvSpPr>
        <p:spPr>
          <a:xfrm>
            <a:off x="1905000" y="5791200"/>
            <a:ext cx="6667500" cy="285750"/>
          </a:xfrm>
          <a:prstGeom prst="rect">
            <a:avLst/>
          </a:prstGeom>
          <a:solidFill>
            <a:srgbClr val="2C3E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D5631E3-4A08-4CBF-A529-8A9BEB77CB4A}"/>
              </a:ext>
            </a:extLst>
          </p:cNvPr>
          <p:cNvSpPr txBox="1"/>
          <p:nvPr/>
        </p:nvSpPr>
        <p:spPr>
          <a:xfrm>
            <a:off x="8648700" y="58483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A9B7CC"/>
                </a:solidFill>
                <a:latin typeface="Helvetica Neue"/>
                <a:ea typeface="Helvetica Neue"/>
              </a:rPr>
              <a:t>1558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109053D-EC5C-4E75-A7F1-F2B0F7FE1B44}"/>
              </a:ext>
            </a:extLst>
          </p:cNvPr>
          <p:cNvSpPr txBox="1"/>
          <p:nvPr/>
        </p:nvSpPr>
        <p:spPr>
          <a:xfrm>
            <a:off x="800100" y="6210300"/>
            <a:ext cx="10515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B6B85"/>
                </a:solidFill>
                <a:latin typeface="PingFang SC"/>
                <a:ea typeface="PingFang SC"/>
              </a:rPr>
              <a:t>架构完全相同，仅嵌入维度与组件重复次数不同（图 5-17）；本章代码对四种尺寸通用。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4D2485A-7519-4040-BD63-B77D6A5148E1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8954F58-5730-4825-BC79-C2D708213297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20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B5A0B3A-C47D-4F5E-B103-00D31E7372A7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35265D-47AA-488A-A418-04EE6719AB2E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权重映射：参数名与形状的精细对齐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811D6B5-D294-432B-B90F-EE0518027299}"/>
              </a:ext>
            </a:extLst>
          </p:cNvPr>
          <p:cNvSpPr/>
          <p:nvPr/>
        </p:nvSpPr>
        <p:spPr>
          <a:xfrm>
            <a:off x="609600" y="1333500"/>
            <a:ext cx="5334000" cy="4191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78EF8F-15D6-48FE-8190-1E7E0FFE7EAC}"/>
              </a:ext>
            </a:extLst>
          </p:cNvPr>
          <p:cNvSpPr txBox="1"/>
          <p:nvPr/>
        </p:nvSpPr>
        <p:spPr>
          <a:xfrm>
            <a:off x="800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加载前的配置更新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BD19498-4D9E-4FFF-BAC5-183BC2E720AB}"/>
              </a:ext>
            </a:extLst>
          </p:cNvPr>
          <p:cNvSpPr txBox="1"/>
          <p:nvPr/>
        </p:nvSpPr>
        <p:spPr>
          <a:xfrm>
            <a:off x="800100" y="1905000"/>
            <a:ext cx="4953000" cy="1905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NEW_CONFIG = GPT_CONFIG_124M.copy()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NEW_CONFIG.update(model_configs["gpt2-small (124M)"])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NEW_CONFIG.update({"context_length": 1024})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# 对齐 OpenAI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D8E2F0"/>
                </a:solidFill>
                <a:latin typeface="Helvetica Neue"/>
                <a:ea typeface="Helvetica Neue"/>
              </a:rPr>
              <a:t>NEW_CONFIG.update({"qkv_bias": True})</a:t>
            </a:r>
            <a:r>
              <a:rPr sz="1250">
                <a:solidFill>
                  <a:srgbClr val="F0A63C"/>
                </a:solidFill>
                <a:latin typeface="PingFang SC"/>
                <a:ea typeface="PingFang SC"/>
              </a:rPr>
              <a:t>  # 启用偏置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A6B6062-78D0-4CA7-A316-4A2AB51BD2C4}"/>
              </a:ext>
            </a:extLst>
          </p:cNvPr>
          <p:cNvSpPr/>
          <p:nvPr/>
        </p:nvSpPr>
        <p:spPr>
          <a:xfrm>
            <a:off x="800100" y="4000500"/>
            <a:ext cx="4953000" cy="1238250"/>
          </a:xfrm>
          <a:prstGeom prst="roundRect">
            <a:avLst/>
          </a:prstGeom>
          <a:solidFill>
            <a:srgbClr val="0E1626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C053C4-A86F-4F55-A3AC-1205EDAC086F}"/>
              </a:ext>
            </a:extLst>
          </p:cNvPr>
          <p:cNvSpPr txBox="1"/>
          <p:nvPr/>
        </p:nvSpPr>
        <p:spPr>
          <a:xfrm>
            <a:off x="990600" y="4171950"/>
            <a:ext cx="4572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D8E2F0"/>
                </a:solidFill>
                <a:latin typeface="Helvetica Neue"/>
                <a:ea typeface="Helvetica Neue"/>
              </a:rPr>
              <a:t>def assign(left, right):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8E2F0"/>
                </a:solidFill>
                <a:latin typeface="Helvetica Neue"/>
                <a:ea typeface="Helvetica Neue"/>
              </a:rPr>
              <a:t>    if left.shape != right.shape:  raise ValueError(...)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D8E2F0"/>
                </a:solidFill>
                <a:latin typeface="Helvetica Neue"/>
                <a:ea typeface="Helvetica Neue"/>
              </a:rPr>
              <a:t>    return torch.nn.Parameter(torch.tensor(right))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E1C46E5-E35F-4C2C-8954-2528CFAB6C99}"/>
              </a:ext>
            </a:extLst>
          </p:cNvPr>
          <p:cNvSpPr/>
          <p:nvPr/>
        </p:nvSpPr>
        <p:spPr>
          <a:xfrm>
            <a:off x="6324600" y="1333500"/>
            <a:ext cx="5257800" cy="41910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51BD0BB-B98E-47F4-A83E-226B049E757A}"/>
              </a:ext>
            </a:extLst>
          </p:cNvPr>
          <p:cNvSpPr txBox="1"/>
          <p:nvPr/>
        </p:nvSpPr>
        <p:spPr>
          <a:xfrm>
            <a:off x="6515100" y="1543050"/>
            <a:ext cx="4572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0A63C"/>
                </a:solidFill>
                <a:latin typeface="PingFang SC"/>
                <a:ea typeface="PingFang SC"/>
              </a:rPr>
              <a:t>映射要点（load_weights_into_gpt）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27F01BB-786A-431D-8B95-C6B6B63AF056}"/>
              </a:ext>
            </a:extLst>
          </p:cNvPr>
          <p:cNvSpPr txBox="1"/>
          <p:nvPr/>
        </p:nvSpPr>
        <p:spPr>
          <a:xfrm>
            <a:off x="6515100" y="1905000"/>
            <a:ext cx="4876800" cy="3333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np.split(c_attn["w"], 3) 把注意力权重拆成 Q / K / V 三份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OpenAI 的 Linear 层权重需转置 .T 后再赋值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LayerNorm 的 g / b 映射到我们的 scale / shift</a:t>
            </a:r>
          </a:p>
          <a:p>
            <a:pPr algn="l">
              <a:lnSpc>
                <a:spcPct val="135000"/>
              </a:lnSpc>
              <a:spcAft>
                <a:spcPts val="1400"/>
              </a:spcAft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输出头 out_head 与词元嵌入 wte 共享同一份权重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· 形状不匹配 assign 立即抛错；生成乱码 = 映射有误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6F5F505-97BE-42EC-9C36-CEC5DA61EE27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582896C-19D1-40FD-A5CF-FBAAB06546D4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21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29F2285-0376-45FF-A8FE-F5789952A30D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</a:rPr>
              <a:t>5.5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2A0669A-A3A9-46A9-98B6-3B5192A80F2D}"/>
              </a:ext>
            </a:extLst>
          </p:cNvPr>
          <p:cNvSpPr txBox="1"/>
          <p:nvPr/>
        </p:nvSpPr>
        <p:spPr>
          <a:xfrm>
            <a:off x="1428750" y="4762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验证：一句连贯的话，证明加载成功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29C4D92-E06A-469F-8D73-0C2209D9C321}"/>
              </a:ext>
            </a:extLst>
          </p:cNvPr>
          <p:cNvSpPr/>
          <p:nvPr/>
        </p:nvSpPr>
        <p:spPr>
          <a:xfrm>
            <a:off x="1333500" y="1619250"/>
            <a:ext cx="9525000" cy="2286000"/>
          </a:xfrm>
          <a:prstGeom prst="roundRect">
            <a:avLst/>
          </a:prstGeom>
          <a:solidFill>
            <a:srgbClr val="182742"/>
          </a:solidFill>
          <a:ln w="19050">
            <a:solidFill>
              <a:srgbClr val="3EC6B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B7C093-7242-4E15-8452-47B0993E9993}"/>
              </a:ext>
            </a:extLst>
          </p:cNvPr>
          <p:cNvSpPr txBox="1"/>
          <p:nvPr/>
        </p:nvSpPr>
        <p:spPr>
          <a:xfrm>
            <a:off x="1714500" y="1771650"/>
            <a:ext cx="762000" cy="914400"/>
          </a:xfrm>
        </p:spPr>
        <p:txBody>
          <a:bodyPr wrap="square" rtlCol="0" lIns="0" tIns="0" rIns="0" bIns="0" anchor="t"/>
          <a:lstStyle/>
          <a:p>
            <a:pPr algn="l"/>
            <a:r>
              <a:rPr sz="6000" b="1">
                <a:solidFill>
                  <a:srgbClr val="3EC6B8"/>
                </a:solidFill>
                <a:latin typeface="PingFang SC"/>
                <a:ea typeface="PingFang SC"/>
              </a:rPr>
              <a:t>“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E453B47-D15C-4BF1-87F9-D479B6B22E44}"/>
              </a:ext>
            </a:extLst>
          </p:cNvPr>
          <p:cNvSpPr txBox="1"/>
          <p:nvPr/>
        </p:nvSpPr>
        <p:spPr>
          <a:xfrm>
            <a:off x="2381250" y="2095500"/>
            <a:ext cx="809625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5000"/>
              </a:lnSpc>
            </a:pPr>
            <a:r>
              <a:rPr sz="2000" i="1">
                <a:solidFill>
                  <a:srgbClr val="FFFFFF"/>
                </a:solidFill>
                <a:latin typeface="Helvetica Neue"/>
                <a:ea typeface="Helvetica Neue"/>
              </a:rPr>
              <a:t>Every effort moves you toward finding an ideal new way to practice something! What makes us want to be on top of that?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A09464C-848C-4488-A682-9A2C8C3D8EDD}"/>
              </a:ext>
            </a:extLst>
          </p:cNvPr>
          <p:cNvSpPr/>
          <p:nvPr/>
        </p:nvSpPr>
        <p:spPr>
          <a:xfrm>
            <a:off x="2286000" y="4286250"/>
            <a:ext cx="2286000" cy="4191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</a:rPr>
              <a:t>top_k = 50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C415AA9-4A6C-4DB9-9D48-39B0EE6B7999}"/>
              </a:ext>
            </a:extLst>
          </p:cNvPr>
          <p:cNvSpPr/>
          <p:nvPr/>
        </p:nvSpPr>
        <p:spPr>
          <a:xfrm>
            <a:off x="4953000" y="4286250"/>
            <a:ext cx="2286000" cy="4191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</a:rPr>
              <a:t>temperature = 1.5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6941A5F-2D22-49A7-B1DE-A1596F0F2A29}"/>
              </a:ext>
            </a:extLst>
          </p:cNvPr>
          <p:cNvSpPr/>
          <p:nvPr/>
        </p:nvSpPr>
        <p:spPr>
          <a:xfrm>
            <a:off x="7620000" y="4286250"/>
            <a:ext cx="2286000" cy="4191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  <a:ea typeface="Helvetica Neue"/>
              </a:rPr>
              <a:t>max_new_tokens = 25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4D1187D-3ED3-4B07-A18C-0756CA1C0495}"/>
              </a:ext>
            </a:extLst>
          </p:cNvPr>
          <p:cNvSpPr/>
          <p:nvPr/>
        </p:nvSpPr>
        <p:spPr>
          <a:xfrm>
            <a:off x="609600" y="5143500"/>
            <a:ext cx="3505200" cy="952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CBE116-9248-40A9-AA24-C983D3A4A976}"/>
              </a:ext>
            </a:extLst>
          </p:cNvPr>
          <p:cNvSpPr txBox="1"/>
          <p:nvPr/>
        </p:nvSpPr>
        <p:spPr>
          <a:xfrm>
            <a:off x="800100" y="5353050"/>
            <a:ext cx="31242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任何细微的映射错误，都会让输出立刻变成乱码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BCB30AE-83F3-4A4D-A86C-9F647641CC45}"/>
              </a:ext>
            </a:extLst>
          </p:cNvPr>
          <p:cNvSpPr/>
          <p:nvPr/>
        </p:nvSpPr>
        <p:spPr>
          <a:xfrm>
            <a:off x="4343400" y="5143500"/>
            <a:ext cx="3505200" cy="952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DBFE512-D052-4633-B883-636D92CB4D94}"/>
              </a:ext>
            </a:extLst>
          </p:cNvPr>
          <p:cNvSpPr txBox="1"/>
          <p:nvPr/>
        </p:nvSpPr>
        <p:spPr>
          <a:xfrm>
            <a:off x="4533900" y="5353050"/>
            <a:ext cx="31242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能生成连贯文本 = 权重与代码完美对齐的证据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54D8AF6-BF8A-4BDA-824F-925CA1943A22}"/>
              </a:ext>
            </a:extLst>
          </p:cNvPr>
          <p:cNvSpPr/>
          <p:nvPr/>
        </p:nvSpPr>
        <p:spPr>
          <a:xfrm>
            <a:off x="8077200" y="5143500"/>
            <a:ext cx="3505200" cy="95250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8160E37-1417-4E52-8EEF-E7E443B5E3B4}"/>
              </a:ext>
            </a:extLst>
          </p:cNvPr>
          <p:cNvSpPr txBox="1"/>
          <p:nvPr/>
        </p:nvSpPr>
        <p:spPr>
          <a:xfrm>
            <a:off x="8267700" y="5353050"/>
            <a:ext cx="31242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这个预训练模型将在第 6 章继续用于分类微调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16B4819-93D4-493D-B565-6699BF360FCC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A0B4D0F-EDED-4FE3-A328-7AEE5DE98020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22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24406CF-AE91-48B7-A9BF-17B4E6975FC2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PingFang SC"/>
                <a:ea typeface="PingFang SC"/>
              </a:rPr>
              <a:t>小结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067C4BA-86A3-4E14-B6B7-996CE2DBF3B5}"/>
              </a:ext>
            </a:extLst>
          </p:cNvPr>
          <p:cNvSpPr txBox="1"/>
          <p:nvPr/>
        </p:nvSpPr>
        <p:spPr>
          <a:xfrm>
            <a:off x="1428750" y="476250"/>
            <a:ext cx="57150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本章小结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85B0496-5D81-4327-8276-6B1344B233C4}"/>
              </a:ext>
            </a:extLst>
          </p:cNvPr>
          <p:cNvSpPr/>
          <p:nvPr/>
        </p:nvSpPr>
        <p:spPr>
          <a:xfrm>
            <a:off x="609600" y="140970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4452F24-A711-41EB-AF30-B9D2ED912E27}"/>
              </a:ext>
            </a:extLst>
          </p:cNvPr>
          <p:cNvSpPr txBox="1"/>
          <p:nvPr/>
        </p:nvSpPr>
        <p:spPr>
          <a:xfrm>
            <a:off x="1104900" y="14478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大语言模型逐个词元生成文本；下一个词元的选择方式，决定了输出的风格。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4D80CEB-AA8F-4B17-86BD-9D845E0D3165}"/>
              </a:ext>
            </a:extLst>
          </p:cNvPr>
          <p:cNvSpPr/>
          <p:nvPr/>
        </p:nvSpPr>
        <p:spPr>
          <a:xfrm>
            <a:off x="609600" y="211455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C13D1E-0FC1-432F-BEA8-F054862B7327}"/>
              </a:ext>
            </a:extLst>
          </p:cNvPr>
          <p:cNvSpPr txBox="1"/>
          <p:nvPr/>
        </p:nvSpPr>
        <p:spPr>
          <a:xfrm>
            <a:off x="1104900" y="215265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默认的贪心解码（argmax）总选概率最大的词元：输出确定，但容易复读。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8A8D571-47D1-48BF-B507-84192277DBA4}"/>
              </a:ext>
            </a:extLst>
          </p:cNvPr>
          <p:cNvSpPr/>
          <p:nvPr/>
        </p:nvSpPr>
        <p:spPr>
          <a:xfrm>
            <a:off x="609600" y="281940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A487C01-7123-42A3-ABB5-F0D9A8757D7B}"/>
              </a:ext>
            </a:extLst>
          </p:cNvPr>
          <p:cNvSpPr txBox="1"/>
          <p:nvPr/>
        </p:nvSpPr>
        <p:spPr>
          <a:xfrm>
            <a:off x="1104900" y="28575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概率采样 + 温度缩放可调节生成文本的多样性与连贯性。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77A77C4-6DE7-4991-BF29-F40C0267F25A}"/>
              </a:ext>
            </a:extLst>
          </p:cNvPr>
          <p:cNvSpPr/>
          <p:nvPr/>
        </p:nvSpPr>
        <p:spPr>
          <a:xfrm>
            <a:off x="609600" y="352425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DCEE24B-E8DA-4083-991B-33367DA9AB92}"/>
              </a:ext>
            </a:extLst>
          </p:cNvPr>
          <p:cNvSpPr txBox="1"/>
          <p:nvPr/>
        </p:nvSpPr>
        <p:spPr>
          <a:xfrm>
            <a:off x="1104900" y="356235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训练集损失与验证集损失，是衡量生成文本质量的基本数值指标。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74C203F-3B93-42C7-9681-C654B6FC4477}"/>
              </a:ext>
            </a:extLst>
          </p:cNvPr>
          <p:cNvSpPr/>
          <p:nvPr/>
        </p:nvSpPr>
        <p:spPr>
          <a:xfrm>
            <a:off x="609600" y="422910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5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B38733-E316-43E9-82C4-5CC7359BE29B}"/>
              </a:ext>
            </a:extLst>
          </p:cNvPr>
          <p:cNvSpPr txBox="1"/>
          <p:nvPr/>
        </p:nvSpPr>
        <p:spPr>
          <a:xfrm>
            <a:off x="1104900" y="42672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预训练的本质：调整模型权重，使训练损失最小化。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152C067-565C-4161-A9A8-1CBE59309E94}"/>
              </a:ext>
            </a:extLst>
          </p:cNvPr>
          <p:cNvSpPr/>
          <p:nvPr/>
        </p:nvSpPr>
        <p:spPr>
          <a:xfrm>
            <a:off x="609600" y="493395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CCD6446-0B81-4088-9FE4-D6D5F6C304B0}"/>
              </a:ext>
            </a:extLst>
          </p:cNvPr>
          <p:cNvSpPr txBox="1"/>
          <p:nvPr/>
        </p:nvSpPr>
        <p:spPr>
          <a:xfrm>
            <a:off x="1104900" y="497205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训练循环是标准流程：交叉熵损失 + AdamW 优化器 + 周期性评估。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2B03948-3FD1-497D-ACFB-DC677517DA08}"/>
              </a:ext>
            </a:extLst>
          </p:cNvPr>
          <p:cNvSpPr/>
          <p:nvPr/>
        </p:nvSpPr>
        <p:spPr>
          <a:xfrm>
            <a:off x="609600" y="5638800"/>
            <a:ext cx="342900" cy="342900"/>
          </a:xfrm>
          <a:prstGeom prst="ellipse">
            <a:avLst/>
          </a:prstGeom>
          <a:solidFill>
            <a:srgbClr val="182742"/>
          </a:solidFill>
          <a:ln w="12700">
            <a:solidFill>
              <a:srgbClr val="3EC6B8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3EC6B8"/>
                </a:solidFill>
                <a:latin typeface="Helvetica Neue"/>
                <a:ea typeface="Helvetica Neue"/>
              </a:rPr>
              <a:t>7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2B53BCD-E1F9-4815-93D1-BF1481B00CDC}"/>
              </a:ext>
            </a:extLst>
          </p:cNvPr>
          <p:cNvSpPr txBox="1"/>
          <p:nvPr/>
        </p:nvSpPr>
        <p:spPr>
          <a:xfrm>
            <a:off x="1104900" y="56769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350">
                <a:solidFill>
                  <a:srgbClr val="FFFFFF"/>
                </a:solidFill>
                <a:latin typeface="PingFang SC"/>
                <a:ea typeface="PingFang SC"/>
              </a:rPr>
              <a:t>大规模预训练耗时耗资源 —— 加载公开可用的预训练权重是高效的替代方案。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9FC4C7B-D73D-4E6E-81D0-48321D3410F4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A79010E-0883-4C72-8C66-5BBDFC6BE228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23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DE74934-D9A3-4FAA-9D7C-57710FC20E5E}"/>
              </a:ext>
            </a:extLst>
          </p:cNvPr>
          <p:cNvSpPr/>
          <p:nvPr/>
        </p:nvSpPr>
        <p:spPr>
          <a:xfrm>
            <a:off x="609600" y="495300"/>
            <a:ext cx="685800" cy="3238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0B1220"/>
                </a:solidFill>
                <a:latin typeface="PingFang SC"/>
                <a:ea typeface="PingFang SC"/>
              </a:rPr>
              <a:t>练习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461042C-E3A1-4606-BCED-4CA91B9E9698}"/>
              </a:ext>
            </a:extLst>
          </p:cNvPr>
          <p:cNvSpPr txBox="1"/>
          <p:nvPr/>
        </p:nvSpPr>
        <p:spPr>
          <a:xfrm>
            <a:off x="1428750" y="476250"/>
            <a:ext cx="6667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PingFang SC"/>
                <a:ea typeface="PingFang SC"/>
              </a:rPr>
              <a:t>课后练习（原书练习 5.1 – 5.6）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14B580D-A7AA-4E93-8ACC-2953F24AC3C4}"/>
              </a:ext>
            </a:extLst>
          </p:cNvPr>
          <p:cNvSpPr/>
          <p:nvPr/>
        </p:nvSpPr>
        <p:spPr>
          <a:xfrm>
            <a:off x="609600" y="1333500"/>
            <a:ext cx="53340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8407E3F-D4CE-44CB-A2B9-5EB21DA21F40}"/>
              </a:ext>
            </a:extLst>
          </p:cNvPr>
          <p:cNvSpPr txBox="1"/>
          <p:nvPr/>
        </p:nvSpPr>
        <p:spPr>
          <a:xfrm>
            <a:off x="800100" y="152400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练习 5.1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134DAC9-24E1-4315-A9A3-01EBC081B5EA}"/>
              </a:ext>
            </a:extLst>
          </p:cNvPr>
          <p:cNvSpPr txBox="1"/>
          <p:nvPr/>
        </p:nvSpPr>
        <p:spPr>
          <a:xfrm>
            <a:off x="800100" y="1809750"/>
            <a:ext cx="4953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温度实验：打印不同温度下的采样频率；pizza 各被选中多少次？有更快更准的计算方法吗？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E747588-E01B-4E7C-92A8-3306E23094F8}"/>
              </a:ext>
            </a:extLst>
          </p:cNvPr>
          <p:cNvSpPr/>
          <p:nvPr/>
        </p:nvSpPr>
        <p:spPr>
          <a:xfrm>
            <a:off x="6248400" y="1333500"/>
            <a:ext cx="53340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21BE753-9D6E-49E8-8E5B-F85B79F4B15A}"/>
              </a:ext>
            </a:extLst>
          </p:cNvPr>
          <p:cNvSpPr txBox="1"/>
          <p:nvPr/>
        </p:nvSpPr>
        <p:spPr>
          <a:xfrm>
            <a:off x="6438900" y="152400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练习 5.2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918A74F-AB29-4160-B804-AAE236B92561}"/>
              </a:ext>
            </a:extLst>
          </p:cNvPr>
          <p:cNvSpPr txBox="1"/>
          <p:nvPr/>
        </p:nvSpPr>
        <p:spPr>
          <a:xfrm>
            <a:off x="6438900" y="1809750"/>
            <a:ext cx="4953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场景分析：哪些应用场景适合低温度 / 低 Top-k？哪些又偏好较高的设置？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4BBB938-ADD0-43BE-9AF4-AD0E202AAFA7}"/>
              </a:ext>
            </a:extLst>
          </p:cNvPr>
          <p:cNvSpPr/>
          <p:nvPr/>
        </p:nvSpPr>
        <p:spPr>
          <a:xfrm>
            <a:off x="609600" y="2933700"/>
            <a:ext cx="53340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C522E07-BCF2-48BE-84D5-FACACBCAEEC1}"/>
              </a:ext>
            </a:extLst>
          </p:cNvPr>
          <p:cNvSpPr txBox="1"/>
          <p:nvPr/>
        </p:nvSpPr>
        <p:spPr>
          <a:xfrm>
            <a:off x="800100" y="312420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练习 5.3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5ECBED4-02A5-40AB-BC3A-FCA7A7042A77}"/>
              </a:ext>
            </a:extLst>
          </p:cNvPr>
          <p:cNvSpPr txBox="1"/>
          <p:nvPr/>
        </p:nvSpPr>
        <p:spPr>
          <a:xfrm>
            <a:off x="800100" y="3409950"/>
            <a:ext cx="4953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确定性：什么参数组合能让 generate 输出与贪心解码（generate_text_simple）完全一致？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571370D-832C-4B03-AD0A-A0A63BB4F216}"/>
              </a:ext>
            </a:extLst>
          </p:cNvPr>
          <p:cNvSpPr/>
          <p:nvPr/>
        </p:nvSpPr>
        <p:spPr>
          <a:xfrm>
            <a:off x="6248400" y="2933700"/>
            <a:ext cx="53340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6A73554-FBFB-4B7F-ACC6-3466F5B76AE4}"/>
              </a:ext>
            </a:extLst>
          </p:cNvPr>
          <p:cNvSpPr txBox="1"/>
          <p:nvPr/>
        </p:nvSpPr>
        <p:spPr>
          <a:xfrm>
            <a:off x="6438900" y="312420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练习 5.4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04C61D8-D07E-44CA-83E0-B84BEAE405F4}"/>
              </a:ext>
            </a:extLst>
          </p:cNvPr>
          <p:cNvSpPr txBox="1"/>
          <p:nvPr/>
        </p:nvSpPr>
        <p:spPr>
          <a:xfrm>
            <a:off x="6438900" y="3409950"/>
            <a:ext cx="4953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断点续训：在新会话中加载模型与优化器，用 train_model_simple 继续预训练 1 轮。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05F4EF9-E8E4-44E7-9925-39BFD93107AB}"/>
              </a:ext>
            </a:extLst>
          </p:cNvPr>
          <p:cNvSpPr/>
          <p:nvPr/>
        </p:nvSpPr>
        <p:spPr>
          <a:xfrm>
            <a:off x="609600" y="4533900"/>
            <a:ext cx="53340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E96BAE6-B2B3-44E8-B035-EA208D736008}"/>
              </a:ext>
            </a:extLst>
          </p:cNvPr>
          <p:cNvSpPr txBox="1"/>
          <p:nvPr/>
        </p:nvSpPr>
        <p:spPr>
          <a:xfrm>
            <a:off x="800100" y="472440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练习 5.5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32921CA-54F2-44B2-8386-563A8D9D6C5C}"/>
              </a:ext>
            </a:extLst>
          </p:cNvPr>
          <p:cNvSpPr txBox="1"/>
          <p:nvPr/>
        </p:nvSpPr>
        <p:spPr>
          <a:xfrm>
            <a:off x="800100" y="5010150"/>
            <a:ext cx="4953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损失评估：用 OpenAI 预训练权重计算 The Verdict 的训练集损失和验证集损失。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750B546-6B20-4856-9870-844A639F8AB4}"/>
              </a:ext>
            </a:extLst>
          </p:cNvPr>
          <p:cNvSpPr/>
          <p:nvPr/>
        </p:nvSpPr>
        <p:spPr>
          <a:xfrm>
            <a:off x="6248400" y="4533900"/>
            <a:ext cx="5334000" cy="1428750"/>
          </a:xfrm>
          <a:prstGeom prst="roundRect">
            <a:avLst/>
          </a:prstGeom>
          <a:solidFill>
            <a:srgbClr val="182742"/>
          </a:solidFill>
          <a:ln w="12700">
            <a:solidFill>
              <a:srgbClr val="2C3E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6A6D531-2366-44C4-98C0-62716CFD4C53}"/>
              </a:ext>
            </a:extLst>
          </p:cNvPr>
          <p:cNvSpPr txBox="1"/>
          <p:nvPr/>
        </p:nvSpPr>
        <p:spPr>
          <a:xfrm>
            <a:off x="6438900" y="4724400"/>
            <a:ext cx="1905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Helvetica Neue"/>
                <a:ea typeface="Helvetica Neue"/>
              </a:rPr>
              <a:t>练习 5.6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62DF1C3-4990-4615-A23D-0F2E7F04B02B}"/>
              </a:ext>
            </a:extLst>
          </p:cNvPr>
          <p:cNvSpPr txBox="1"/>
          <p:nvPr/>
        </p:nvSpPr>
        <p:spPr>
          <a:xfrm>
            <a:off x="6438900" y="5010150"/>
            <a:ext cx="49530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A9B7CC"/>
                </a:solidFill>
                <a:latin typeface="PingFang SC"/>
                <a:ea typeface="PingFang SC"/>
              </a:rPr>
              <a:t>规模对比：尝试 15.58 亿参数的最大 GPT-2，与 1.24 亿模型的生成文本做比较。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9E896C4-9DBC-4006-BC7A-D2845C500962}"/>
              </a:ext>
            </a:extLst>
          </p:cNvPr>
          <p:cNvSpPr txBox="1"/>
          <p:nvPr/>
        </p:nvSpPr>
        <p:spPr>
          <a:xfrm>
            <a:off x="609600" y="6591300"/>
            <a:ext cx="4000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B6B85"/>
                </a:solidFill>
                <a:latin typeface="PingFang SC"/>
                <a:ea typeface="PingFang SC"/>
              </a:rPr>
              <a:t>《从零构建大模型》教学课件 · 第 5 章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AEC5F3C-67CE-4FBD-82DD-3EC1581BBB7D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24 /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C55D210-8843-4682-A7D3-3618264765C2}"/>
              </a:ext>
            </a:extLst>
          </p:cNvPr>
          <p:cNvSpPr/>
          <p:nvPr/>
        </p:nvSpPr>
        <p:spPr>
          <a:xfrm>
            <a:off x="8763000" y="762000"/>
            <a:ext cx="3048000" cy="3048000"/>
          </a:xfrm>
          <a:prstGeom prst="donut">
            <a:avLst/>
          </a:prstGeom>
          <a:solidFill>
            <a:srgbClr val="3EC6B8">
              <a:alpha val="12157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1A15982-641E-47A3-BC78-438F8D9C174F}"/>
              </a:ext>
            </a:extLst>
          </p:cNvPr>
          <p:cNvSpPr/>
          <p:nvPr/>
        </p:nvSpPr>
        <p:spPr>
          <a:xfrm>
            <a:off x="10287000" y="4191000"/>
            <a:ext cx="1047750" cy="1047750"/>
          </a:xfrm>
          <a:prstGeom prst="ellipse">
            <a:avLst/>
          </a:prstGeom>
          <a:solidFill>
            <a:srgbClr val="F0A63C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FBD31BC-608F-4AA0-8AF6-FCC00A881BDD}"/>
              </a:ext>
            </a:extLst>
          </p:cNvPr>
          <p:cNvSpPr txBox="1"/>
          <p:nvPr/>
        </p:nvSpPr>
        <p:spPr>
          <a:xfrm>
            <a:off x="7620000" y="1428750"/>
            <a:ext cx="4000500" cy="4000500"/>
          </a:xfrm>
        </p:spPr>
        <p:txBody>
          <a:bodyPr wrap="square" rtlCol="0" lIns="0" tIns="0" rIns="0" bIns="0" anchor="ctr"/>
          <a:lstStyle/>
          <a:p>
            <a:pPr algn="l"/>
            <a:r>
              <a:rPr sz="16000" b="1">
                <a:solidFill>
                  <a:srgbClr val="1C2E4A"/>
                </a:solidFill>
                <a:latin typeface="Helvetica Neue"/>
                <a:ea typeface="Helvetica Neue"/>
              </a:rPr>
              <a:t>06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F4FBC79-9D27-4477-A041-AD91561AE7DE}"/>
              </a:ext>
            </a:extLst>
          </p:cNvPr>
          <p:cNvSpPr txBox="1"/>
          <p:nvPr/>
        </p:nvSpPr>
        <p:spPr>
          <a:xfrm>
            <a:off x="609600" y="666750"/>
            <a:ext cx="4762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《从零构建大模型》教学课件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B019AC6-16E2-49A3-B1B7-6E5E57EA9EE8}"/>
              </a:ext>
            </a:extLst>
          </p:cNvPr>
          <p:cNvSpPr/>
          <p:nvPr/>
        </p:nvSpPr>
        <p:spPr>
          <a:xfrm>
            <a:off x="609600" y="1714500"/>
            <a:ext cx="1123950" cy="400050"/>
          </a:xfrm>
          <a:prstGeom prst="roundRect">
            <a:avLst/>
          </a:prstGeom>
          <a:solidFill>
            <a:srgbClr val="F0A63C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B1220"/>
                </a:solidFill>
                <a:latin typeface="PingFang SC"/>
                <a:ea typeface="PingFang SC"/>
              </a:rPr>
              <a:t>第 6 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0C6C54-BBFE-40EC-AFA5-2BEFED6EA9E1}"/>
              </a:ext>
            </a:extLst>
          </p:cNvPr>
          <p:cNvSpPr txBox="1"/>
          <p:nvPr/>
        </p:nvSpPr>
        <p:spPr>
          <a:xfrm>
            <a:off x="609600" y="2362200"/>
            <a:ext cx="66675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下一章：针对分类的微调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CDFF189-BD2F-4058-B905-187AA7B5D9C1}"/>
              </a:ext>
            </a:extLst>
          </p:cNvPr>
          <p:cNvSpPr txBox="1"/>
          <p:nvPr/>
        </p:nvSpPr>
        <p:spPr>
          <a:xfrm>
            <a:off x="609600" y="3143250"/>
            <a:ext cx="7239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600">
                <a:solidFill>
                  <a:srgbClr val="3EC6B8"/>
                </a:solidFill>
                <a:latin typeface="PingFang SC"/>
                <a:ea typeface="PingFang SC"/>
              </a:rPr>
              <a:t>把预训练好的 GPT 变成文本分类器 —— 垃圾邮件识别、情感分析等任务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FACCB6E-8FA9-4EB3-BC93-7BE91DD504E4}"/>
              </a:ext>
            </a:extLst>
          </p:cNvPr>
          <p:cNvSpPr txBox="1"/>
          <p:nvPr/>
        </p:nvSpPr>
        <p:spPr>
          <a:xfrm>
            <a:off x="609600" y="3581400"/>
            <a:ext cx="66675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本章训练的模型与加载的 OpenAI 预训练权重，都将在微调阶段继续复用。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0A43DD8-A7E4-42DC-BE1D-64A910673088}"/>
              </a:ext>
            </a:extLst>
          </p:cNvPr>
          <p:cNvSpPr txBox="1"/>
          <p:nvPr/>
        </p:nvSpPr>
        <p:spPr>
          <a:xfrm>
            <a:off x="609600" y="5334000"/>
            <a:ext cx="3810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谢谢聆听 · Q &amp; 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61E30F4-93D8-4F11-A0FE-5CABF95931EB}"/>
              </a:ext>
            </a:extLst>
          </p:cNvPr>
          <p:cNvSpPr txBox="1"/>
          <p:nvPr/>
        </p:nvSpPr>
        <p:spPr>
          <a:xfrm>
            <a:off x="609600" y="57150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B6B85"/>
                </a:solidFill>
                <a:latin typeface="PingFang SC"/>
                <a:ea typeface="PingFang SC"/>
              </a:rPr>
              <a:t>第 5 章 在无标签数据上进行预训练 · 完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A69C6D-7951-4D72-8D5B-2CB3274B2D51}"/>
              </a:ext>
            </a:extLst>
          </p:cNvPr>
          <p:cNvSpPr txBox="1"/>
          <p:nvPr/>
        </p:nvSpPr>
        <p:spPr>
          <a:xfrm>
            <a:off x="10287000" y="6591300"/>
            <a:ext cx="12954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5B6B85"/>
                </a:solidFill>
                <a:latin typeface="Helvetica Neue"/>
                <a:ea typeface="Helvetica Neue"/>
              </a:rPr>
              <a:t>25 /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2827303-A6B1-4CAF-9500-2B3E84C1B12F}"/>
              </a:ext>
            </a:extLst>
          </p:cNvPr>
          <p:cNvSpPr/>
          <p:nvPr/>
        </p:nvSpPr>
        <p:spPr>
          <a:xfrm>
            <a:off x="8763000" y="762000"/>
            <a:ext cx="3048000" cy="3048000"/>
          </a:xfrm>
          <a:prstGeom prst="donut">
            <a:avLst/>
          </a:prstGeom>
          <a:solidFill>
            <a:srgbClr val="3EC6B8">
              <a:alpha val="12157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461C451-2C9C-4DC2-B3C8-5B54B28FAB76}"/>
              </a:ext>
            </a:extLst>
          </p:cNvPr>
          <p:cNvSpPr/>
          <p:nvPr/>
        </p:nvSpPr>
        <p:spPr>
          <a:xfrm>
            <a:off x="10287000" y="4191000"/>
            <a:ext cx="1047750" cy="1047750"/>
          </a:xfrm>
          <a:prstGeom prst="ellipse">
            <a:avLst/>
          </a:prstGeom>
          <a:solidFill>
            <a:srgbClr val="F0A63C">
              <a:alpha val="14902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C6BEA72-A72F-4821-BF26-DA18B4FAE0DF}"/>
              </a:ext>
            </a:extLst>
          </p:cNvPr>
          <p:cNvSpPr/>
          <p:nvPr/>
        </p:nvSpPr>
        <p:spPr>
          <a:xfrm>
            <a:off x="8305800" y="4476750"/>
            <a:ext cx="247650" cy="247650"/>
          </a:xfrm>
          <a:prstGeom prst="ellipse">
            <a:avLst/>
          </a:prstGeom>
          <a:solidFill>
            <a:srgbClr val="3EC6B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4DF9D6A-835C-43B5-9DA3-8CB3E0EEDF17}"/>
              </a:ext>
            </a:extLst>
          </p:cNvPr>
          <p:cNvSpPr txBox="1"/>
          <p:nvPr/>
        </p:nvSpPr>
        <p:spPr>
          <a:xfrm>
            <a:off x="609600" y="666750"/>
            <a:ext cx="7239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3EC6B8"/>
                </a:solidFill>
                <a:latin typeface="PingFang SC"/>
                <a:ea typeface="PingFang SC"/>
              </a:rPr>
              <a:t>《从零构建大模型》教学课件</a:t>
            </a:r>
            <a:r>
              <a:rPr sz="1100">
                <a:solidFill>
                  <a:srgbClr val="5B6B85"/>
                </a:solidFill>
                <a:latin typeface="Helvetica Neue"/>
                <a:ea typeface="Helvetica Neue"/>
              </a:rPr>
              <a:t>  ·  BUILD A LARGE LANGUAGE MODEL (FROM SCRATCH)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82E89DA-6DE9-4968-9242-5A84E4DCD618}"/>
              </a:ext>
            </a:extLst>
          </p:cNvPr>
          <p:cNvSpPr/>
          <p:nvPr/>
        </p:nvSpPr>
        <p:spPr>
          <a:xfrm>
            <a:off x="609600" y="1676400"/>
            <a:ext cx="1123950" cy="400050"/>
          </a:xfrm>
          <a:prstGeom prst="roundRect">
            <a:avLst/>
          </a:prstGeom>
          <a:solidFill>
            <a:srgbClr val="3EC6B8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B1220"/>
                </a:solidFill>
                <a:latin typeface="PingFang SC"/>
                <a:ea typeface="PingFang SC"/>
              </a:rPr>
              <a:t>第 5 章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91FB90-A701-4F14-A52C-34C3DD6EC344}"/>
              </a:ext>
            </a:extLst>
          </p:cNvPr>
          <p:cNvSpPr txBox="1"/>
          <p:nvPr/>
        </p:nvSpPr>
        <p:spPr>
          <a:xfrm>
            <a:off x="609600" y="2343150"/>
            <a:ext cx="6858000" cy="640080"/>
          </a:xfrm>
        </p:spPr>
        <p:txBody>
          <a:bodyPr wrap="square" rtlCol="0" lIns="0" tIns="0" rIns="0" bIns="0" anchor="t"/>
          <a:lstStyle/>
          <a:p>
            <a:pPr algn="l"/>
            <a:r>
              <a:rPr sz="4200" b="1">
                <a:solidFill>
                  <a:srgbClr val="FFFFFF"/>
                </a:solidFill>
                <a:latin typeface="PingFang SC"/>
                <a:ea typeface="PingFang SC"/>
              </a:rPr>
              <a:t>在无标签数据上进行预训练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014B862-8840-40E7-A598-802B98D177A1}"/>
              </a:ext>
            </a:extLst>
          </p:cNvPr>
          <p:cNvSpPr txBox="1"/>
          <p:nvPr/>
        </p:nvSpPr>
        <p:spPr>
          <a:xfrm>
            <a:off x="609600" y="3124200"/>
            <a:ext cx="6858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>
                <a:solidFill>
                  <a:srgbClr val="3EC6B8"/>
                </a:solidFill>
                <a:latin typeface="PingFang SC"/>
                <a:ea typeface="PingFang SC"/>
              </a:rPr>
              <a:t>评估生成质量 · 训练 GPT · 解码策略 · 权重加载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F5AA6B-94BB-4203-BA90-AF7ECCEDB9E6}"/>
              </a:ext>
            </a:extLst>
          </p:cNvPr>
          <p:cNvSpPr txBox="1"/>
          <p:nvPr/>
        </p:nvSpPr>
        <p:spPr>
          <a:xfrm>
            <a:off x="609600" y="3562350"/>
            <a:ext cx="6858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A9B7CC"/>
                </a:solidFill>
                <a:latin typeface="PingFang SC"/>
                <a:ea typeface="PingFang SC"/>
              </a:rPr>
              <a:t>本章将实现完整的预训练流程：计算损失、编写训练循环、改进文本生成策略，并加载 OpenAI 的 GPT-2 预训练权重。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DBF15C-6093-4B22-9E7A-21DFE77F7D3C}"/>
              </a:ext>
            </a:extLst>
          </p:cNvPr>
          <p:cNvSpPr txBox="1"/>
          <p:nvPr/>
        </p:nvSpPr>
        <p:spPr>
          <a:xfrm>
            <a:off x="609600" y="5676900"/>
            <a:ext cx="495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B6B85"/>
                </a:solidFill>
                <a:latin typeface="PingFang SC"/>
                <a:ea typeface="PingFang SC"/>
              </a:rPr>
              <a:t>对应原书 5.1 – 5.6 节  ·  课堂教学使用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480750D-F07C-4AD2-AAC8-D60568647647}"/>
              </a:ext>
            </a:extLst>
          </p:cNvPr>
          <p:cNvSpPr txBox="1"/>
          <p:nvPr/>
        </p:nvSpPr>
        <p:spPr>
          <a:xfrm>
            <a:off x="609600" y="5943600"/>
            <a:ext cx="5334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B6B85"/>
                </a:solidFill>
                <a:latin typeface="PingFang SC"/>
                <a:ea typeface="PingFang SC"/>
              </a:rPr>
              <a:t>Sebastian Raschka 著 · 覃立波 / 冯晓骋 / 刘乾 译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D2D8693-6F0E-4255-B51D-A83341B295C5}"/>
              </a:ext>
            </a:extLst>
          </p:cNvPr>
          <p:cNvSpPr txBox="1"/>
          <p:nvPr/>
        </p:nvSpPr>
        <p:spPr>
          <a:xfrm>
            <a:off x="7620000" y="1428750"/>
            <a:ext cx="4000500" cy="4000500"/>
          </a:xfrm>
        </p:spPr>
        <p:txBody>
          <a:bodyPr wrap="square" rtlCol="0" lIns="0" tIns="0" rIns="0" bIns="0" anchor="ctr"/>
          <a:lstStyle/>
          <a:p>
            <a:pPr algn="l"/>
            <a:r>
              <a:rPr sz="16000" b="1">
                <a:solidFill>
                  <a:srgbClr val="1C2E4A"/>
                </a:solidFill>
                <a:latin typeface="Helvetica Neue"/>
                <a:ea typeface="Helvetica Neue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