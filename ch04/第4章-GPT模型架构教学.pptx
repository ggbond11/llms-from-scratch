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2" r:id="rId3"/>
    <p:sldId id="257" r:id="rId4"/>
    <p:sldId id="258" r:id="rId5"/>
    <p:sldId id="260" r:id="rId6"/>
    <p:sldId id="263" r:id="rId7"/>
    <p:sldId id="264" r:id="rId8"/>
    <p:sldId id="266" r:id="rId9"/>
    <p:sldId id="268" r:id="rId10"/>
    <p:sldId id="272" r:id="rId11"/>
    <p:sldId id="273" r:id="rId12"/>
    <p:sldId id="274" r:id="rId13"/>
    <p:sldId id="276" r:id="rId14"/>
    <p:sldId id="277" r:id="rId15"/>
    <p:sldId id="278" r:id="rId16"/>
    <p:sldId id="280" r:id="rId17"/>
    <p:sldId id="281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12263F"/>
          </a:solidFill>
        </p:spPr>
        <p:txBody>
          <a:bodyPr wrap="square" rtlCol="0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0" y="3400425"/>
            <a:ext cx="5334000" cy="5715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5" name="Shape 5"/>
          <p:cNvSpPr/>
          <p:nvPr/>
        </p:nvSpPr>
        <p:spPr>
          <a:xfrm>
            <a:off x="7543800" y="838200"/>
            <a:ext cx="1219200" cy="1219200"/>
          </a:xfrm>
          <a:prstGeom prst="roundRect">
            <a:avLst/>
          </a:prstGeom>
          <a:solidFill>
            <a:srgbClr val="2A4E7E"/>
          </a:solidFill>
          <a:ln w="19050">
            <a:solidFill>
              <a:srgbClr val="4E9AF1"/>
            </a:solidFill>
          </a:ln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9029700" y="1181100"/>
            <a:ext cx="1219200" cy="685800"/>
          </a:xfrm>
          <a:prstGeom prst="roundRect">
            <a:avLst/>
          </a:prstGeom>
          <a:solidFill>
            <a:srgbClr val="1E3E63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7677150" y="1409700"/>
            <a:ext cx="152400" cy="152400"/>
          </a:xfrm>
          <a:prstGeom prst="round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8" name="Shape 8"/>
          <p:cNvSpPr/>
          <p:nvPr/>
        </p:nvSpPr>
        <p:spPr>
          <a:xfrm>
            <a:off x="8477250" y="1409700"/>
            <a:ext cx="152400" cy="152400"/>
          </a:xfrm>
          <a:prstGeom prst="round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9" name="Shape 9"/>
          <p:cNvSpPr/>
          <p:nvPr/>
        </p:nvSpPr>
        <p:spPr>
          <a:xfrm>
            <a:off x="8610600" y="2476500"/>
            <a:ext cx="876300" cy="876300"/>
          </a:xfrm>
          <a:prstGeom prst="roundRect">
            <a:avLst/>
          </a:prstGeom>
          <a:solidFill>
            <a:srgbClr val="243B55"/>
          </a:solidFill>
        </p:spPr>
        <p:txBody>
          <a:bodyPr wrap="square" rtlCol="0"/>
          <a:lstStyle/>
          <a:p/>
        </p:txBody>
      </p:sp>
      <p:sp>
        <p:nvSpPr>
          <p:cNvPr id="10" name="Shape 10"/>
          <p:cNvSpPr/>
          <p:nvPr/>
        </p:nvSpPr>
        <p:spPr>
          <a:xfrm>
            <a:off x="9734550" y="2743200"/>
            <a:ext cx="571500" cy="571500"/>
          </a:xfrm>
          <a:prstGeom prst="roundRect">
            <a:avLst/>
          </a:prstGeom>
          <a:solidFill>
            <a:srgbClr val="3E2A50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7791450" y="2838450"/>
            <a:ext cx="152400" cy="152400"/>
          </a:xfrm>
          <a:prstGeom prst="ellipse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2" name="Shape 12"/>
          <p:cNvSpPr/>
          <p:nvPr/>
        </p:nvSpPr>
        <p:spPr>
          <a:xfrm>
            <a:off x="9124950" y="2838450"/>
            <a:ext cx="152400" cy="152400"/>
          </a:xfrm>
          <a:prstGeom prst="ellipse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7696200" y="3733800"/>
            <a:ext cx="3238500" cy="9525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4E9AF1"/>
            </a:solidFill>
          </a:ln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9144000" y="4000500"/>
            <a:ext cx="95250" cy="95250"/>
          </a:xfrm>
          <a:prstGeom prst="ellipse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9372600" y="4000500"/>
            <a:ext cx="95250" cy="95250"/>
          </a:xfrm>
          <a:prstGeom prst="ellipse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6" name="Shape 16"/>
          <p:cNvSpPr/>
          <p:nvPr/>
        </p:nvSpPr>
        <p:spPr>
          <a:xfrm>
            <a:off x="9601200" y="4000500"/>
            <a:ext cx="95250" cy="95250"/>
          </a:xfrm>
          <a:prstGeom prst="ellipse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8077200" y="4343400"/>
            <a:ext cx="76200" cy="76200"/>
          </a:xfrm>
          <a:prstGeom prst="ellipse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8343900" y="4343400"/>
            <a:ext cx="76200" cy="76200"/>
          </a:xfrm>
          <a:prstGeom prst="ellipse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8610600" y="4343400"/>
            <a:ext cx="76200" cy="76200"/>
          </a:xfrm>
          <a:prstGeom prst="ellipse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0" name="Shape 20"/>
          <p:cNvSpPr/>
          <p:nvPr/>
        </p:nvSpPr>
        <p:spPr>
          <a:xfrm>
            <a:off x="8877300" y="4343400"/>
            <a:ext cx="76200" cy="76200"/>
          </a:xfrm>
          <a:prstGeom prst="ellipse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1" name="Shape 21"/>
          <p:cNvSpPr/>
          <p:nvPr/>
        </p:nvSpPr>
        <p:spPr>
          <a:xfrm>
            <a:off x="9144000" y="4343400"/>
            <a:ext cx="76200" cy="76200"/>
          </a:xfrm>
          <a:prstGeom prst="ellipse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22" name="Shape 22"/>
          <p:cNvSpPr/>
          <p:nvPr/>
        </p:nvSpPr>
        <p:spPr>
          <a:xfrm>
            <a:off x="9410700" y="4343400"/>
            <a:ext cx="76200" cy="76200"/>
          </a:xfrm>
          <a:prstGeom prst="ellipse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3" name="Shape 23"/>
          <p:cNvSpPr/>
          <p:nvPr/>
        </p:nvSpPr>
        <p:spPr>
          <a:xfrm>
            <a:off x="9677400" y="4343400"/>
            <a:ext cx="76200" cy="76200"/>
          </a:xfrm>
          <a:prstGeom prst="ellipse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4" name="Shape 24"/>
          <p:cNvSpPr/>
          <p:nvPr/>
        </p:nvSpPr>
        <p:spPr>
          <a:xfrm>
            <a:off x="9944100" y="4343400"/>
            <a:ext cx="76200" cy="76200"/>
          </a:xfrm>
          <a:prstGeom prst="ellipse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10210800" y="4343400"/>
            <a:ext cx="76200" cy="76200"/>
          </a:xfrm>
          <a:prstGeom prst="ellipse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6" name="Shape 26"/>
          <p:cNvSpPr/>
          <p:nvPr/>
        </p:nvSpPr>
        <p:spPr>
          <a:xfrm>
            <a:off x="7886700" y="4838700"/>
            <a:ext cx="381000" cy="3810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27" name="Shape 27"/>
          <p:cNvSpPr/>
          <p:nvPr/>
        </p:nvSpPr>
        <p:spPr>
          <a:xfrm>
            <a:off x="8343900" y="4838700"/>
            <a:ext cx="381000" cy="3810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28" name="Shape 28"/>
          <p:cNvSpPr/>
          <p:nvPr/>
        </p:nvSpPr>
        <p:spPr>
          <a:xfrm>
            <a:off x="8801100" y="4838700"/>
            <a:ext cx="381000" cy="3810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29" name="Shape 29"/>
          <p:cNvSpPr/>
          <p:nvPr/>
        </p:nvSpPr>
        <p:spPr>
          <a:xfrm>
            <a:off x="9258300" y="4838700"/>
            <a:ext cx="381000" cy="3810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30" name="Shape 30"/>
          <p:cNvSpPr/>
          <p:nvPr/>
        </p:nvSpPr>
        <p:spPr>
          <a:xfrm>
            <a:off x="9715500" y="4838700"/>
            <a:ext cx="381000" cy="3810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31" name="Shape 31"/>
          <p:cNvSpPr/>
          <p:nvPr/>
        </p:nvSpPr>
        <p:spPr>
          <a:xfrm>
            <a:off x="10172700" y="4838700"/>
            <a:ext cx="381000" cy="3810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32" name="Shape 32"/>
          <p:cNvSpPr/>
          <p:nvPr/>
        </p:nvSpPr>
        <p:spPr>
          <a:xfrm>
            <a:off x="8010525" y="4962525"/>
            <a:ext cx="133350" cy="1333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33" name="Shape 33"/>
          <p:cNvSpPr/>
          <p:nvPr/>
        </p:nvSpPr>
        <p:spPr>
          <a:xfrm>
            <a:off x="8467725" y="4962525"/>
            <a:ext cx="133350" cy="1333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34" name="Shape 34"/>
          <p:cNvSpPr/>
          <p:nvPr/>
        </p:nvSpPr>
        <p:spPr>
          <a:xfrm>
            <a:off x="8924925" y="4962525"/>
            <a:ext cx="133350" cy="1333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35" name="Shape 35"/>
          <p:cNvSpPr/>
          <p:nvPr/>
        </p:nvSpPr>
        <p:spPr>
          <a:xfrm>
            <a:off x="9382125" y="4962525"/>
            <a:ext cx="133350" cy="1333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36" name="Shape 36"/>
          <p:cNvSpPr/>
          <p:nvPr/>
        </p:nvSpPr>
        <p:spPr>
          <a:xfrm>
            <a:off x="9839325" y="4962525"/>
            <a:ext cx="133350" cy="1333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37" name="Shape 37"/>
          <p:cNvSpPr/>
          <p:nvPr/>
        </p:nvSpPr>
        <p:spPr>
          <a:xfrm>
            <a:off x="10296525" y="4962525"/>
            <a:ext cx="133350" cy="1333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38" name="TextBox 38"/>
          <p:cNvSpPr txBox="1"/>
          <p:nvPr/>
        </p:nvSpPr>
        <p:spPr>
          <a:xfrm>
            <a:off x="7696200" y="5448300"/>
            <a:ext cx="1714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TRF BLOCK ×12 · GPT-2 124M</a:t>
            </a:r>
            <a:endParaRPr sz="10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66750" y="838200"/>
            <a:ext cx="5334000" cy="1676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从头实现GPT模型</a:t>
            </a:r>
            <a:endParaRPr sz="4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进行文本生成</a:t>
            </a:r>
            <a:endParaRPr sz="44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66750" y="2686050"/>
            <a:ext cx="5334000" cy="342900"/>
          </a:xfrm>
        </p:spPr>
        <p:txBody>
          <a:bodyPr wrap="square" lIns="0" tIns="0" rIns="0" bIns="0" rtlCol="0" anchor="t"/>
          <a:lstStyle/>
          <a:p>
            <a:pPr algn="l"/>
            <a:r>
              <a:rPr sz="16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《从零构建大模型》第四章教学课件</a:t>
            </a:r>
            <a:endParaRPr sz="16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666750" y="3200400"/>
            <a:ext cx="114300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666750" y="3486150"/>
            <a:ext cx="5334000" cy="1905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学习目标</a:t>
            </a:r>
            <a:endParaRPr sz="1600" b="1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搭建完整 GPT 架构，理解各组件协同方式</a:t>
            </a:r>
            <a:endParaRPr sz="14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掌握层归一化、GELU 与快捷连接三大核心构件</a:t>
            </a:r>
            <a:endParaRPr sz="14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组装 Transformer 块并实现 1.24 亿参数 GPT-2</a:t>
            </a:r>
            <a:endParaRPr sz="14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理解逐词元生成文本的完整流程</a:t>
            </a:r>
            <a:endParaRPr sz="14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66750" y="6096000"/>
            <a:ext cx="5334000" cy="3429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参考：《从零构建大模型》（Sebastian Raschka 著）第 4 章 · 教学用途</a:t>
            </a:r>
            <a:endParaRPr sz="12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66675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本章内容与学习路线</a:t>
            </a:r>
            <a:endParaRPr sz="3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104900"/>
            <a:ext cx="6667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从已实现的多头注意力出发，组装出完整的 1.24 亿参数 GPT-2 模型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5049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2057400"/>
            <a:ext cx="1905000" cy="18097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2714625" y="2057400"/>
            <a:ext cx="1905000" cy="18097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8" name="Shape 8"/>
          <p:cNvSpPr/>
          <p:nvPr/>
        </p:nvSpPr>
        <p:spPr>
          <a:xfrm>
            <a:off x="4762500" y="2057400"/>
            <a:ext cx="1905000" cy="18097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9" name="Shape 9"/>
          <p:cNvSpPr/>
          <p:nvPr/>
        </p:nvSpPr>
        <p:spPr>
          <a:xfrm>
            <a:off x="6810375" y="2057400"/>
            <a:ext cx="1905000" cy="18097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0" name="Shape 10"/>
          <p:cNvSpPr/>
          <p:nvPr/>
        </p:nvSpPr>
        <p:spPr>
          <a:xfrm>
            <a:off x="8858250" y="2057400"/>
            <a:ext cx="1905000" cy="18097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1447800" y="2247900"/>
            <a:ext cx="342900" cy="342900"/>
          </a:xfrm>
          <a:prstGeom prst="roundRect">
            <a:avLst/>
          </a:prstGeom>
          <a:solidFill>
            <a:srgbClr val="1E3E63"/>
          </a:solidFill>
        </p:spPr>
        <p:txBody>
          <a:bodyPr wrap="square" rtlCol="0"/>
          <a:lstStyle/>
          <a:p/>
        </p:txBody>
      </p:sp>
      <p:sp>
        <p:nvSpPr>
          <p:cNvPr id="12" name="Shape 12"/>
          <p:cNvSpPr/>
          <p:nvPr/>
        </p:nvSpPr>
        <p:spPr>
          <a:xfrm>
            <a:off x="3495675" y="2247900"/>
            <a:ext cx="342900" cy="342900"/>
          </a:xfrm>
          <a:prstGeom prst="roundRect">
            <a:avLst/>
          </a:prstGeom>
          <a:solidFill>
            <a:srgbClr val="1E3E63"/>
          </a:solidFill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5543550" y="2247900"/>
            <a:ext cx="342900" cy="342900"/>
          </a:xfrm>
          <a:prstGeom prst="roundRect">
            <a:avLst/>
          </a:prstGeom>
          <a:solidFill>
            <a:srgbClr val="1E3E63"/>
          </a:solidFill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7591425" y="2247900"/>
            <a:ext cx="342900" cy="342900"/>
          </a:xfrm>
          <a:prstGeom prst="roundRect">
            <a:avLst/>
          </a:prstGeom>
          <a:solidFill>
            <a:srgbClr val="1E3E63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9639300" y="2247900"/>
            <a:ext cx="342900" cy="342900"/>
          </a:xfrm>
          <a:prstGeom prst="roundRect">
            <a:avLst/>
          </a:prstGeom>
          <a:solidFill>
            <a:srgbClr val="1E3E63"/>
          </a:solidFill>
        </p:spPr>
        <p:txBody>
          <a:bodyPr wrap="square" rtlCol="0"/>
          <a:lstStyle/>
          <a:p/>
        </p:txBody>
      </p:sp>
      <p:sp>
        <p:nvSpPr>
          <p:cNvPr id="16" name="Shape 16"/>
          <p:cNvSpPr/>
          <p:nvPr/>
        </p:nvSpPr>
        <p:spPr>
          <a:xfrm>
            <a:off x="2381250" y="2819400"/>
            <a:ext cx="190500" cy="285750"/>
          </a:xfrm>
          <a:prstGeom prst="right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4429125" y="2819400"/>
            <a:ext cx="190500" cy="285750"/>
          </a:xfrm>
          <a:prstGeom prst="right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6477000" y="2819400"/>
            <a:ext cx="190500" cy="285750"/>
          </a:xfrm>
          <a:prstGeom prst="right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8524875" y="2819400"/>
            <a:ext cx="190500" cy="285750"/>
          </a:xfrm>
          <a:prstGeom prst="right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781050" y="2286000"/>
            <a:ext cx="1676400" cy="1428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1</a:t>
            </a:r>
            <a:endParaRPr sz="2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5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整体架构</a:t>
            </a:r>
            <a:endParaRPr sz="15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自顶向下理解 GPT 模型结构与 124M 配置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828925" y="2286000"/>
            <a:ext cx="1676400" cy="1428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2</a:t>
            </a:r>
            <a:endParaRPr sz="2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5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层归一化</a:t>
            </a:r>
            <a:endParaRPr sz="15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归一化激活值，稳定深层网络训练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76800" y="2286000"/>
            <a:ext cx="1676400" cy="1428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3</a:t>
            </a:r>
            <a:endParaRPr sz="2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5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前馈与GELU</a:t>
            </a:r>
            <a:endParaRPr sz="15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平滑激活函数，先扩展再压缩的瓶颈设计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924675" y="2286000"/>
            <a:ext cx="1676400" cy="1428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4</a:t>
            </a:r>
            <a:endParaRPr sz="2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5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Transformer块</a:t>
            </a:r>
            <a:endParaRPr sz="15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注意力+前馈+残差连接，堆叠 12 层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972550" y="2286000"/>
            <a:ext cx="1676400" cy="1428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5</a:t>
            </a:r>
            <a:endParaRPr sz="2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5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生成文本</a:t>
            </a:r>
            <a:endParaRPr sz="15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逐词元预测循环，输出张量解码为文本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666750" y="4267200"/>
            <a:ext cx="10096500" cy="15240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57250" y="4438650"/>
            <a:ext cx="981075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前置知识 → 本章产出</a:t>
            </a:r>
            <a:endParaRPr sz="14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57250" y="4762500"/>
            <a:ext cx="981075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已掌握（第 2–3 章）：BPE 分词、词元与位置嵌入、掩码多头注意力机制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本章产出：完整 GPTModel 类 + 逐词元文本生成函数 generate_text_simple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下一章（第 5 章）：在无标签数据上预训练，让模型生成连贯文本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66750" y="628650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02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66675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4.1 GPT 模型架构总览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6667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一次生成一个词元的大型神经网络，但架构并不复杂——大量组件是重复的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666750" y="1866900"/>
            <a:ext cx="4191000" cy="2095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自顶向下看 GPT 结构</a:t>
            </a:r>
            <a:endParaRPr sz="15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词元嵌入 + 位置嵌入：把输入文本转为向量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一系列重复的 Transformer 块（核心计算单元）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最终层归一化 + 线性输出层，输出每个词元的分数（logits）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66750" y="4095750"/>
            <a:ext cx="4191000" cy="17145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4267200"/>
            <a:ext cx="39052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为什么选 GPT-2 而不是 GPT-3？</a:t>
            </a:r>
            <a:endParaRPr sz="14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8200" y="4572000"/>
            <a:ext cx="3905250" cy="1143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两者架构基本相同，GPT-3 仅把参数量从 15 亿扩展到 1750 亿，并使用更多训练数据。GPT-2 权重已公开，且能在单台笔记本上运行（在单个 V100 上训练 GPT-3 约需 355 年）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239000" y="1524000"/>
            <a:ext cx="4095750" cy="485775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448550" y="1676400"/>
            <a:ext cx="2857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GPT 主干数据流（DummyGPTModel）</a:t>
            </a:r>
            <a:endParaRPr sz="1300" b="1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7858125" y="2000250"/>
            <a:ext cx="2857500" cy="533400"/>
          </a:xfrm>
          <a:prstGeom prst="roundRect">
            <a:avLst/>
          </a:prstGeom>
          <a:solidFill>
            <a:srgbClr val="1E3E63"/>
          </a:solidFill>
          <a:ln w="12700">
            <a:solidFill>
              <a:srgbClr val="4E9AF1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7858125" y="2133600"/>
            <a:ext cx="2857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词元嵌入 + 位置嵌入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9201150" y="2590800"/>
            <a:ext cx="171450" cy="285750"/>
          </a:xfrm>
          <a:prstGeom prst="down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7858125" y="2914650"/>
            <a:ext cx="2857500" cy="533400"/>
          </a:xfrm>
          <a:prstGeom prst="roundRect">
            <a:avLst/>
          </a:prstGeom>
          <a:solidFill>
            <a:srgbClr val="2A4E7E"/>
          </a:solidFill>
          <a:ln w="12700">
            <a:solidFill>
              <a:srgbClr val="4E9AF1"/>
            </a:solidFill>
          </a:ln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858125" y="3048000"/>
            <a:ext cx="2857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Transformer 块 ×12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9201150" y="3505200"/>
            <a:ext cx="171450" cy="285750"/>
          </a:xfrm>
          <a:prstGeom prst="down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7858125" y="3829050"/>
            <a:ext cx="2857500" cy="533400"/>
          </a:xfrm>
          <a:prstGeom prst="roundRect">
            <a:avLst/>
          </a:prstGeom>
          <a:solidFill>
            <a:srgbClr val="1E3E63"/>
          </a:solidFill>
          <a:ln w="12700">
            <a:solidFill>
              <a:srgbClr val="4E9AF1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7858125" y="3962400"/>
            <a:ext cx="2857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最终层归一化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9201150" y="4419600"/>
            <a:ext cx="171450" cy="285750"/>
          </a:xfrm>
          <a:prstGeom prst="down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1" name="Shape 21"/>
          <p:cNvSpPr/>
          <p:nvPr/>
        </p:nvSpPr>
        <p:spPr>
          <a:xfrm>
            <a:off x="7858125" y="4743450"/>
            <a:ext cx="2857500" cy="533400"/>
          </a:xfrm>
          <a:prstGeom prst="roundRect">
            <a:avLst/>
          </a:prstGeom>
          <a:solidFill>
            <a:srgbClr val="3E2A50"/>
          </a:solidFill>
          <a:ln w="12700">
            <a:solidFill>
              <a:srgbClr val="F5A623"/>
            </a:solidFill>
          </a:ln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7858125" y="4876800"/>
            <a:ext cx="2857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线性输出层 → logits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239000" y="5486400"/>
            <a:ext cx="4095750" cy="381000"/>
          </a:xfrm>
        </p:spPr>
        <p:txBody>
          <a:bodyPr wrap="square" lIns="0" tIns="0" rIns="0" bIns="0" rtlCol="0" anchor="t"/>
          <a:lstStyle/>
          <a:p>
            <a:pPr algn="ctr"/>
            <a:r>
              <a:rPr sz="115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输出形状 [batch, num_tokens, vocab_size] = [2, 4, 50257]</a:t>
            </a:r>
            <a:endParaRPr sz="115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66750" y="628650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03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66675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4.1 模型配置：GPT_CONFIG_124M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723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一个 Python 字典定义最小规模 GPT-2：改配置不改代码，即可实现更大规模模型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2286000" cy="11239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3067050" y="1866900"/>
            <a:ext cx="2286000" cy="11239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8" name="Shape 8"/>
          <p:cNvSpPr/>
          <p:nvPr/>
        </p:nvSpPr>
        <p:spPr>
          <a:xfrm>
            <a:off x="5467350" y="1866900"/>
            <a:ext cx="2286000" cy="11239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57250" y="2038350"/>
            <a:ext cx="1905000" cy="94640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50257</a:t>
            </a:r>
            <a:endParaRPr sz="34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词汇表 vocab_size</a:t>
            </a:r>
            <a:endParaRPr sz="13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BPE 分词器词表</a:t>
            </a:r>
            <a:endParaRPr sz="11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57550" y="2038350"/>
            <a:ext cx="1905000" cy="94640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768</a:t>
            </a:r>
            <a:endParaRPr sz="34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嵌入维度 emb_dim</a:t>
            </a:r>
            <a:endParaRPr sz="13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每个词元的向量维度</a:t>
            </a:r>
            <a:endParaRPr sz="11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657850" y="2038350"/>
            <a:ext cx="1905000" cy="94640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1024</a:t>
            </a:r>
            <a:endParaRPr sz="34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上下文长度 context</a:t>
            </a:r>
            <a:endParaRPr sz="13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最大输入词元数</a:t>
            </a:r>
            <a:endParaRPr sz="11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66750" y="3105150"/>
            <a:ext cx="2286000" cy="11239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3067050" y="3105150"/>
            <a:ext cx="2286000" cy="11239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5467350" y="3105150"/>
            <a:ext cx="2286000" cy="11239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57250" y="3276600"/>
            <a:ext cx="1905000" cy="94640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12 × 12</a:t>
            </a:r>
            <a:endParaRPr sz="34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层数 × 注意力头数</a:t>
            </a:r>
            <a:endParaRPr sz="13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Transformer 块堆叠</a:t>
            </a:r>
            <a:endParaRPr sz="11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257550" y="3276600"/>
            <a:ext cx="1905000" cy="94640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0.1</a:t>
            </a:r>
            <a:endParaRPr sz="34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Dropout 比例</a:t>
            </a:r>
            <a:endParaRPr sz="13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丢弃 10% 防过拟合</a:t>
            </a:r>
            <a:endParaRPr sz="11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657850" y="3276600"/>
            <a:ext cx="1905000" cy="94640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False</a:t>
            </a:r>
            <a:endParaRPr sz="34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QKV 偏置 qkv_bias</a:t>
            </a:r>
            <a:endParaRPr sz="13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遵循现代做法禁用</a:t>
            </a:r>
            <a:endParaRPr sz="11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8096250" y="1866900"/>
            <a:ext cx="3238500" cy="447675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286750" y="2019300"/>
            <a:ext cx="2857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GPT_CONFIG_124M = {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286750" y="2324100"/>
            <a:ext cx="2857500" cy="3810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"vocab_size": 50257,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"context_length": 1024,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"emb_dim": 768,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"n_heads": 12,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"n_layers": 12,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"drop_rate": 0.1,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"qkv_bias": False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}</a:t>
            </a:r>
            <a:endParaRPr sz="120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6750" y="4533900"/>
            <a:ext cx="7086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注：参数 = 模型的可训练权重。例如 2048×2048 的权重矩阵包含 4,194,304 个参数。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66750" y="628650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04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66675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4.1 占位架构 DummyGPTModel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723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先用占位符搭建可运行的骨架，理解数据流后再逐个替换成真实组件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4381500" cy="41910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7250" y="2000250"/>
            <a:ext cx="4000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class DummyGPTModel(nn.Module):</a:t>
            </a:r>
            <a:endParaRPr sz="13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2305050"/>
            <a:ext cx="4000500" cy="3524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def __init__(self, cfg):</a:t>
            </a: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</a:t>
            </a:r>
            <a:r>
              <a:rPr lang="en-US"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</a:t>
            </a: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self.tok_emb = nn.Embedding(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cfg["vocab_size"], cfg["emb_dim"])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self.pos_emb = nn.Embedding(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cfg["context_length"], cfg["emb_dim"])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self.drop_emb = nn.Dropout(cfg["drop_rate"])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# 占位符：稍后替换为 TransformerBlock</a:t>
            </a:r>
            <a:endParaRPr sz="10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self.trf_blocks = nn.Sequential(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*[DummyTransformerBlock(cfg)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  for _ in range(cfg["n_layers"])])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# 占位符：稍后替换为 LayerNorm</a:t>
            </a:r>
            <a:endParaRPr sz="10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self.final_norm = DummyLayerNorm(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cfg["emb_dim"])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self.out_head = nn.Linear(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cfg["emb_dim"], cfg["vocab_size"], bias=False)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429250" y="1866900"/>
            <a:ext cx="5905500" cy="2000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forward 数据流</a:t>
            </a:r>
            <a:endParaRPr sz="15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① 词元嵌入 + 位置嵌入相加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② dropout 正则化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③ 依次通过 Transformer 块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④ 最终层归一化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⑤ 线性输出层生成 logits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5429250" y="4095750"/>
            <a:ext cx="5905500" cy="19050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5619750" y="4248150"/>
            <a:ext cx="5524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验证：两条输入文本的数据流</a:t>
            </a:r>
            <a:endParaRPr sz="13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619750" y="4552950"/>
            <a:ext cx="5524500" cy="1333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batch = [[6109, 3626, 6100, 345],   # Every effort moves you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[6109, 1110, 6622, 257]])  # Every day holds a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logits = model(batch)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Output shape: torch.Size([2, 4, 50257])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429250" y="6153150"/>
            <a:ext cx="59055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输出形状：2 条文本 × 4 个词元 × 50257 维词表，每维对应一个候选词元的分数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6750" y="634365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05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66675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4.2 层归一化：为什么需要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723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把每层激活值调整为均值 0、方差 1，让深层网络训练又稳又快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666750" y="1866900"/>
            <a:ext cx="4381500" cy="2000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深层网络的训练困境</a:t>
            </a:r>
            <a:endParaRPr sz="15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梯度消失 / 梯度爆炸：反向传播时梯度逐层衰减或放大，权重难以有效更新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训练不稳定，网络难以找到最小化损失函数的参数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结果：学不到数据中的潜在模式，预测不准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66750" y="4095750"/>
            <a:ext cx="4381500" cy="19050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4267200"/>
            <a:ext cx="4000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层归一化 vs 批归一化</a:t>
            </a:r>
            <a:endParaRPr sz="14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8200" y="4591050"/>
            <a:ext cx="4000500" cy="1333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批归一化沿批次维度统计；层归一化沿特征维度、对每个输入独立计算，不受批次大小限制，在分布式训练与资源受限部署中更灵活稳定，是 GPT-2 及现代 Transformer 的选择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5429250" y="1866900"/>
            <a:ext cx="6096000" cy="41910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5619750" y="2057400"/>
            <a:ext cx="5715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归一化前后对比（某层 6 个激活值）</a:t>
            </a:r>
            <a:endParaRPr sz="1300" b="1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715000" y="2457450"/>
            <a:ext cx="2667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归一化前：均值 0.13 / 方差 0.02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715000" y="2762250"/>
            <a:ext cx="381000" cy="571500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6191250" y="2838450"/>
            <a:ext cx="381000" cy="495300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6667500" y="3257550"/>
            <a:ext cx="381000" cy="762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16" name="Shape 16"/>
          <p:cNvSpPr/>
          <p:nvPr/>
        </p:nvSpPr>
        <p:spPr>
          <a:xfrm>
            <a:off x="7143750" y="2962275"/>
            <a:ext cx="381000" cy="371475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7620000" y="3257550"/>
            <a:ext cx="381000" cy="762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8096250" y="3257550"/>
            <a:ext cx="381000" cy="762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5715000" y="3333750"/>
            <a:ext cx="2762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953500" y="2457450"/>
            <a:ext cx="2667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归一化后：均值 0 / 方差 1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8953500" y="2457450"/>
            <a:ext cx="228600" cy="876300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22" name="Shape 22"/>
          <p:cNvSpPr/>
          <p:nvPr/>
        </p:nvSpPr>
        <p:spPr>
          <a:xfrm>
            <a:off x="9258300" y="2171700"/>
            <a:ext cx="228600" cy="11620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3" name="Shape 23"/>
          <p:cNvSpPr/>
          <p:nvPr/>
        </p:nvSpPr>
        <p:spPr>
          <a:xfrm>
            <a:off x="9563100" y="2609850"/>
            <a:ext cx="228600" cy="723900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24" name="Shape 24"/>
          <p:cNvSpPr/>
          <p:nvPr/>
        </p:nvSpPr>
        <p:spPr>
          <a:xfrm>
            <a:off x="9867900" y="2324100"/>
            <a:ext cx="228600" cy="10096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10172700" y="2381250"/>
            <a:ext cx="228600" cy="9525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6" name="Shape 26"/>
          <p:cNvSpPr/>
          <p:nvPr/>
        </p:nvSpPr>
        <p:spPr>
          <a:xfrm>
            <a:off x="10477500" y="2609850"/>
            <a:ext cx="228600" cy="723900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27" name="Shape 27"/>
          <p:cNvSpPr/>
          <p:nvPr/>
        </p:nvSpPr>
        <p:spPr>
          <a:xfrm>
            <a:off x="8953500" y="3333750"/>
            <a:ext cx="175260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5619750" y="3657600"/>
            <a:ext cx="57150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减去均值、除以标准差后，激活值分布以 0 为中心、单位方差，包含正负值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5619750" y="4419600"/>
            <a:ext cx="5715000" cy="12382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5810250" y="4572000"/>
            <a:ext cx="5334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out_norm = (out - mean) / torch.sqrt(var)</a:t>
            </a:r>
            <a:endParaRPr sz="13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810250" y="4895850"/>
            <a:ext cx="53340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在 GPT-2 中，层归一化用在多头注意力模块前后，以及最终输出层之前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66750" y="634365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06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66675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4.2 层归一化：代码实现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723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代码清单 4-2：封装成 PyTorch 模块，作用在输入张量最后一个维度（嵌入维度）上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5334000" cy="26670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7250" y="2000250"/>
            <a:ext cx="4953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class LayerNorm(nn.Module):</a:t>
            </a:r>
            <a:endParaRPr sz="13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2286000"/>
            <a:ext cx="4953000" cy="2286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def __init__(self, emb_dim):</a:t>
            </a: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</a:t>
            </a:r>
            <a:r>
              <a:rPr lang="en-US"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</a:t>
            </a: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super().__init__()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self.eps = 1e-5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self.scale = nn.Parameter(torch.ones(emb_dim))</a:t>
            </a:r>
            <a:endParaRPr sz="10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self.shift = nn.Parameter(torch.zeros(emb_dim))</a:t>
            </a:r>
            <a:endParaRPr sz="10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def forward(self, x):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mean = x.mean(dim=-1, keepdim=True)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var = x.var(dim=-1, keepdim=True,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        unbiased=False)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norm_x = (x - mean) / torch.sqrt(var + self.eps)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return self.scale * norm_x + self.shift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66750" y="4724400"/>
            <a:ext cx="5334000" cy="16192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57250" y="4876800"/>
            <a:ext cx="4953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验证：均值 0、方差 1</a:t>
            </a:r>
            <a:endParaRPr sz="13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7250" y="5181600"/>
            <a:ext cx="4953000" cy="1047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ln = LayerNorm(emb_dim=5); out_ln = ln(batch_example)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Mean: [[-0.0000], [0.0000]]   Var: [[1.0], [1.0]]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381750" y="1485900"/>
            <a:ext cx="4762500" cy="22860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600190" y="1701165"/>
            <a:ext cx="4381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三个设计细节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572250" y="1988820"/>
            <a:ext cx="4381500" cy="1524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eps = 1e-5</a:t>
            </a:r>
            <a:endParaRPr sz="125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加到方差上，防止除零错误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scale / shift</a:t>
            </a:r>
            <a:endParaRPr sz="125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可训练参数，模型自己学习最佳缩放与偏移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dim=-1 + keepdim=True</a:t>
            </a:r>
            <a:endParaRPr sz="125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沿最后一维统计，兼容 [batch, tokens, emb]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381750" y="4000500"/>
            <a:ext cx="4762500" cy="17145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572250" y="4152900"/>
            <a:ext cx="4381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有偏方差：unbiased=False</a:t>
            </a:r>
            <a:endParaRPr sz="13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572250" y="4476750"/>
            <a:ext cx="4381500" cy="1238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方差计算用 n 而非 n−1 作分母（无贝塞尔修正）。对 768 维嵌入两者差异可忽略；选择它是为了与原始 GPT-2（TensorFlow 实现）的预训练权重兼容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66750" y="647700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07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66675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4.3 GELU 激活函数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723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比 ReLU 更平滑的非线性：除 x≈−0.75 外，负值区域也有非零梯度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5715000" cy="38100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7250" y="2019300"/>
            <a:ext cx="5334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曲线对比（x ∈ [−3, 3]，纵轴为输出）</a:t>
            </a:r>
            <a:endParaRPr sz="1300" b="1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57250" y="4000500"/>
            <a:ext cx="2667000" cy="38100"/>
          </a:xfrm>
          <a:prstGeom prst="rect">
            <a:avLst/>
          </a:prstGeom>
          <a:solidFill>
            <a:srgbClr val="24466B"/>
          </a:solidFill>
        </p:spPr>
        <p:txBody>
          <a:bodyPr wrap="square" rtlCol="0"/>
          <a:lstStyle/>
          <a:p/>
        </p:txBody>
      </p:sp>
      <p:sp>
        <p:nvSpPr>
          <p:cNvPr id="9" name="Shape 9"/>
          <p:cNvSpPr/>
          <p:nvPr/>
        </p:nvSpPr>
        <p:spPr>
          <a:xfrm>
            <a:off x="1714500" y="2667000"/>
            <a:ext cx="38100" cy="1809750"/>
          </a:xfrm>
          <a:prstGeom prst="rect">
            <a:avLst/>
          </a:prstGeom>
          <a:solidFill>
            <a:srgbClr val="24466B"/>
          </a:solidFill>
        </p:spPr>
        <p:txBody>
          <a:bodyPr wrap="square" rtlCol="0"/>
          <a:lstStyle/>
          <a:p/>
        </p:txBody>
      </p:sp>
      <p:sp>
        <p:nvSpPr>
          <p:cNvPr id="10" name="Shape 10"/>
          <p:cNvSpPr/>
          <p:nvPr/>
        </p:nvSpPr>
        <p:spPr>
          <a:xfrm>
            <a:off x="3810000" y="4000500"/>
            <a:ext cx="2000250" cy="38100"/>
          </a:xfrm>
          <a:prstGeom prst="rect">
            <a:avLst/>
          </a:prstGeom>
          <a:solidFill>
            <a:srgbClr val="24466B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4381500" y="2667000"/>
            <a:ext cx="38100" cy="1809750"/>
          </a:xfrm>
          <a:prstGeom prst="rect">
            <a:avLst/>
          </a:prstGeom>
          <a:solidFill>
            <a:srgbClr val="24466B"/>
          </a:solidFill>
        </p:spPr>
        <p:txBody>
          <a:bodyPr wrap="square" rtlCol="0"/>
          <a:lstStyle/>
          <a:p/>
        </p:txBody>
      </p:sp>
      <p:sp>
        <p:nvSpPr>
          <p:cNvPr id="12" name="Shape 12"/>
          <p:cNvSpPr/>
          <p:nvPr/>
        </p:nvSpPr>
        <p:spPr>
          <a:xfrm>
            <a:off x="1143000" y="4000500"/>
            <a:ext cx="114300" cy="1905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1295400" y="4000500"/>
            <a:ext cx="114300" cy="1524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1447800" y="4000500"/>
            <a:ext cx="114300" cy="104775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1600200" y="4000500"/>
            <a:ext cx="114300" cy="571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6" name="Shape 16"/>
          <p:cNvSpPr/>
          <p:nvPr/>
        </p:nvSpPr>
        <p:spPr>
          <a:xfrm>
            <a:off x="1828800" y="3943350"/>
            <a:ext cx="114300" cy="571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1981200" y="3886200"/>
            <a:ext cx="114300" cy="1143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2133600" y="3810000"/>
            <a:ext cx="114300" cy="1905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2286000" y="3714750"/>
            <a:ext cx="114300" cy="2857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0" name="Shape 20"/>
          <p:cNvSpPr/>
          <p:nvPr/>
        </p:nvSpPr>
        <p:spPr>
          <a:xfrm>
            <a:off x="2438400" y="3600450"/>
            <a:ext cx="114300" cy="4000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1" name="Shape 21"/>
          <p:cNvSpPr/>
          <p:nvPr/>
        </p:nvSpPr>
        <p:spPr>
          <a:xfrm>
            <a:off x="2590800" y="3467100"/>
            <a:ext cx="114300" cy="5334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2" name="Shape 22"/>
          <p:cNvSpPr/>
          <p:nvPr/>
        </p:nvSpPr>
        <p:spPr>
          <a:xfrm>
            <a:off x="2743200" y="3314700"/>
            <a:ext cx="114300" cy="6858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3" name="Shape 23"/>
          <p:cNvSpPr/>
          <p:nvPr/>
        </p:nvSpPr>
        <p:spPr>
          <a:xfrm>
            <a:off x="2895600" y="3143250"/>
            <a:ext cx="114300" cy="8572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4" name="Shape 24"/>
          <p:cNvSpPr/>
          <p:nvPr/>
        </p:nvSpPr>
        <p:spPr>
          <a:xfrm>
            <a:off x="3048000" y="2952750"/>
            <a:ext cx="114300" cy="10477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3829050" y="3981450"/>
            <a:ext cx="533400" cy="38100"/>
          </a:xfrm>
          <a:prstGeom prst="rect">
            <a:avLst/>
          </a:prstGeom>
          <a:solidFill>
            <a:srgbClr val="3E2A50"/>
          </a:solidFill>
        </p:spPr>
        <p:txBody>
          <a:bodyPr wrap="square" rtlCol="0"/>
          <a:lstStyle/>
          <a:p/>
        </p:txBody>
      </p:sp>
      <p:sp>
        <p:nvSpPr>
          <p:cNvPr id="26" name="Shape 26"/>
          <p:cNvSpPr/>
          <p:nvPr/>
        </p:nvSpPr>
        <p:spPr>
          <a:xfrm>
            <a:off x="4495800" y="3924300"/>
            <a:ext cx="114300" cy="762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27" name="Shape 27"/>
          <p:cNvSpPr/>
          <p:nvPr/>
        </p:nvSpPr>
        <p:spPr>
          <a:xfrm>
            <a:off x="4648200" y="3829050"/>
            <a:ext cx="114300" cy="17145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28" name="Shape 28"/>
          <p:cNvSpPr/>
          <p:nvPr/>
        </p:nvSpPr>
        <p:spPr>
          <a:xfrm>
            <a:off x="4800600" y="3695700"/>
            <a:ext cx="114300" cy="3048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29" name="Shape 29"/>
          <p:cNvSpPr/>
          <p:nvPr/>
        </p:nvSpPr>
        <p:spPr>
          <a:xfrm>
            <a:off x="4953000" y="3524250"/>
            <a:ext cx="114300" cy="47625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30" name="Shape 30"/>
          <p:cNvSpPr/>
          <p:nvPr/>
        </p:nvSpPr>
        <p:spPr>
          <a:xfrm>
            <a:off x="5105400" y="3333750"/>
            <a:ext cx="114300" cy="66675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31" name="Shape 31"/>
          <p:cNvSpPr/>
          <p:nvPr/>
        </p:nvSpPr>
        <p:spPr>
          <a:xfrm>
            <a:off x="5257800" y="3124200"/>
            <a:ext cx="114300" cy="8763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32" name="Shape 32"/>
          <p:cNvSpPr/>
          <p:nvPr/>
        </p:nvSpPr>
        <p:spPr>
          <a:xfrm>
            <a:off x="5410200" y="2895600"/>
            <a:ext cx="114300" cy="11049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1047750" y="4286250"/>
            <a:ext cx="1905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GELU：平滑曲线</a:t>
            </a:r>
            <a:endParaRPr sz="13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47750" y="4552950"/>
            <a:ext cx="2286000" cy="402336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负输入有小幅非零输出，曲线连续可导</a:t>
            </a:r>
            <a:endParaRPr sz="11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476750" y="4286250"/>
            <a:ext cx="1905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ReLU：分段线性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476750" y="4552950"/>
            <a:ext cx="2000250" cy="402336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负输入一律输出 0，零点处有尖角</a:t>
            </a:r>
            <a:endParaRPr sz="11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Shape 37"/>
          <p:cNvSpPr/>
          <p:nvPr/>
        </p:nvSpPr>
        <p:spPr>
          <a:xfrm>
            <a:off x="6762750" y="1866900"/>
            <a:ext cx="4381500" cy="20955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38" name="TextBox 38"/>
          <p:cNvSpPr txBox="1"/>
          <p:nvPr/>
        </p:nvSpPr>
        <p:spPr>
          <a:xfrm>
            <a:off x="6953250" y="2038350"/>
            <a:ext cx="4000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为什么 GPT 用 GELU？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953250" y="2381250"/>
            <a:ext cx="4000500" cy="1619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平滑特性让优化更细腻，深层网络训练更稳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负输入输出小的非零值，神经元仍可参与学习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大模型常见激活函数：GELU、SwiGLU（门控+Swish）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6762750" y="4191000"/>
            <a:ext cx="4381500" cy="238125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6953250" y="4343400"/>
            <a:ext cx="4000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GELU 近似实现（代码清单 4-3）</a:t>
            </a:r>
            <a:endParaRPr sz="13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953250" y="4648200"/>
            <a:ext cx="4000500" cy="1905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0.5 * x * (1 + torch.tanh(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torch.sqrt(torch.tensor(2.0 / torch.pi)) *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(x + 0.044715 * torch.pow(x, 3))))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曲线拟合近似：原版 GPT-2 即用此法训练，计算量更小</a:t>
            </a:r>
            <a:endParaRPr sz="1150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66750" y="5791200"/>
            <a:ext cx="57150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精确定义 GELU(x)=x·Φ(x)，Φ 为标准高斯分布的累积分布函数；实践中用上式近似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66750" y="634365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08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66675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4.3 前馈神经网络 FeedForward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723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代码清单 4-4：先扩展到 4 倍维度再压缩回来的瓶颈式设计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5334000" cy="20955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7250" y="2019300"/>
            <a:ext cx="4953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class FeedForward(nn.Module):</a:t>
            </a:r>
            <a:endParaRPr sz="13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2324100"/>
            <a:ext cx="4953000" cy="1428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def __init__(self, cfg):</a:t>
            </a: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</a:t>
            </a:r>
            <a:r>
              <a:rPr lang="en-US"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</a:t>
            </a: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super().__init__()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self.layers = nn.Sequential(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    nn.Linear(cfg["emb_dim"], 4 * cfg["emb_dim"]),</a:t>
            </a:r>
            <a:endParaRPr sz="120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GELU(),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    nn.Linear(4 * cfg["emb_dim"], cfg["emb_dim"]))</a:t>
            </a:r>
            <a:endParaRPr sz="120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66750" y="4191000"/>
            <a:ext cx="5334000" cy="16192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57250" y="4343400"/>
            <a:ext cx="4953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设计意图</a:t>
            </a:r>
            <a:endParaRPr sz="13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7250" y="4667250"/>
            <a:ext cx="4953000" cy="1143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输入输出维度一致，堆叠多层时无须调整，利于扩展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中间扩展到更高维，探索更丰富的表示空间后再压缩回来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381750" y="1866900"/>
            <a:ext cx="4762500" cy="38100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572250" y="2000250"/>
            <a:ext cx="4381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维度的扩展与收缩（图 4-10）</a:t>
            </a:r>
            <a:endParaRPr sz="1300" b="1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6572250" y="2857500"/>
            <a:ext cx="666750" cy="666750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7572375" y="2476500"/>
            <a:ext cx="1428750" cy="1428750"/>
          </a:xfrm>
          <a:prstGeom prst="rect">
            <a:avLst/>
          </a:prstGeom>
          <a:solidFill>
            <a:srgbClr val="1E3E63"/>
          </a:solidFill>
        </p:spPr>
        <p:txBody>
          <a:bodyPr wrap="square" rtlCol="0"/>
          <a:lstStyle/>
          <a:p/>
        </p:txBody>
      </p:sp>
      <p:sp>
        <p:nvSpPr>
          <p:cNvPr id="16" name="Shape 16"/>
          <p:cNvSpPr/>
          <p:nvPr/>
        </p:nvSpPr>
        <p:spPr>
          <a:xfrm>
            <a:off x="9334500" y="2857500"/>
            <a:ext cx="666750" cy="666750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7296150" y="3048000"/>
            <a:ext cx="228600" cy="285750"/>
          </a:xfrm>
          <a:prstGeom prst="rightArrow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9058275" y="3048000"/>
            <a:ext cx="228600" cy="285750"/>
          </a:xfrm>
          <a:prstGeom prst="rightArrow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572250" y="3657600"/>
            <a:ext cx="1333500" cy="24765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F8FAFC"/>
                </a:solidFill>
                <a:latin typeface="Helvetica Neue" panose="02000503000000020004"/>
                <a:ea typeface="Helvetica Neue" panose="02000503000000020004"/>
              </a:rPr>
              <a:t>768</a:t>
            </a:r>
            <a:endParaRPr sz="1300" b="1">
              <a:solidFill>
                <a:srgbClr val="F8FAFC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72375" y="4038600"/>
            <a:ext cx="1428750" cy="24765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3072 = 4×768</a:t>
            </a:r>
            <a:endParaRPr sz="13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334500" y="3657600"/>
            <a:ext cx="1333500" cy="24765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F8FAFC"/>
                </a:solidFill>
                <a:latin typeface="Helvetica Neue" panose="02000503000000020004"/>
                <a:ea typeface="Helvetica Neue" panose="02000503000000020004"/>
              </a:rPr>
              <a:t>768</a:t>
            </a:r>
            <a:endParaRPr sz="1300" b="1">
              <a:solidFill>
                <a:srgbClr val="F8FAFC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429375" y="2590800"/>
            <a:ext cx="9525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1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Linear 扩展</a:t>
            </a:r>
            <a:endParaRPr sz="11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620000" y="2552700"/>
            <a:ext cx="13335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1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GELU 激活</a:t>
            </a:r>
            <a:endParaRPr sz="11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91625" y="2590800"/>
            <a:ext cx="9525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1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Linear 压缩</a:t>
            </a:r>
            <a:endParaRPr sz="11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72250" y="4476750"/>
            <a:ext cx="43815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x = torch.rand(2, 3, 768)  # 2 样本 3 词元</a:t>
            </a: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out = ffn(x) 输出形状 [2, 3, 768]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572250" y="5143500"/>
            <a:ext cx="43815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输入输出形状保持一致，维度变化只发生在模块内部</a:t>
            </a:r>
            <a:endParaRPr sz="115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66750" y="634365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09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72390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4.4 快捷连接：拯救梯度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723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把一层的输入直接加到后续层的输出，为梯度提供更短的回流路径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5905500" cy="40005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7250" y="2019300"/>
            <a:ext cx="5524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5 层网络的各层平均绝对梯度（代码清单 4-5 实验）</a:t>
            </a:r>
            <a:endParaRPr sz="1300" b="1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2500" y="2400300"/>
            <a:ext cx="22860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无快捷连接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1047750" y="3810000"/>
            <a:ext cx="2286000" cy="28575"/>
          </a:xfrm>
          <a:prstGeom prst="rect">
            <a:avLst/>
          </a:prstGeom>
          <a:solidFill>
            <a:srgbClr val="24466B"/>
          </a:solidFill>
        </p:spPr>
        <p:txBody>
          <a:bodyPr wrap="square" rtlCol="0"/>
          <a:lstStyle/>
          <a:p/>
        </p:txBody>
      </p:sp>
      <p:sp>
        <p:nvSpPr>
          <p:cNvPr id="10" name="Shape 10"/>
          <p:cNvSpPr/>
          <p:nvPr/>
        </p:nvSpPr>
        <p:spPr>
          <a:xfrm>
            <a:off x="1143000" y="3781425"/>
            <a:ext cx="285750" cy="28575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1524000" y="3790950"/>
            <a:ext cx="285750" cy="1905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2" name="Shape 12"/>
          <p:cNvSpPr/>
          <p:nvPr/>
        </p:nvSpPr>
        <p:spPr>
          <a:xfrm>
            <a:off x="1905000" y="3705225"/>
            <a:ext cx="285750" cy="104775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2286000" y="3600450"/>
            <a:ext cx="285750" cy="20955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2667000" y="3048000"/>
            <a:ext cx="285750" cy="7620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1047750" y="3905250"/>
            <a:ext cx="2381250" cy="585216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L0: 0.0002   L1: 0.0001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L2: 0.0007   L3: 0.0014   L4: 0.0050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梯度从深层向浅层迅速衰减至消失</a:t>
            </a:r>
            <a:endParaRPr sz="1100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810000" y="2400300"/>
            <a:ext cx="22860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有快捷连接</a:t>
            </a:r>
            <a:endParaRPr sz="13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3905250" y="3810000"/>
            <a:ext cx="2286000" cy="28575"/>
          </a:xfrm>
          <a:prstGeom prst="rect">
            <a:avLst/>
          </a:prstGeom>
          <a:solidFill>
            <a:srgbClr val="24466B"/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4000500" y="3686175"/>
            <a:ext cx="285750" cy="123825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4381500" y="3686175"/>
            <a:ext cx="285750" cy="123825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0" name="Shape 20"/>
          <p:cNvSpPr/>
          <p:nvPr/>
        </p:nvSpPr>
        <p:spPr>
          <a:xfrm>
            <a:off x="4762500" y="3619500"/>
            <a:ext cx="285750" cy="1905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1" name="Shape 21"/>
          <p:cNvSpPr/>
          <p:nvPr/>
        </p:nvSpPr>
        <p:spPr>
          <a:xfrm>
            <a:off x="5143500" y="3657600"/>
            <a:ext cx="285750" cy="1524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2" name="Shape 22"/>
          <p:cNvSpPr/>
          <p:nvPr/>
        </p:nvSpPr>
        <p:spPr>
          <a:xfrm>
            <a:off x="5524500" y="3048000"/>
            <a:ext cx="285750" cy="76200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3905250" y="3905250"/>
            <a:ext cx="2381250" cy="585216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L0: 0.222   L1: 0.207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L2: 0.329   L3: 0.267   L4: 1.326</a:t>
            </a:r>
            <a:endParaRPr sz="10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梯度逐层保持稳定，不再消失</a:t>
            </a:r>
            <a:endParaRPr sz="1100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57250" y="4857750"/>
            <a:ext cx="5524500" cy="857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梯度消失：反向传播时梯度逐层变小，浅层几乎学不到东西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快捷连接源自计算机视觉中的残差网络（ResNet）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超大规模模型（含 GPT）的核心构建块，保证层间梯度稳定流动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6953250" y="1866900"/>
            <a:ext cx="4381500" cy="40005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7143750" y="2038350"/>
            <a:ext cx="4000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实现要点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143750" y="2381250"/>
            <a:ext cx="4000500" cy="182270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for layer in self.layers: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layer_output = layer(x)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if self.use_shortcut</a:t>
            </a: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and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x.shape == layer_output.shape: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x = x + layer_output   # 残差相加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else: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x = layer_output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return x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143750" y="4476750"/>
            <a:ext cx="4000500" cy="1143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每层 = Linear + GELU，共 5 层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形状一致才可相加（x 与 layer_output 同维）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用 loss.backward() 对比两组梯度，结论直观可见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66750" y="634365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10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72390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4.5 连接 Transformer 块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8191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代码清单 4-6：掩码多头注意力 + 前馈网络 + 层归一化 + 残差，形状始终不变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4572000" cy="43815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7250" y="2019300"/>
            <a:ext cx="4191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数据流（输入输出形状均为 [2, 4, 768]）</a:t>
            </a:r>
            <a:endParaRPr sz="1300" b="1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1047750" y="2400300"/>
            <a:ext cx="3810000" cy="323850"/>
          </a:xfrm>
          <a:prstGeom prst="rect">
            <a:avLst/>
          </a:prstGeom>
          <a:solidFill>
            <a:srgbClr val="1E3E63"/>
          </a:solidFill>
        </p:spPr>
        <p:txBody>
          <a:bodyPr wrap="square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47750" y="2476500"/>
            <a:ext cx="3810000" cy="1905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输入 x（词元向量序列）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2838450" y="2762250"/>
            <a:ext cx="152400" cy="209550"/>
          </a:xfrm>
          <a:prstGeom prst="down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1047750" y="3009900"/>
            <a:ext cx="3810000" cy="476250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047750" y="3067050"/>
            <a:ext cx="3810000" cy="1905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LayerNorm → 多头注意力 → Dropout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47750" y="3276600"/>
            <a:ext cx="38100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0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再与输入相加：x + shortcut（残差 1）</a:t>
            </a:r>
            <a:endParaRPr sz="10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2838450" y="3524250"/>
            <a:ext cx="152400" cy="209550"/>
          </a:xfrm>
          <a:prstGeom prst="down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1047750" y="3771900"/>
            <a:ext cx="3810000" cy="476250"/>
          </a:xfrm>
          <a:prstGeom prst="rect">
            <a:avLst/>
          </a:prstGeom>
          <a:solidFill>
            <a:srgbClr val="2A4E7E"/>
          </a:solidFill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1047750" y="3829050"/>
            <a:ext cx="3810000" cy="1905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LayerNorm → 前馈网络 → Dropout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47750" y="4038600"/>
            <a:ext cx="38100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0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再与输入相加：x + shortcut（残差 2）</a:t>
            </a:r>
            <a:endParaRPr sz="10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2838450" y="4286250"/>
            <a:ext cx="152400" cy="209550"/>
          </a:xfrm>
          <a:prstGeom prst="downArrow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1047750" y="4533900"/>
            <a:ext cx="3810000" cy="323850"/>
          </a:xfrm>
          <a:prstGeom prst="rect">
            <a:avLst/>
          </a:prstGeom>
          <a:solidFill>
            <a:srgbClr val="1E3E63"/>
          </a:solidFill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1047750" y="4610100"/>
            <a:ext cx="3810000" cy="1905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输出（维度不变，可继续堆叠）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57250" y="5048250"/>
            <a:ext cx="4191000" cy="1047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自注意力分析序列中词元间的关系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前馈网络逐位置独立变换，两者互补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每个输出向量都重编码了全序列上下文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5619750" y="1866900"/>
            <a:ext cx="2857500" cy="43815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5810250" y="2038350"/>
            <a:ext cx="2476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Pre-LN vs Post-LN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810250" y="2400300"/>
            <a:ext cx="2476500" cy="1619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前层归一化（本书采用）</a:t>
            </a:r>
            <a:endParaRPr sz="125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归一化放在注意力/前馈之前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GPT-2 与现代架构的做法，训练更稳定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810250" y="4191000"/>
            <a:ext cx="2476500" cy="1619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后层归一化（原始 Transformer）</a:t>
            </a:r>
            <a:endParaRPr sz="125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归一化放在注意力/前馈之后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通常训练效果较差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8763000" y="1866900"/>
            <a:ext cx="2571750" cy="43815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8953500" y="2038350"/>
            <a:ext cx="21907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实例化验证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953500" y="2400300"/>
            <a:ext cx="2190750" cy="1524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x = torch.rand(2, 4, 768)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block = TransformerBlock(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GPT_CONFIG_124M)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output = block(x)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953500" y="4095750"/>
            <a:ext cx="2190750" cy="905256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Input shape: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  [2, 4, 768]</a:t>
            </a:r>
            <a:endParaRPr sz="1100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Output shape: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  [2, 4, 768]</a:t>
            </a:r>
            <a:endParaRPr sz="1100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953500" y="5143500"/>
            <a:ext cx="2190750" cy="857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形状不变是有意设计：输入输出一一对应，块可直接堆叠 12 层</a:t>
            </a:r>
            <a:endParaRPr sz="115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66750" y="634365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11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72390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4.6 组装完整 GPT 模型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8191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代码清单 4-7：用真实的 TransformerBlock 与 LayerNorm 替换占位符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5334000" cy="41910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7250" y="2019300"/>
            <a:ext cx="4953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class GPTModel(nn.Module):</a:t>
            </a:r>
            <a:endParaRPr sz="13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2343150"/>
            <a:ext cx="4953000" cy="265877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def __init__(self, cfg):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super().__init__()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self.tok_emb = nn.Embedding(cfg["vocab_size"],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cfg["emb_dim"])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self.pos_emb = nn.Embedding(cfg["context_length"],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cfg["emb_dim"])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self.drop_emb = nn.Dropout(cfg["drop_rate"])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self.trf_blocks = nn.Sequential(</a:t>
            </a:r>
            <a:endParaRPr sz="110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    *[TransformerBlock(cfg)</a:t>
            </a:r>
            <a:endParaRPr sz="110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      for _ in range(cfg["n_layers"])])</a:t>
            </a:r>
            <a:endParaRPr sz="110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self.final_norm = LayerNorm(cfg["emb_dim"])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self.out_head = nn.Linear(cfg["emb_dim"],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cfg["vocab_size"], bias=False)</a:t>
            </a:r>
            <a:endParaRPr sz="11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7250" y="5048250"/>
            <a:ext cx="4953000" cy="857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forward：词元嵌入 + 位置嵌入 → dropout → 12 个 Transformer 块 →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最终归一化 → 线性输出头，得到下一个词元的 logits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381750" y="1866900"/>
            <a:ext cx="4953000" cy="23812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572250" y="2038350"/>
            <a:ext cx="4572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一次前向传播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72250" y="2400300"/>
            <a:ext cx="4572000" cy="1619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torch.manual_seed(123)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model = GPTModel(GPT_CONFIG_124M)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out = model(batch)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Output shape: torch.Size([2, 4, 50257])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两个文本、每个 4 词元，每个词元得到 50257 维分数向量</a:t>
            </a:r>
            <a:endParaRPr sz="115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381750" y="4476750"/>
            <a:ext cx="4953000" cy="158115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572250" y="4629150"/>
            <a:ext cx="4572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GPT-2 全家桶：改配置即可</a:t>
            </a:r>
            <a:endParaRPr sz="13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72250" y="4953000"/>
            <a:ext cx="45720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small 124M：12 层 / 12 头 / 768 维</a:t>
            </a:r>
            <a:endParaRPr sz="11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medium 345M：24 层 / 16 头 / 1024 维</a:t>
            </a:r>
            <a:endParaRPr sz="11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large 762M：36 层 / 20 头 / 1280 维</a:t>
            </a:r>
            <a:endParaRPr sz="11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xl 1542M：48 层 / 25 头 / 1600 维</a:t>
            </a:r>
            <a:endParaRPr sz="11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6750" y="634365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12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72390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4.6 参数量与权重共享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8191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为什么 1.24 亿的模型统计出来是 1.63 亿参数？答案藏在输出层里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4191000" cy="23812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95350" y="2095500"/>
            <a:ext cx="3810000" cy="896112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8FAFC"/>
                </a:solidFill>
                <a:latin typeface="Helvetica Neue" panose="02000503000000020004"/>
                <a:ea typeface="Helvetica Neue" panose="02000503000000020004"/>
              </a:rPr>
              <a:t>163,009,536</a:t>
            </a:r>
            <a:endParaRPr sz="4400" b="1">
              <a:solidFill>
                <a:srgbClr val="F8FAFC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实际统计的总参数量</a:t>
            </a:r>
            <a:endParaRPr sz="12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5350" y="3238500"/>
            <a:ext cx="3810000" cy="896112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124,412,160</a:t>
            </a:r>
            <a:endParaRPr sz="44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扣除输出层后（权重共享口径）</a:t>
            </a:r>
            <a:endParaRPr sz="12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5143500" y="1866900"/>
            <a:ext cx="2857500" cy="238125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5334000" y="2095500"/>
            <a:ext cx="2476500" cy="857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621.83 MB</a:t>
            </a:r>
            <a:endParaRPr sz="34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模型内存占用（1.63 亿参数 × 4 字节）</a:t>
            </a:r>
            <a:endParaRPr sz="115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34000" y="3238500"/>
            <a:ext cx="2476500" cy="857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Helvetica Neue" panose="02000503000000020004"/>
                <a:ea typeface="Helvetica Neue" panose="02000503000000020004"/>
              </a:rPr>
              <a:t>50257 × 768</a:t>
            </a:r>
            <a:endParaRPr sz="2600" b="1">
              <a:solidFill>
                <a:srgbClr val="F8FAFC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词元嵌入层与输出层权重形状相同</a:t>
            </a:r>
            <a:endParaRPr sz="115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8286750" y="1866900"/>
            <a:ext cx="3048000" cy="23812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8477250" y="2076450"/>
            <a:ext cx="2667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统计方法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477250" y="2419350"/>
            <a:ext cx="2667000" cy="1619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total_params = sum(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p.numel() for p in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model.parameters())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total_size_mb = total_params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* 4 / (1024 * 1024)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66750" y="4476750"/>
            <a:ext cx="10668000" cy="161925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57250" y="4648200"/>
            <a:ext cx="10287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权重共享（weight tying）：原始 GPT-2 把词元嵌入层复用为输出层</a:t>
            </a:r>
            <a:endParaRPr sz="14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57250" y="4991100"/>
            <a:ext cx="102870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两者形状均为 [50257, 768]，共享可省去输出层参数，减少内存与计算量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本书实现采用独立的两层，训练效果更佳；第 6 章加载 OpenAI 权重时再回到共享方案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即使 1.24 亿的小模型也需 621.83 MB 存储——大模型对显存要求可见一斑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66750" y="634365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13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72390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4.7 生成文本：逐词元循环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8191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代码清单 4-8：预测下一个词元、追加到上下文、再预测——循环往复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5334000" cy="314325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7250" y="2019300"/>
            <a:ext cx="4953000" cy="36576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def generate_text_simple(model, idx,</a:t>
            </a:r>
            <a:endParaRPr sz="12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/>
            <a:r>
              <a:rPr sz="1200" b="1">
                <a:solidFill>
                  <a:srgbClr val="4E9AF1"/>
                </a:solidFill>
                <a:latin typeface="Helvetica Neue" panose="02000503000000020004"/>
                <a:ea typeface="Helvetica Neue" panose="02000503000000020004"/>
              </a:rPr>
              <a:t>                         max_new_tokens, context_size):</a:t>
            </a:r>
            <a:endParaRPr sz="1200" b="1">
              <a:solidFill>
                <a:srgbClr val="4E9AF1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2438400"/>
            <a:ext cx="4953000" cy="2381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8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for _ in range(max_new_tokens):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idx_cond = idx[:, -context_size:]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with torch.no_grad():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logits = model(idx_cond)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logits = logits[:, -1, :]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probas = torch.softmax(logits, dim=-1)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idx_next = torch.argmax(probas, dim=-1,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                        keepdim=True)</a:t>
            </a:r>
            <a:endParaRPr sz="1150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idx = torch.cat((idx, idx_next), dim=1)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28000"/>
              </a:lnSpc>
            </a:pPr>
            <a:r>
              <a:rPr sz="115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return idx</a:t>
            </a:r>
            <a:endParaRPr sz="115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381750" y="1866900"/>
            <a:ext cx="4953000" cy="314325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572250" y="2038350"/>
            <a:ext cx="4572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每轮迭代的五个动作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72250" y="2381250"/>
            <a:ext cx="4572000" cy="2476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① 截取上下文至最大长度（超长只留最后 context_size 个）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② 前向传播，取最后一个词元的输出向量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③ softmax 转为概率分布（50257 维）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④ argmax 选概率最高的词元 ID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⑤ 拼接回输入序列，进入下一轮</a:t>
            </a:r>
            <a:endParaRPr sz="12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66750" y="5238750"/>
            <a:ext cx="10668000" cy="85725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857250" y="5391150"/>
            <a:ext cx="102870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贪心解码：softmax 是单调的，取最大概率等价于对 logits 直接 argmax；此处保留 softmax 是为了展示完整过程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第 5 章将引入温度缩放与 top-k 采样，让生成不再总选最可能的词元</a:t>
            </a:r>
            <a:endParaRPr sz="12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6750" y="6343650"/>
            <a:ext cx="3810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14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495300"/>
            <a:ext cx="7239000" cy="533400"/>
          </a:xfrm>
        </p:spPr>
        <p:txBody>
          <a:bodyPr wrap="square" lIns="0" tIns="0" rIns="0" bIns="0" rtlCol="0" anchor="t"/>
          <a:lstStyle/>
          <a:p>
            <a:pPr algn="l"/>
            <a:r>
              <a:rPr sz="3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4.7 试一试：未经训练的模型</a:t>
            </a:r>
            <a:endParaRPr sz="3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1066800"/>
            <a:ext cx="8191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架构已就绪、权重随机初始化——它会生成什么？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66750" y="1466850"/>
            <a:ext cx="857250" cy="381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666750" y="1866900"/>
            <a:ext cx="10668000" cy="19050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7250" y="2038350"/>
            <a:ext cx="10287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生成实验（model.eval() 关闭 dropout 后调用）</a:t>
            </a:r>
            <a:endParaRPr sz="1300" b="1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2381250"/>
            <a:ext cx="10287000" cy="1143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start_context = "Hello, I am"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out = generate_text_simple(model, encoded_tensor, max_new_tokens=6,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                          context_size=GPT_CONFIG_124M["context_length"])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B8C7DA"/>
                </a:solidFill>
                <a:latin typeface="Helvetica Neue" panose="02000503000000020004"/>
                <a:ea typeface="Helvetica Neue" panose="02000503000000020004"/>
              </a:rPr>
              <a:t>decoded_text = tokenizer.decode(out.squeeze(0).tolist())</a:t>
            </a:r>
            <a:endParaRPr sz="1200">
              <a:solidFill>
                <a:srgbClr val="B8C7D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66750" y="4095750"/>
            <a:ext cx="5143500" cy="17145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57250" y="4267200"/>
            <a:ext cx="4762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输入</a:t>
            </a:r>
            <a:endParaRPr sz="130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7250" y="4610100"/>
            <a:ext cx="4762500" cy="571500"/>
          </a:xfrm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F8FAFC"/>
                </a:solidFill>
                <a:latin typeface="Helvetica Neue" panose="02000503000000020004"/>
                <a:ea typeface="Helvetica Neue" panose="02000503000000020004"/>
              </a:rPr>
              <a:t>Hello, I am</a:t>
            </a:r>
            <a:endParaRPr sz="2200" b="1">
              <a:solidFill>
                <a:srgbClr val="F8FAFC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7250" y="5295900"/>
            <a:ext cx="47625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8FA6BF"/>
                </a:solidFill>
                <a:latin typeface="Helvetica Neue" panose="02000503000000020004"/>
                <a:ea typeface="Helvetica Neue" panose="02000503000000020004"/>
              </a:rPr>
              <a:t>词元 ID：[15496, 11, 314, 716]</a:t>
            </a:r>
            <a:endParaRPr sz="1100">
              <a:solidFill>
                <a:srgbClr val="8FA6B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191250" y="4095750"/>
            <a:ext cx="5143500" cy="17145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381750" y="4267200"/>
            <a:ext cx="4762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输出（6 轮迭代后）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381750" y="4610100"/>
            <a:ext cx="4762500" cy="5715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F8FAFC"/>
                </a:solidFill>
                <a:latin typeface="Helvetica Neue" panose="02000503000000020004"/>
                <a:ea typeface="Helvetica Neue" panose="02000503000000020004"/>
              </a:rPr>
              <a:t>Hello, I am Featureiman Byeswickattribute argue</a:t>
            </a:r>
            <a:endParaRPr sz="1500" b="1">
              <a:solidFill>
                <a:srgbClr val="F8FAFC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81750" y="5295900"/>
            <a:ext cx="47625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完全无意义的词串</a:t>
            </a:r>
            <a:endParaRPr sz="1100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66750" y="6019800"/>
            <a:ext cx="10668000" cy="4191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原因：只实现了架构，权重仍是随机初始值。模型训练（第 5 章预训练）才是生成连贯文本的关键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66750" y="657225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15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E9AF1"/>
          </a:solidFill>
        </p:spPr>
        <p:txBody>
          <a:bodyPr wrap="square" rtlCol="0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666750" y="571500"/>
            <a:ext cx="7239000" cy="548640"/>
          </a:xfrm>
        </p:spPr>
        <p:txBody>
          <a:bodyPr wrap="square" lIns="0" tIns="0" rIns="0" bIns="0" rtlCol="0" anchor="t"/>
          <a:lstStyle/>
          <a:p>
            <a:pPr algn="l"/>
            <a:r>
              <a:rPr sz="36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本章小结</a:t>
            </a:r>
            <a:endParaRPr sz="36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66750" y="1200150"/>
            <a:ext cx="723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6BF"/>
                </a:solidFill>
                <a:latin typeface="PingFang SC" panose="020B0400000000000000" charset="-122"/>
                <a:ea typeface="PingFang SC" panose="020B0400000000000000" charset="-122"/>
              </a:rPr>
              <a:t>从零实现 GPT 架构：每个构件都已亲手写出，并跑通端到端数据流</a:t>
            </a:r>
            <a:endParaRPr sz="1400">
              <a:solidFill>
                <a:srgbClr val="8FA6B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66750" y="1771650"/>
            <a:ext cx="6286500" cy="2857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层归一化让每层输出保持一致的均值与方差，稳定训练</a:t>
            </a:r>
            <a:endParaRPr sz="13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快捷连接把输出直接传给深层，缓解梯度消失</a:t>
            </a:r>
            <a:endParaRPr sz="13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Transformer 块 = 掩码多头注意力 + GELU 前馈网络 + 残差</a:t>
            </a:r>
            <a:endParaRPr sz="13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GPT 模型由重复的 Transformer 块堆叠而成，规模可达数十亿参数</a:t>
            </a:r>
            <a:endParaRPr sz="13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同一个 GPTModel 类覆盖 124M 到 1542M 全部规模，只改配置</a:t>
            </a:r>
            <a:endParaRPr sz="13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· 文本生成 = 逐词元预测 + 追加 + 循环，再解码回文本</a:t>
            </a:r>
            <a:endParaRPr sz="135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· 未训练的模型输出无意义——训练才是连贯文本的前提</a:t>
            </a:r>
            <a:endParaRPr sz="1350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334250" y="1771650"/>
            <a:ext cx="4191000" cy="2857500"/>
          </a:xfrm>
          <a:prstGeom prst="roundRect">
            <a:avLst/>
          </a:prstGeom>
          <a:solidFill>
            <a:srgbClr val="12263F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7524750" y="1943100"/>
            <a:ext cx="3810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</a:rPr>
              <a:t>课后练习</a:t>
            </a:r>
            <a:endParaRPr sz="14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524750" y="2286000"/>
            <a:ext cx="3810000" cy="2190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练习 4.1</a:t>
            </a:r>
            <a:endParaRPr sz="125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分别计算前馈模块与注意力模块的参数量并对比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练习 4.2</a:t>
            </a:r>
            <a:endParaRPr sz="125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仅改配置实现 medium / large / xl 三种更大模型并统计参数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4E9AF1"/>
                </a:solidFill>
                <a:latin typeface="PingFang SC" panose="020B0400000000000000" charset="-122"/>
                <a:ea typeface="PingFang SC" panose="020B0400000000000000" charset="-122"/>
              </a:rPr>
              <a:t>练习 4.3</a:t>
            </a:r>
            <a:endParaRPr sz="1250" b="1">
              <a:solidFill>
                <a:srgbClr val="4E9AF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为嵌入层、快捷连接、注意力三处 dropout 分别指定不同比例</a:t>
            </a:r>
            <a:endParaRPr sz="12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66750" y="4857750"/>
            <a:ext cx="10858500" cy="1143000"/>
          </a:xfrm>
          <a:prstGeom prst="roundRect">
            <a:avLst/>
          </a:prstGeom>
          <a:solidFill>
            <a:srgbClr val="152A42"/>
          </a:solidFill>
          <a:ln w="12700">
            <a:solidFill>
              <a:srgbClr val="24466B"/>
            </a:solidFill>
          </a:ln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57250" y="5029200"/>
            <a:ext cx="10477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下一章预告</a:t>
            </a:r>
            <a:endParaRPr sz="14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57250" y="5353050"/>
            <a:ext cx="104775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B8C7DA"/>
                </a:solidFill>
                <a:latin typeface="PingFang SC" panose="020B0400000000000000" charset="-122"/>
                <a:ea typeface="PingFang SC" panose="020B0400000000000000" charset="-122"/>
              </a:rPr>
              <a:t>第 5 章：在无标签数据上预训练——计算文本生成损失、训练 GPT 模型，并用温度缩放与 top-k 采样控制随机性</a:t>
            </a:r>
            <a:endParaRPr sz="1300">
              <a:solidFill>
                <a:srgbClr val="B8C7D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6750" y="6343650"/>
            <a:ext cx="4762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A7184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《从零构建大模型》第 4 章教学课件 · 16 / 16</a:t>
            </a:r>
            <a:endParaRPr sz="1100">
              <a:solidFill>
                <a:srgbClr val="5A71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8861</Words>
  <Application>WPS 表格</Application>
  <PresentationFormat/>
  <Paragraphs>536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PingFang SC</vt:lpstr>
      <vt:lpstr>Helvetica Neue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微软雅黑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WPS_1728632344</cp:lastModifiedBy>
  <cp:revision>4</cp:revision>
  <dcterms:created xsi:type="dcterms:W3CDTF">2026-10-16T12:07:41Z</dcterms:created>
  <dcterms:modified xsi:type="dcterms:W3CDTF">2026-10-16T12:07:41Z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189F9A53F17D6365EC10D26AB06AC7D4_42</vt:lpwstr>
  </property>
</Properties>
</file>