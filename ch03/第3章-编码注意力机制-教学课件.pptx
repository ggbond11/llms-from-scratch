
<file path=[Content_Types].xml><?xml version="1.0" encoding="utf-8"?>
<Types xmlns="http://schemas.openxmlformats.org/package/2006/content-types"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18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E6F229A-B266-4422-B48F-28B52C14EB38}"/>
              </a:ext>
            </a:extLst>
          </p:cNvPr>
          <p:cNvSpPr txBox="1"/>
          <p:nvPr/>
        </p:nvSpPr>
        <p:spPr>
          <a:xfrm>
            <a:off x="762000" y="495300"/>
            <a:ext cx="7810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本章路线图：四种注意力变体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FB41E0E-1C96-4342-B7ED-7951E60BF7B0}"/>
              </a:ext>
            </a:extLst>
          </p:cNvPr>
          <p:cNvSpPr txBox="1"/>
          <p:nvPr/>
        </p:nvSpPr>
        <p:spPr>
          <a:xfrm>
            <a:off x="762000" y="1066800"/>
            <a:ext cx="9334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每个变体都在前一个的基础上逐步建立，最终目标是紧凑、高效的多头注意力机制</a:t>
            </a:r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FCEF21ED-8C90-4C4C-BF4C-04A4F5333B52}"/>
              </a:ext>
            </a:extLst>
          </p:cNvPr>
          <p:cNvCxnSpPr/>
          <p:nvPr/>
        </p:nvCxnSpPr>
        <p:spPr>
          <a:xfrm>
            <a:off x="1143000" y="2857500"/>
            <a:ext cx="9906000" cy="9525"/>
          </a:xfrm>
          <a:prstGeom prst="line">
            <a:avLst/>
          </a:prstGeom>
          <a:ln w="12700" cap="flat">
            <a:solidFill>
              <a:srgbClr val="2B3A60"/>
            </a:solidFill>
          </a:ln>
        </p:spPr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FD5ECCC3-B89C-4417-8DD7-0A1119157483}"/>
              </a:ext>
            </a:extLst>
          </p:cNvPr>
          <p:cNvSpPr/>
          <p:nvPr/>
        </p:nvSpPr>
        <p:spPr>
          <a:xfrm>
            <a:off x="1733550" y="2590800"/>
            <a:ext cx="533400" cy="533400"/>
          </a:xfrm>
          <a:prstGeom prst="ellipse">
            <a:avLst/>
          </a:prstGeom>
          <a:solidFill>
            <a:srgbClr val="4C8D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2631684-7CD9-45FC-98E6-3DB4679F2ECA}"/>
              </a:ext>
            </a:extLst>
          </p:cNvPr>
          <p:cNvSpPr txBox="1"/>
          <p:nvPr/>
        </p:nvSpPr>
        <p:spPr>
          <a:xfrm>
            <a:off x="1733550" y="2590800"/>
            <a:ext cx="5334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C1428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FC02D74-DB1A-495D-9908-FD58A60A92D1}"/>
              </a:ext>
            </a:extLst>
          </p:cNvPr>
          <p:cNvSpPr/>
          <p:nvPr/>
        </p:nvSpPr>
        <p:spPr>
          <a:xfrm>
            <a:off x="4457700" y="2590800"/>
            <a:ext cx="533400" cy="533400"/>
          </a:xfrm>
          <a:prstGeom prst="ellipse">
            <a:avLst/>
          </a:prstGeom>
          <a:solidFill>
            <a:srgbClr val="4C8D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EDB094-CEE9-455B-A6D8-63446967C137}"/>
              </a:ext>
            </a:extLst>
          </p:cNvPr>
          <p:cNvSpPr txBox="1"/>
          <p:nvPr/>
        </p:nvSpPr>
        <p:spPr>
          <a:xfrm>
            <a:off x="4457700" y="2590800"/>
            <a:ext cx="5334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C1428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2425603-0C75-4E17-A7E6-D0EBD2B7EBFD}"/>
              </a:ext>
            </a:extLst>
          </p:cNvPr>
          <p:cNvSpPr/>
          <p:nvPr/>
        </p:nvSpPr>
        <p:spPr>
          <a:xfrm>
            <a:off x="7181850" y="2590800"/>
            <a:ext cx="533400" cy="533400"/>
          </a:xfrm>
          <a:prstGeom prst="ellipse">
            <a:avLst/>
          </a:prstGeom>
          <a:solidFill>
            <a:srgbClr val="4C8D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9E8D1B-F253-4B73-95F3-E0A19379A25E}"/>
              </a:ext>
            </a:extLst>
          </p:cNvPr>
          <p:cNvSpPr txBox="1"/>
          <p:nvPr/>
        </p:nvSpPr>
        <p:spPr>
          <a:xfrm>
            <a:off x="7181850" y="2590800"/>
            <a:ext cx="5334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C1428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388D5AC-493B-4AA7-9504-04726F828B5B}"/>
              </a:ext>
            </a:extLst>
          </p:cNvPr>
          <p:cNvSpPr/>
          <p:nvPr/>
        </p:nvSpPr>
        <p:spPr>
          <a:xfrm>
            <a:off x="9906000" y="2590800"/>
            <a:ext cx="533400" cy="533400"/>
          </a:xfrm>
          <a:prstGeom prst="ellipse">
            <a:avLst/>
          </a:prstGeom>
          <a:solidFill>
            <a:srgbClr val="37D0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E49C338-1CE8-41FF-9D62-1B9FCA83FF38}"/>
              </a:ext>
            </a:extLst>
          </p:cNvPr>
          <p:cNvSpPr txBox="1"/>
          <p:nvPr/>
        </p:nvSpPr>
        <p:spPr>
          <a:xfrm>
            <a:off x="9906000" y="2590800"/>
            <a:ext cx="5334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C1428"/>
                </a:solidFill>
                <a:latin typeface="Helvetica Neue"/>
                <a:ea typeface="Helvetica Neue"/>
              </a:rPr>
              <a:t>4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01C13B5-1FCB-4885-84C8-244DDB3A7F73}"/>
              </a:ext>
            </a:extLst>
          </p:cNvPr>
          <p:cNvSpPr/>
          <p:nvPr/>
        </p:nvSpPr>
        <p:spPr>
          <a:xfrm>
            <a:off x="762000" y="3505200"/>
            <a:ext cx="2476500" cy="24003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CFCB495-2ADB-48F9-AD62-EA7C81A83554}"/>
              </a:ext>
            </a:extLst>
          </p:cNvPr>
          <p:cNvSpPr/>
          <p:nvPr/>
        </p:nvSpPr>
        <p:spPr>
          <a:xfrm>
            <a:off x="3486150" y="3505200"/>
            <a:ext cx="2476500" cy="24003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2D3B1F6-4F8A-4D55-9AA6-500AF2729D14}"/>
              </a:ext>
            </a:extLst>
          </p:cNvPr>
          <p:cNvSpPr/>
          <p:nvPr/>
        </p:nvSpPr>
        <p:spPr>
          <a:xfrm>
            <a:off x="6210300" y="3505200"/>
            <a:ext cx="2476500" cy="24003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D56D82C-C0E4-4484-840B-BF7C7E8D8989}"/>
              </a:ext>
            </a:extLst>
          </p:cNvPr>
          <p:cNvSpPr/>
          <p:nvPr/>
        </p:nvSpPr>
        <p:spPr>
          <a:xfrm>
            <a:off x="8934450" y="3505200"/>
            <a:ext cx="2476500" cy="2400300"/>
          </a:xfrm>
          <a:prstGeom prst="roundRect">
            <a:avLst/>
          </a:prstGeom>
          <a:solidFill>
            <a:srgbClr val="151F38"/>
          </a:solidFill>
          <a:ln w="254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8B8FDA6-FBB2-4F30-8DDD-FDA6A2CD5A78}"/>
              </a:ext>
            </a:extLst>
          </p:cNvPr>
          <p:cNvSpPr txBox="1"/>
          <p:nvPr/>
        </p:nvSpPr>
        <p:spPr>
          <a:xfrm>
            <a:off x="952500" y="3733800"/>
            <a:ext cx="2095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0FA"/>
                </a:solidFill>
                <a:latin typeface="PingFang SC"/>
                <a:ea typeface="PingFang SC"/>
              </a:rPr>
              <a:t>简单自注意力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FC44F21-CBEC-4D08-9A54-8F37BD374FBF}"/>
              </a:ext>
            </a:extLst>
          </p:cNvPr>
          <p:cNvSpPr txBox="1"/>
          <p:nvPr/>
        </p:nvSpPr>
        <p:spPr>
          <a:xfrm>
            <a:off x="952500" y="4114800"/>
            <a:ext cx="2095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没有可训练权重：通过点积、softmax 归一化和加权求和计算上下文向量，阐明注意力机制的基本原理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C9943F9-737D-4FF4-8DAA-BD988B9B3363}"/>
              </a:ext>
            </a:extLst>
          </p:cNvPr>
          <p:cNvSpPr txBox="1"/>
          <p:nvPr/>
        </p:nvSpPr>
        <p:spPr>
          <a:xfrm>
            <a:off x="3676650" y="3733800"/>
            <a:ext cx="2095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0FA"/>
                </a:solidFill>
                <a:latin typeface="PingFang SC"/>
                <a:ea typeface="PingFang SC"/>
              </a:rPr>
              <a:t>带可训练权重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1FB0A8C-3A4E-4818-86AA-6076A177C7A6}"/>
              </a:ext>
            </a:extLst>
          </p:cNvPr>
          <p:cNvSpPr txBox="1"/>
          <p:nvPr/>
        </p:nvSpPr>
        <p:spPr>
          <a:xfrm>
            <a:off x="3676650" y="4114800"/>
            <a:ext cx="2095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引入可训练权重矩阵 W_q、W_k、W_v（缩放点积注意力），让模型从数据中学习如何构建上下文向量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ED61638-E3A2-43D8-9392-0358C1A56D88}"/>
              </a:ext>
            </a:extLst>
          </p:cNvPr>
          <p:cNvSpPr txBox="1"/>
          <p:nvPr/>
        </p:nvSpPr>
        <p:spPr>
          <a:xfrm>
            <a:off x="6400800" y="3733800"/>
            <a:ext cx="2095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0FA"/>
                </a:solidFill>
                <a:latin typeface="PingFang SC"/>
                <a:ea typeface="PingFang SC"/>
              </a:rPr>
              <a:t>因果注意力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07578AB-E9FA-45B4-9EC7-70C24B1C243F}"/>
              </a:ext>
            </a:extLst>
          </p:cNvPr>
          <p:cNvSpPr txBox="1"/>
          <p:nvPr/>
        </p:nvSpPr>
        <p:spPr>
          <a:xfrm>
            <a:off x="6400800" y="4114800"/>
            <a:ext cx="2095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在自注意力基础上增加掩码，隐藏未来词元；再用 dropout 减少训练过拟合，支撑逐词生成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AB95E7D-5FDB-4312-AC7B-6DE3130D44CD}"/>
              </a:ext>
            </a:extLst>
          </p:cNvPr>
          <p:cNvSpPr txBox="1"/>
          <p:nvPr/>
        </p:nvSpPr>
        <p:spPr>
          <a:xfrm>
            <a:off x="9124950" y="3733800"/>
            <a:ext cx="2095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D0B0"/>
                </a:solidFill>
                <a:latin typeface="PingFang SC"/>
                <a:ea typeface="PingFang SC"/>
              </a:rPr>
              <a:t>多头注意力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8FF7E48-555E-4EB6-A35C-9D51F320536F}"/>
              </a:ext>
            </a:extLst>
          </p:cNvPr>
          <p:cNvSpPr txBox="1"/>
          <p:nvPr/>
        </p:nvSpPr>
        <p:spPr>
          <a:xfrm>
            <a:off x="9124950" y="4114800"/>
            <a:ext cx="2095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拆分为多个头并行工作，捕获输入的不同特征；批处理矩阵乘法高效实现，供第 4 章集成进 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C0C77CC-00AB-44C5-9515-0B423757D3EA}"/>
              </a:ext>
            </a:extLst>
          </p:cNvPr>
          <p:cNvSpPr txBox="1"/>
          <p:nvPr/>
        </p:nvSpPr>
        <p:spPr>
          <a:xfrm>
            <a:off x="762000" y="495300"/>
            <a:ext cx="7810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3.1 长序列建模中的问题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B30C39-00CE-4498-A289-43A22B3CF3F2}"/>
              </a:ext>
            </a:extLst>
          </p:cNvPr>
          <p:cNvSpPr txBox="1"/>
          <p:nvPr/>
        </p:nvSpPr>
        <p:spPr>
          <a:xfrm>
            <a:off x="762000" y="1066800"/>
            <a:ext cx="952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语言翻译不能逐词进行——源语言与目标语言语法结构不同，翻译需要理解上下文和语法对齐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EC91588-845D-4DAF-9A3B-A303100F2095}"/>
              </a:ext>
            </a:extLst>
          </p:cNvPr>
          <p:cNvSpPr/>
          <p:nvPr/>
        </p:nvSpPr>
        <p:spPr>
          <a:xfrm>
            <a:off x="762000" y="1600200"/>
            <a:ext cx="5143500" cy="4000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0DDBDD-66E4-4F64-B54E-97BF3CAEECFD}"/>
              </a:ext>
            </a:extLst>
          </p:cNvPr>
          <p:cNvSpPr txBox="1"/>
          <p:nvPr/>
        </p:nvSpPr>
        <p:spPr>
          <a:xfrm>
            <a:off x="1047750" y="1905000"/>
            <a:ext cx="45720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编码器-解码器 RNN 的工作方式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7454F09-667B-4A50-8CA3-28C5695CA27E}"/>
              </a:ext>
            </a:extLst>
          </p:cNvPr>
          <p:cNvSpPr txBox="1"/>
          <p:nvPr/>
        </p:nvSpPr>
        <p:spPr>
          <a:xfrm>
            <a:off x="1047750" y="2438400"/>
            <a:ext cx="4572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1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编码器逐步读取并处理整个输入文本，每一步更新隐藏状态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2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最终隐藏状态试图捕捉输入句子的全部含义，可视为一种嵌入向量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3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解码器利用该隐藏状态逐词生成翻译，每步更新包含下一词预测所需上下文的状态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B129D3C-1252-4CB9-904C-E0FFB2A60D61}"/>
              </a:ext>
            </a:extLst>
          </p:cNvPr>
          <p:cNvSpPr/>
          <p:nvPr/>
        </p:nvSpPr>
        <p:spPr>
          <a:xfrm>
            <a:off x="6286500" y="1600200"/>
            <a:ext cx="5143500" cy="4000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8CC6D28-2056-4E89-97E6-B25033EBE48C}"/>
              </a:ext>
            </a:extLst>
          </p:cNvPr>
          <p:cNvSpPr txBox="1"/>
          <p:nvPr/>
        </p:nvSpPr>
        <p:spPr>
          <a:xfrm>
            <a:off x="6572250" y="1905000"/>
            <a:ext cx="45720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主要局限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3039A1-7227-4270-84C3-18DA0A34BA99}"/>
              </a:ext>
            </a:extLst>
          </p:cNvPr>
          <p:cNvSpPr txBox="1"/>
          <p:nvPr/>
        </p:nvSpPr>
        <p:spPr>
          <a:xfrm>
            <a:off x="6572250" y="2438400"/>
            <a:ext cx="4572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1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解码阶段无法直接访问编码器的早期隐藏状态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2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只能依赖单一隐藏状态承载全部相关信息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C8DFF"/>
                </a:solidFill>
                <a:latin typeface="Helvetica Neue"/>
                <a:ea typeface="Helvetica Neue"/>
              </a:rPr>
              <a:t>3  </a:t>
            </a: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复杂句子中依赖关系跨越较长距离时，上下文丢失，长文本处理效果不佳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06C0B74-F0C5-4C96-90F6-E1BC27D9CDAE}"/>
              </a:ext>
            </a:extLst>
          </p:cNvPr>
          <p:cNvSpPr/>
          <p:nvPr/>
        </p:nvSpPr>
        <p:spPr>
          <a:xfrm>
            <a:off x="762000" y="5924550"/>
            <a:ext cx="10668000" cy="533400"/>
          </a:xfrm>
          <a:prstGeom prst="roundRect">
            <a:avLst/>
          </a:prstGeom>
          <a:solidFill>
            <a:srgbClr val="37D0B0">
              <a:alpha val="1215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0A82BD6-EF3B-4701-8C21-A05C815A065C}"/>
              </a:ext>
            </a:extLst>
          </p:cNvPr>
          <p:cNvSpPr txBox="1"/>
          <p:nvPr/>
        </p:nvSpPr>
        <p:spPr>
          <a:xfrm>
            <a:off x="762000" y="5924550"/>
            <a:ext cx="106680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D0B0"/>
                </a:solidFill>
                <a:latin typeface="PingFang SC"/>
                <a:ea typeface="PingFang SC"/>
              </a:rPr>
              <a:t>正是编码器-解码器 RNN 的这一缺陷，直接促进了注意力机制的设计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B27CBD-C43D-499E-8F14-0F3EB5ABF49B}"/>
              </a:ext>
            </a:extLst>
          </p:cNvPr>
          <p:cNvSpPr txBox="1"/>
          <p:nvPr/>
        </p:nvSpPr>
        <p:spPr>
          <a:xfrm>
            <a:off x="762000" y="495300"/>
            <a:ext cx="8572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3.2 使用注意力机制捕捉数据依赖关系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C5FF7E-1F37-4F32-A3FD-78D67047129C}"/>
              </a:ext>
            </a:extLst>
          </p:cNvPr>
          <p:cNvSpPr txBox="1"/>
          <p:nvPr/>
        </p:nvSpPr>
        <p:spPr>
          <a:xfrm>
            <a:off x="762000" y="1066800"/>
            <a:ext cx="952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注意力让网络的解码部分有选择地访问输入序列——某些输入词元对生成特定输出词元更重要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8186D7A-FFD9-445C-B8DF-F565EEB6B82B}"/>
              </a:ext>
            </a:extLst>
          </p:cNvPr>
          <p:cNvSpPr/>
          <p:nvPr/>
        </p:nvSpPr>
        <p:spPr>
          <a:xfrm>
            <a:off x="762000" y="1714500"/>
            <a:ext cx="3352800" cy="37147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12FA4D-7F84-4801-AD4E-6B244D620C8E}"/>
              </a:ext>
            </a:extLst>
          </p:cNvPr>
          <p:cNvSpPr txBox="1"/>
          <p:nvPr/>
        </p:nvSpPr>
        <p:spPr>
          <a:xfrm>
            <a:off x="1047750" y="2019300"/>
            <a:ext cx="27813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C8DFF"/>
                </a:solidFill>
                <a:latin typeface="Helvetica Neue"/>
                <a:ea typeface="Helvetica Neue"/>
              </a:rPr>
              <a:t>2014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F2413F-5BF4-451C-AC2B-DF95D29BD279}"/>
              </a:ext>
            </a:extLst>
          </p:cNvPr>
          <p:cNvSpPr txBox="1"/>
          <p:nvPr/>
        </p:nvSpPr>
        <p:spPr>
          <a:xfrm>
            <a:off x="1047750" y="2533650"/>
            <a:ext cx="27813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Bahdanau 注意力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73D2B8-3E0E-4164-A212-B9C9BEC60485}"/>
              </a:ext>
            </a:extLst>
          </p:cNvPr>
          <p:cNvSpPr txBox="1"/>
          <p:nvPr/>
        </p:nvSpPr>
        <p:spPr>
          <a:xfrm>
            <a:off x="1047750" y="2990850"/>
            <a:ext cx="27813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为编码器-解码器 RNN 而开发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解码器在每个解码步骤可选择性访问输入序列的不同部分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各部分的重要性由注意力权重决定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E8DA297-7097-4F9E-897F-0B5D02DA1E2F}"/>
              </a:ext>
            </a:extLst>
          </p:cNvPr>
          <p:cNvSpPr/>
          <p:nvPr/>
        </p:nvSpPr>
        <p:spPr>
          <a:xfrm>
            <a:off x="4419600" y="1714500"/>
            <a:ext cx="3352800" cy="37147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134B965-76F4-4BDC-847D-874DFA6CCCF2}"/>
              </a:ext>
            </a:extLst>
          </p:cNvPr>
          <p:cNvSpPr txBox="1"/>
          <p:nvPr/>
        </p:nvSpPr>
        <p:spPr>
          <a:xfrm>
            <a:off x="4705350" y="2019300"/>
            <a:ext cx="27813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C8DFF"/>
                </a:solidFill>
                <a:latin typeface="Helvetica Neue"/>
                <a:ea typeface="Helvetica Neue"/>
              </a:rPr>
              <a:t>2017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559C3B-23CB-433D-A0B5-991480A85929}"/>
              </a:ext>
            </a:extLst>
          </p:cNvPr>
          <p:cNvSpPr txBox="1"/>
          <p:nvPr/>
        </p:nvSpPr>
        <p:spPr>
          <a:xfrm>
            <a:off x="4705350" y="2533650"/>
            <a:ext cx="27813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Transformer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BDE2844-4898-47FC-A27F-FEC8CBE5BB4A}"/>
              </a:ext>
            </a:extLst>
          </p:cNvPr>
          <p:cNvSpPr txBox="1"/>
          <p:nvPr/>
        </p:nvSpPr>
        <p:spPr>
          <a:xfrm>
            <a:off x="4705350" y="2990850"/>
            <a:ext cx="27813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仅仅 3 年后，研究人员发现：RNN 并非构建 NLP 深度网络的必需架构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提出最初的 Transformer 架构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其中的自注意力机制受 Bahdanau 注意力启发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F39D113-18FB-46FF-93D3-235DC4FECFA6}"/>
              </a:ext>
            </a:extLst>
          </p:cNvPr>
          <p:cNvSpPr/>
          <p:nvPr/>
        </p:nvSpPr>
        <p:spPr>
          <a:xfrm>
            <a:off x="8077200" y="1714500"/>
            <a:ext cx="3352800" cy="3714750"/>
          </a:xfrm>
          <a:prstGeom prst="roundRect">
            <a:avLst/>
          </a:prstGeom>
          <a:solidFill>
            <a:srgbClr val="151F38"/>
          </a:solidFill>
          <a:ln w="254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AFCB17C-29BE-4F2D-A986-8C142549654B}"/>
              </a:ext>
            </a:extLst>
          </p:cNvPr>
          <p:cNvSpPr txBox="1"/>
          <p:nvPr/>
        </p:nvSpPr>
        <p:spPr>
          <a:xfrm>
            <a:off x="8362950" y="2019300"/>
            <a:ext cx="27813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7D0B0"/>
                </a:solidFill>
                <a:latin typeface="Helvetica Neue"/>
                <a:ea typeface="Helvetica Neue"/>
              </a:rPr>
              <a:t>SELF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B407A57-DE65-4115-9988-DE47DC23FBA6}"/>
              </a:ext>
            </a:extLst>
          </p:cNvPr>
          <p:cNvSpPr txBox="1"/>
          <p:nvPr/>
        </p:nvSpPr>
        <p:spPr>
          <a:xfrm>
            <a:off x="8362950" y="2533650"/>
            <a:ext cx="27813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自注意力中的「自」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A576974-2B91-4D46-9E0D-1F2580153BE7}"/>
              </a:ext>
            </a:extLst>
          </p:cNvPr>
          <p:cNvSpPr txBox="1"/>
          <p:nvPr/>
        </p:nvSpPr>
        <p:spPr>
          <a:xfrm>
            <a:off x="8362950" y="2990850"/>
            <a:ext cx="27813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关联单个输入序列中的不同位置来计算注意力权重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评估并学习输入自身各部分之间的关系与依赖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对比：传统注意力关注两个不同序列（如输入与输出）之间的关系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251B14F-D025-462B-9E28-19A0A3A70D3F}"/>
              </a:ext>
            </a:extLst>
          </p:cNvPr>
          <p:cNvSpPr txBox="1"/>
          <p:nvPr/>
        </p:nvSpPr>
        <p:spPr>
          <a:xfrm>
            <a:off x="762000" y="5886450"/>
            <a:ext cx="106680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D0B0"/>
                </a:solidFill>
                <a:latin typeface="PingFang SC"/>
                <a:ea typeface="PingFang SC"/>
              </a:rPr>
              <a:t>自注意力机制是 GPT 系列等当代大语言模型的关键组成部分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5C384A7-E22B-4F55-BFC4-2C044BDFE168}"/>
              </a:ext>
            </a:extLst>
          </p:cNvPr>
          <p:cNvSpPr txBox="1"/>
          <p:nvPr/>
        </p:nvSpPr>
        <p:spPr>
          <a:xfrm>
            <a:off x="762000" y="495300"/>
            <a:ext cx="7810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3.3 自注意力的目标：上下文向量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A1B3721-13D5-4711-9BC0-120F847FBCC5}"/>
              </a:ext>
            </a:extLst>
          </p:cNvPr>
          <p:cNvSpPr txBox="1"/>
          <p:nvPr/>
        </p:nvSpPr>
        <p:spPr>
          <a:xfrm>
            <a:off x="762000" y="1066800"/>
            <a:ext cx="952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为输入序列中的每个元素计算「上下文向量」——融合序列中所有其他元素信息的增强表示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4FF3E6B-FFC8-4C4D-8BD5-770072CA456B}"/>
              </a:ext>
            </a:extLst>
          </p:cNvPr>
          <p:cNvSpPr/>
          <p:nvPr/>
        </p:nvSpPr>
        <p:spPr>
          <a:xfrm>
            <a:off x="762000" y="1619250"/>
            <a:ext cx="4381500" cy="44767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D00007-38D6-425D-8458-28C351DECD59}"/>
              </a:ext>
            </a:extLst>
          </p:cNvPr>
          <p:cNvSpPr txBox="1"/>
          <p:nvPr/>
        </p:nvSpPr>
        <p:spPr>
          <a:xfrm>
            <a:off x="1143000" y="1828800"/>
            <a:ext cx="3048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4C8DFF"/>
                </a:solidFill>
                <a:latin typeface="Helvetica Neue"/>
                <a:ea typeface="Helvetica Neue"/>
              </a:rPr>
              <a:t>1.0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D1C069-F6B7-4FD1-AE06-79BC77ACFA3E}"/>
              </a:ext>
            </a:extLst>
          </p:cNvPr>
          <p:cNvSpPr txBox="1"/>
          <p:nvPr/>
        </p:nvSpPr>
        <p:spPr>
          <a:xfrm>
            <a:off x="1143000" y="3676650"/>
            <a:ext cx="3619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0FA"/>
                </a:solidFill>
                <a:latin typeface="PingFang SC"/>
                <a:ea typeface="PingFang SC"/>
              </a:rPr>
              <a:t>注意力权重每行之和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9121E3-9ECC-42D2-B0BA-38E66EA22E19}"/>
              </a:ext>
            </a:extLst>
          </p:cNvPr>
          <p:cNvSpPr txBox="1"/>
          <p:nvPr/>
        </p:nvSpPr>
        <p:spPr>
          <a:xfrm>
            <a:off x="1143000" y="4076700"/>
            <a:ext cx="36195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9FB3D9"/>
                </a:solidFill>
                <a:latin typeface="PingFang SC"/>
                <a:ea typeface="PingFang SC"/>
              </a:rPr>
              <a:t>归一化是惯例：便于解释结果，并维持大语言模型训练稳定性；softmax 同时保证权重恒为正值，可解释为概率或相对重要性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9C72F20-4F73-4F5E-9399-7CB63F6EFBE5}"/>
              </a:ext>
            </a:extLst>
          </p:cNvPr>
          <p:cNvSpPr txBox="1"/>
          <p:nvPr/>
        </p:nvSpPr>
        <p:spPr>
          <a:xfrm>
            <a:off x="1143000" y="5219700"/>
            <a:ext cx="3810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150">
                <a:solidFill>
                  <a:srgbClr val="8FA3C8"/>
                </a:solidFill>
                <a:latin typeface="PingFang SC"/>
                <a:ea typeface="PingFang SC"/>
              </a:rPr>
              <a:t>示例（第 2 行权重）：</a:t>
            </a:r>
          </a:p>
          <a:p>
            <a:pPr algn="l">
              <a:lnSpc>
                <a:spcPct val="150000"/>
              </a:lnSpc>
            </a:pPr>
            <a:r>
              <a:rPr sz="1150">
                <a:solidFill>
                  <a:srgbClr val="8FA3C8"/>
                </a:solidFill>
                <a:latin typeface="Helvetica Neue"/>
                <a:ea typeface="Helvetica Neue"/>
              </a:rPr>
              <a:t>[0.1385, 0.2379, 0.2333, 0.1240, 0.1082, 0.1581]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4B0228A-E054-403C-87B0-C44FE92DE33E}"/>
              </a:ext>
            </a:extLst>
          </p:cNvPr>
          <p:cNvSpPr/>
          <p:nvPr/>
        </p:nvSpPr>
        <p:spPr>
          <a:xfrm>
            <a:off x="5524500" y="1619250"/>
            <a:ext cx="5905500" cy="44767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726FBB-69D7-46E6-81B2-5E956D5B106A}"/>
              </a:ext>
            </a:extLst>
          </p:cNvPr>
          <p:cNvSpPr txBox="1"/>
          <p:nvPr/>
        </p:nvSpPr>
        <p:spPr>
          <a:xfrm>
            <a:off x="5829300" y="1943100"/>
            <a:ext cx="52959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上下文向量 z⁽ⁱ⁾ —— 自注意力的输出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96862E5-0C3A-4CF5-87DC-E0EE77FF0DC5}"/>
              </a:ext>
            </a:extLst>
          </p:cNvPr>
          <p:cNvSpPr txBox="1"/>
          <p:nvPr/>
        </p:nvSpPr>
        <p:spPr>
          <a:xfrm>
            <a:off x="5829300" y="2400300"/>
            <a:ext cx="52959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C6D2E8"/>
                </a:solidFill>
                <a:latin typeface="PingFang SC"/>
                <a:ea typeface="PingFang SC"/>
              </a:rPr>
              <a:t>为输入序列中的每个元素 x⁽ⁱ⁾ 计算上下文向量 z⁽ⁱ⁾：融合 x⁽ⁱ⁾ 与序列中所有元素信息的增强嵌入，使模型能够理解句子中单词之间的关系和相关性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E95EC97-4D12-4201-8E7E-2383E7CF84A7}"/>
              </a:ext>
            </a:extLst>
          </p:cNvPr>
          <p:cNvSpPr txBox="1"/>
          <p:nvPr/>
        </p:nvSpPr>
        <p:spPr>
          <a:xfrm>
            <a:off x="5829300" y="3619500"/>
            <a:ext cx="52959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8FA3C8"/>
                </a:solidFill>
                <a:latin typeface="PingFang SC"/>
                <a:ea typeface="PingFang SC"/>
              </a:rPr>
              <a:t>示例输入（已按第 2 章方式嵌入，6 个词元 × 3 维）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ADD67A2-E7BC-4571-BE90-1323BE6ABF36}"/>
              </a:ext>
            </a:extLst>
          </p:cNvPr>
          <p:cNvSpPr/>
          <p:nvPr/>
        </p:nvSpPr>
        <p:spPr>
          <a:xfrm>
            <a:off x="582930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3CAD409-A57B-43AB-A20A-30F46E328666}"/>
              </a:ext>
            </a:extLst>
          </p:cNvPr>
          <p:cNvSpPr txBox="1"/>
          <p:nvPr/>
        </p:nvSpPr>
        <p:spPr>
          <a:xfrm>
            <a:off x="582930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Your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57F01F0-B914-4A02-B8C8-46F1CCD71D04}"/>
              </a:ext>
            </a:extLst>
          </p:cNvPr>
          <p:cNvSpPr/>
          <p:nvPr/>
        </p:nvSpPr>
        <p:spPr>
          <a:xfrm>
            <a:off x="672465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0A38E03-B39B-4B68-8C3F-DF063A0B1CF6}"/>
              </a:ext>
            </a:extLst>
          </p:cNvPr>
          <p:cNvSpPr txBox="1"/>
          <p:nvPr/>
        </p:nvSpPr>
        <p:spPr>
          <a:xfrm>
            <a:off x="672465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journey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94401E4-72C4-4977-84EF-AC02DF9DCDFA}"/>
              </a:ext>
            </a:extLst>
          </p:cNvPr>
          <p:cNvSpPr/>
          <p:nvPr/>
        </p:nvSpPr>
        <p:spPr>
          <a:xfrm>
            <a:off x="762000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78B7AEB-23F7-4754-8ADE-BB300DCF8AAD}"/>
              </a:ext>
            </a:extLst>
          </p:cNvPr>
          <p:cNvSpPr txBox="1"/>
          <p:nvPr/>
        </p:nvSpPr>
        <p:spPr>
          <a:xfrm>
            <a:off x="762000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starts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16FAB8A-AE88-49AF-A34E-224C897F8A75}"/>
              </a:ext>
            </a:extLst>
          </p:cNvPr>
          <p:cNvSpPr/>
          <p:nvPr/>
        </p:nvSpPr>
        <p:spPr>
          <a:xfrm>
            <a:off x="851535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C3520CF-AF3B-41EC-9020-A33AB076B195}"/>
              </a:ext>
            </a:extLst>
          </p:cNvPr>
          <p:cNvSpPr txBox="1"/>
          <p:nvPr/>
        </p:nvSpPr>
        <p:spPr>
          <a:xfrm>
            <a:off x="851535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with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321BE81-E793-499C-849A-261B3CB978A5}"/>
              </a:ext>
            </a:extLst>
          </p:cNvPr>
          <p:cNvSpPr/>
          <p:nvPr/>
        </p:nvSpPr>
        <p:spPr>
          <a:xfrm>
            <a:off x="941070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1954E98-1771-4F24-BCDB-0E51AD1BDF00}"/>
              </a:ext>
            </a:extLst>
          </p:cNvPr>
          <p:cNvSpPr txBox="1"/>
          <p:nvPr/>
        </p:nvSpPr>
        <p:spPr>
          <a:xfrm>
            <a:off x="941070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one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A934194A-0068-41BA-AC0E-004E3CC7563D}"/>
              </a:ext>
            </a:extLst>
          </p:cNvPr>
          <p:cNvSpPr/>
          <p:nvPr/>
        </p:nvSpPr>
        <p:spPr>
          <a:xfrm>
            <a:off x="10306050" y="3943350"/>
            <a:ext cx="819150" cy="3238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1B8A19D-7D10-4039-BD6A-3D6B950B2C53}"/>
              </a:ext>
            </a:extLst>
          </p:cNvPr>
          <p:cNvSpPr txBox="1"/>
          <p:nvPr/>
        </p:nvSpPr>
        <p:spPr>
          <a:xfrm>
            <a:off x="10306050" y="3943350"/>
            <a:ext cx="819150" cy="3238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A"/>
                </a:solidFill>
                <a:latin typeface="Helvetica Neue"/>
                <a:ea typeface="Helvetica Neue"/>
              </a:rPr>
              <a:t>step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DCDE211-26CA-4686-A26A-9193475CDBAC}"/>
              </a:ext>
            </a:extLst>
          </p:cNvPr>
          <p:cNvSpPr txBox="1"/>
          <p:nvPr/>
        </p:nvSpPr>
        <p:spPr>
          <a:xfrm>
            <a:off x="5829300" y="4629150"/>
            <a:ext cx="52959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D0B0"/>
                </a:solidFill>
                <a:latin typeface="Helvetica Neue"/>
                <a:ea typeface="Helvetica Neue"/>
              </a:rPr>
              <a:t>z⁽²⁾ = α₂₁·x⁽¹⁾ + α₂₂·x⁽²⁾ + ⋯ + α₂₆·x⁽⁶⁾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5C5BC8E-725D-4564-BB43-17134E0B3AA4}"/>
              </a:ext>
            </a:extLst>
          </p:cNvPr>
          <p:cNvSpPr txBox="1"/>
          <p:nvPr/>
        </p:nvSpPr>
        <p:spPr>
          <a:xfrm>
            <a:off x="5829300" y="5143500"/>
            <a:ext cx="52959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权重 α 由查询元素与其他元素的相似度（点积）经 softmax 归一化得到，下文分三步拆解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030B1A6-D028-42C0-BC6E-489BDD5ACEC0}"/>
              </a:ext>
            </a:extLst>
          </p:cNvPr>
          <p:cNvSpPr txBox="1"/>
          <p:nvPr/>
        </p:nvSpPr>
        <p:spPr>
          <a:xfrm>
            <a:off x="762000" y="495300"/>
            <a:ext cx="7810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3.3 简单自注意力：三步计算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376F50-A37F-4A4D-8FBE-9FD584DA9073}"/>
              </a:ext>
            </a:extLst>
          </p:cNvPr>
          <p:cNvSpPr txBox="1"/>
          <p:nvPr/>
        </p:nvSpPr>
        <p:spPr>
          <a:xfrm>
            <a:off x="762000" y="1066800"/>
            <a:ext cx="952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暂不引入可训练权重：以第 2 个输入元素 x⁽²⁾（journey）为查询，演示上下文向量 z⁽²⁾ 的完整计算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D7A5242-F363-4E93-9038-6ADC8B985894}"/>
              </a:ext>
            </a:extLst>
          </p:cNvPr>
          <p:cNvSpPr/>
          <p:nvPr/>
        </p:nvSpPr>
        <p:spPr>
          <a:xfrm>
            <a:off x="762000" y="1600200"/>
            <a:ext cx="5334000" cy="1333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7F5200-8705-42F2-A6C0-AD51C7F45571}"/>
              </a:ext>
            </a:extLst>
          </p:cNvPr>
          <p:cNvSpPr txBox="1"/>
          <p:nvPr/>
        </p:nvSpPr>
        <p:spPr>
          <a:xfrm>
            <a:off x="990600" y="17907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5C1CA0-B685-4448-BA97-6D5B4F1C450B}"/>
              </a:ext>
            </a:extLst>
          </p:cNvPr>
          <p:cNvSpPr txBox="1"/>
          <p:nvPr/>
        </p:nvSpPr>
        <p:spPr>
          <a:xfrm>
            <a:off x="1371600" y="1809750"/>
            <a:ext cx="4381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计算注意力分数 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6585CE-7956-4845-B850-18A903A07F96}"/>
              </a:ext>
            </a:extLst>
          </p:cNvPr>
          <p:cNvSpPr txBox="1"/>
          <p:nvPr/>
        </p:nvSpPr>
        <p:spPr>
          <a:xfrm>
            <a:off x="990600" y="2190750"/>
            <a:ext cx="48768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查询词元 x⁽²⁾ 与每个输入词元做点积；点积度量两个向量的对齐程度——越大代表越相似、越受关注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6AC3935-7A28-4778-91A9-5BDD365C0847}"/>
              </a:ext>
            </a:extLst>
          </p:cNvPr>
          <p:cNvSpPr/>
          <p:nvPr/>
        </p:nvSpPr>
        <p:spPr>
          <a:xfrm>
            <a:off x="762000" y="3086100"/>
            <a:ext cx="5334000" cy="1333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54A4035-787F-46FC-8A88-C94790A8EB0C}"/>
              </a:ext>
            </a:extLst>
          </p:cNvPr>
          <p:cNvSpPr txBox="1"/>
          <p:nvPr/>
        </p:nvSpPr>
        <p:spPr>
          <a:xfrm>
            <a:off x="990600" y="32766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8BBBD2D-3C22-4D37-9E16-A8F55C0CA355}"/>
              </a:ext>
            </a:extLst>
          </p:cNvPr>
          <p:cNvSpPr txBox="1"/>
          <p:nvPr/>
        </p:nvSpPr>
        <p:spPr>
          <a:xfrm>
            <a:off x="1371600" y="3295650"/>
            <a:ext cx="4381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softmax 归一化得 α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F06E3DF-8C84-4299-ACEA-34D57672A88D}"/>
              </a:ext>
            </a:extLst>
          </p:cNvPr>
          <p:cNvSpPr txBox="1"/>
          <p:nvPr/>
        </p:nvSpPr>
        <p:spPr>
          <a:xfrm>
            <a:off x="990600" y="3676650"/>
            <a:ext cx="48768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注意力权重总和为 1 且恒为正值；相比直接除以总和，softmax 更好处理极值、训练时梯度特性更优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BF99E64-B705-4CB8-8588-E04376DD954A}"/>
              </a:ext>
            </a:extLst>
          </p:cNvPr>
          <p:cNvSpPr/>
          <p:nvPr/>
        </p:nvSpPr>
        <p:spPr>
          <a:xfrm>
            <a:off x="762000" y="4572000"/>
            <a:ext cx="5334000" cy="1333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C37469B-33C5-4A2A-A31E-3356EDCA6813}"/>
              </a:ext>
            </a:extLst>
          </p:cNvPr>
          <p:cNvSpPr txBox="1"/>
          <p:nvPr/>
        </p:nvSpPr>
        <p:spPr>
          <a:xfrm>
            <a:off x="990600" y="47625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2E3084E-2C91-43EF-A389-0E47AC254F92}"/>
              </a:ext>
            </a:extLst>
          </p:cNvPr>
          <p:cNvSpPr txBox="1"/>
          <p:nvPr/>
        </p:nvSpPr>
        <p:spPr>
          <a:xfrm>
            <a:off x="1371600" y="4781550"/>
            <a:ext cx="4381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加权求和得上下文向量 z⁽²⁾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15FA1EB-34BE-41F0-A776-ED7C8DF16DA6}"/>
              </a:ext>
            </a:extLst>
          </p:cNvPr>
          <p:cNvSpPr txBox="1"/>
          <p:nvPr/>
        </p:nvSpPr>
        <p:spPr>
          <a:xfrm>
            <a:off x="990600" y="5162550"/>
            <a:ext cx="48768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将每个输入向量与对应注意力权重相乘后求和，得到融合全句信息的增强表示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EFFAF2B-80A9-445F-8124-C91D3732DA82}"/>
              </a:ext>
            </a:extLst>
          </p:cNvPr>
          <p:cNvSpPr/>
          <p:nvPr/>
        </p:nvSpPr>
        <p:spPr>
          <a:xfrm>
            <a:off x="6477000" y="1600200"/>
            <a:ext cx="4953000" cy="43053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9199C4D-7BF9-4033-BF8D-BAF857710C96}"/>
              </a:ext>
            </a:extLst>
          </p:cNvPr>
          <p:cNvSpPr txBox="1"/>
          <p:nvPr/>
        </p:nvSpPr>
        <p:spPr>
          <a:xfrm>
            <a:off x="6781800" y="1866900"/>
            <a:ext cx="4419600" cy="3429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query = inputs[1]                    # x⁽²⁾ 作查询</a:t>
            </a:r>
            <a:br/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attn_scores_2 = torch.empty(6)</a:t>
            </a:r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for i, x_i in enumerate(inputs):</a:t>
            </a:r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    attn_scores_2[i] = torch.dot(x_i, query)</a:t>
            </a:r>
            <a:br/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attn_weights_2 = torch.softmax(</a:t>
            </a:r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    attn_scores_2, dim=0)</a:t>
            </a:r>
            <a:br/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context_vec_2 = torch.zeros(query.shape)</a:t>
            </a:r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for i, x_i in enumerate(inputs):</a:t>
            </a:r>
            <a:br/>
            <a:r>
              <a:rPr sz="1150">
                <a:solidFill>
                  <a:srgbClr val="C6D2E8"/>
                </a:solidFill>
                <a:latin typeface="Menlo"/>
                <a:ea typeface="Menlo"/>
              </a:rPr>
              <a:t>    context_vec_2 += attn_weights_2[i] * x_i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AAD1638-6090-4BB8-BAD1-0991A6796086}"/>
              </a:ext>
            </a:extLst>
          </p:cNvPr>
          <p:cNvSpPr txBox="1"/>
          <p:nvPr/>
        </p:nvSpPr>
        <p:spPr>
          <a:xfrm>
            <a:off x="6781800" y="5295900"/>
            <a:ext cx="44196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D0B0"/>
                </a:solidFill>
                <a:latin typeface="Menlo"/>
                <a:ea typeface="Menlo"/>
              </a:rPr>
              <a:t>→ tensor([0.4419, 0.6515, 0.5683])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6EDDB27-1670-4C41-8D52-3C37864DF34A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3.3.2 计算所有词元的注意力权重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把三步计算推广到全部输入：矩阵乘法一次完成，替代嵌套的双重 for 循环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C731F0-7D0D-450D-ADDE-C3C4E8BCA5B3}"/>
              </a:ext>
            </a:extLst>
          </p:cNvPr>
          <p:cNvSpPr txBox="1"/>
          <p:nvPr/>
        </p:nvSpPr>
        <p:spPr>
          <a:xfrm>
            <a:off x="161925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Your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45CA6D-D418-404E-BCBD-632A065D5A19}"/>
              </a:ext>
            </a:extLst>
          </p:cNvPr>
          <p:cNvSpPr txBox="1"/>
          <p:nvPr/>
        </p:nvSpPr>
        <p:spPr>
          <a:xfrm>
            <a:off x="220980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journey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15E209-2644-4BB7-940A-A02FE4C121B6}"/>
              </a:ext>
            </a:extLst>
          </p:cNvPr>
          <p:cNvSpPr txBox="1"/>
          <p:nvPr/>
        </p:nvSpPr>
        <p:spPr>
          <a:xfrm>
            <a:off x="280035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starts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CE50AC-282B-44AB-8B45-F742DD2A1EA1}"/>
              </a:ext>
            </a:extLst>
          </p:cNvPr>
          <p:cNvSpPr txBox="1"/>
          <p:nvPr/>
        </p:nvSpPr>
        <p:spPr>
          <a:xfrm>
            <a:off x="339090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with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36F7248-06CB-4A49-85B5-B6BD9DE622CE}"/>
              </a:ext>
            </a:extLst>
          </p:cNvPr>
          <p:cNvSpPr txBox="1"/>
          <p:nvPr/>
        </p:nvSpPr>
        <p:spPr>
          <a:xfrm>
            <a:off x="398145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one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6DC2D17-1E8C-47BF-B003-4A8D154A5336}"/>
              </a:ext>
            </a:extLst>
          </p:cNvPr>
          <p:cNvSpPr txBox="1"/>
          <p:nvPr/>
        </p:nvSpPr>
        <p:spPr>
          <a:xfrm>
            <a:off x="4572000" y="1943100"/>
            <a:ext cx="590550" cy="1714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8FA3C8"/>
                </a:solidFill>
                <a:latin typeface="Helvetica Neue"/>
                <a:ea typeface="Helvetica Neue"/>
              </a:rPr>
              <a:t>step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CA0B3D5-B6B9-492D-852B-68CD0EDE2E22}"/>
              </a:ext>
            </a:extLst>
          </p:cNvPr>
          <p:cNvSpPr/>
          <p:nvPr/>
        </p:nvSpPr>
        <p:spPr>
          <a:xfrm>
            <a:off x="1619250" y="2171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15AB4E4-44FA-4EB1-BC39-5857D4884829}"/>
              </a:ext>
            </a:extLst>
          </p:cNvPr>
          <p:cNvSpPr/>
          <p:nvPr/>
        </p:nvSpPr>
        <p:spPr>
          <a:xfrm>
            <a:off x="2209800" y="2171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AA24CEF-7420-48D5-9476-2C69393DE379}"/>
              </a:ext>
            </a:extLst>
          </p:cNvPr>
          <p:cNvSpPr/>
          <p:nvPr/>
        </p:nvSpPr>
        <p:spPr>
          <a:xfrm>
            <a:off x="2800350" y="2171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7A5A35E-933B-47BD-9233-7F4678C5BBC3}"/>
              </a:ext>
            </a:extLst>
          </p:cNvPr>
          <p:cNvSpPr/>
          <p:nvPr/>
        </p:nvSpPr>
        <p:spPr>
          <a:xfrm>
            <a:off x="3390900" y="2171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1B15DC9-4B04-4458-8D7B-552740C9C5A7}"/>
              </a:ext>
            </a:extLst>
          </p:cNvPr>
          <p:cNvSpPr/>
          <p:nvPr/>
        </p:nvSpPr>
        <p:spPr>
          <a:xfrm>
            <a:off x="3981450" y="2171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332F44F-6437-4970-A35C-05EC65146B2D}"/>
              </a:ext>
            </a:extLst>
          </p:cNvPr>
          <p:cNvSpPr/>
          <p:nvPr/>
        </p:nvSpPr>
        <p:spPr>
          <a:xfrm>
            <a:off x="4572000" y="2171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0627E8-7B75-4203-9981-CC8626BA5EBA}"/>
              </a:ext>
            </a:extLst>
          </p:cNvPr>
          <p:cNvSpPr/>
          <p:nvPr/>
        </p:nvSpPr>
        <p:spPr>
          <a:xfrm>
            <a:off x="1619250" y="2552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3BFDA4C-0B71-4EA0-9A81-021266814EE0}"/>
              </a:ext>
            </a:extLst>
          </p:cNvPr>
          <p:cNvSpPr/>
          <p:nvPr/>
        </p:nvSpPr>
        <p:spPr>
          <a:xfrm>
            <a:off x="2209800" y="2552700"/>
            <a:ext cx="590550" cy="381000"/>
          </a:xfrm>
          <a:prstGeom prst="rect">
            <a:avLst/>
          </a:prstGeom>
          <a:solidFill>
            <a:srgbClr val="4C8DFF">
              <a:alpha val="41961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83B46F3-3F7B-4463-8F7B-E29BF6C001A4}"/>
              </a:ext>
            </a:extLst>
          </p:cNvPr>
          <p:cNvSpPr/>
          <p:nvPr/>
        </p:nvSpPr>
        <p:spPr>
          <a:xfrm>
            <a:off x="2800350" y="2552700"/>
            <a:ext cx="590550" cy="381000"/>
          </a:xfrm>
          <a:prstGeom prst="rect">
            <a:avLst/>
          </a:prstGeom>
          <a:solidFill>
            <a:srgbClr val="4C8DFF">
              <a:alpha val="41961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F3AC8B2-BDBD-4232-A2C3-307E76CCF89A}"/>
              </a:ext>
            </a:extLst>
          </p:cNvPr>
          <p:cNvSpPr/>
          <p:nvPr/>
        </p:nvSpPr>
        <p:spPr>
          <a:xfrm>
            <a:off x="3390900" y="2552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92A65A12-E02A-407C-A775-A9C6A3E1CD7D}"/>
              </a:ext>
            </a:extLst>
          </p:cNvPr>
          <p:cNvSpPr/>
          <p:nvPr/>
        </p:nvSpPr>
        <p:spPr>
          <a:xfrm>
            <a:off x="3981450" y="2552700"/>
            <a:ext cx="590550" cy="381000"/>
          </a:xfrm>
          <a:prstGeom prst="rect">
            <a:avLst/>
          </a:prstGeom>
          <a:solidFill>
            <a:srgbClr val="4C8DFF">
              <a:alpha val="10196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353287A-E274-490F-A85C-CFE5D5F94F84}"/>
              </a:ext>
            </a:extLst>
          </p:cNvPr>
          <p:cNvSpPr/>
          <p:nvPr/>
        </p:nvSpPr>
        <p:spPr>
          <a:xfrm>
            <a:off x="4572000" y="2552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  <a:ln w="1905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99E1D96-B65A-4800-BFC3-A8F3F3EE5B96}"/>
              </a:ext>
            </a:extLst>
          </p:cNvPr>
          <p:cNvSpPr/>
          <p:nvPr/>
        </p:nvSpPr>
        <p:spPr>
          <a:xfrm>
            <a:off x="1619250" y="2933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EE53F19-C46A-49A9-AA6C-76BCAFCF4F9F}"/>
              </a:ext>
            </a:extLst>
          </p:cNvPr>
          <p:cNvSpPr/>
          <p:nvPr/>
        </p:nvSpPr>
        <p:spPr>
          <a:xfrm>
            <a:off x="2209800" y="2933700"/>
            <a:ext cx="590550" cy="38100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FEBE352B-6FD9-4730-97CF-01AB646E7F60}"/>
              </a:ext>
            </a:extLst>
          </p:cNvPr>
          <p:cNvSpPr/>
          <p:nvPr/>
        </p:nvSpPr>
        <p:spPr>
          <a:xfrm>
            <a:off x="2800350" y="2933700"/>
            <a:ext cx="590550" cy="38100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B3D28131-FEE2-4F0B-A05E-E4592C14696A}"/>
              </a:ext>
            </a:extLst>
          </p:cNvPr>
          <p:cNvSpPr/>
          <p:nvPr/>
        </p:nvSpPr>
        <p:spPr>
          <a:xfrm>
            <a:off x="3390900" y="2933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9A9031F0-4EF6-49D4-B3C9-7FEFE350C42E}"/>
              </a:ext>
            </a:extLst>
          </p:cNvPr>
          <p:cNvSpPr/>
          <p:nvPr/>
        </p:nvSpPr>
        <p:spPr>
          <a:xfrm>
            <a:off x="3981450" y="2933700"/>
            <a:ext cx="590550" cy="381000"/>
          </a:xfrm>
          <a:prstGeom prst="rect">
            <a:avLst/>
          </a:prstGeom>
          <a:solidFill>
            <a:srgbClr val="4C8DFF">
              <a:alpha val="1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8A281BF-D973-4468-8C15-703C690A6A6C}"/>
              </a:ext>
            </a:extLst>
          </p:cNvPr>
          <p:cNvSpPr/>
          <p:nvPr/>
        </p:nvSpPr>
        <p:spPr>
          <a:xfrm>
            <a:off x="4572000" y="2933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EE35104-B940-4537-BF69-645532BE2286}"/>
              </a:ext>
            </a:extLst>
          </p:cNvPr>
          <p:cNvSpPr/>
          <p:nvPr/>
        </p:nvSpPr>
        <p:spPr>
          <a:xfrm>
            <a:off x="1619250" y="3314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A2AEAF3-A68C-4906-B8E3-0D70CD006C22}"/>
              </a:ext>
            </a:extLst>
          </p:cNvPr>
          <p:cNvSpPr/>
          <p:nvPr/>
        </p:nvSpPr>
        <p:spPr>
          <a:xfrm>
            <a:off x="2209800" y="3314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3A07376-0216-4DFD-938E-89C106E20209}"/>
              </a:ext>
            </a:extLst>
          </p:cNvPr>
          <p:cNvSpPr/>
          <p:nvPr/>
        </p:nvSpPr>
        <p:spPr>
          <a:xfrm>
            <a:off x="2800350" y="3314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45DA8E1D-74E4-4160-B80B-2B6DE32D1C1D}"/>
              </a:ext>
            </a:extLst>
          </p:cNvPr>
          <p:cNvSpPr/>
          <p:nvPr/>
        </p:nvSpPr>
        <p:spPr>
          <a:xfrm>
            <a:off x="3390900" y="3314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86AB60BC-A5E0-4218-BFCA-1B5F0E63504A}"/>
              </a:ext>
            </a:extLst>
          </p:cNvPr>
          <p:cNvSpPr/>
          <p:nvPr/>
        </p:nvSpPr>
        <p:spPr>
          <a:xfrm>
            <a:off x="3981450" y="3314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C2C0D233-7808-4648-958A-D03D34C7D728}"/>
              </a:ext>
            </a:extLst>
          </p:cNvPr>
          <p:cNvSpPr/>
          <p:nvPr/>
        </p:nvSpPr>
        <p:spPr>
          <a:xfrm>
            <a:off x="4572000" y="3314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50C5322-E2D3-4FD9-B20F-D71B4FA708A6}"/>
              </a:ext>
            </a:extLst>
          </p:cNvPr>
          <p:cNvSpPr/>
          <p:nvPr/>
        </p:nvSpPr>
        <p:spPr>
          <a:xfrm>
            <a:off x="1619250" y="3695700"/>
            <a:ext cx="590550" cy="38100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E51A447C-ADF3-4919-8AE5-492971674DA6}"/>
              </a:ext>
            </a:extLst>
          </p:cNvPr>
          <p:cNvSpPr/>
          <p:nvPr/>
        </p:nvSpPr>
        <p:spPr>
          <a:xfrm>
            <a:off x="2209800" y="3695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ACA5B010-5839-47FE-8F4B-5F0C1366B9D8}"/>
              </a:ext>
            </a:extLst>
          </p:cNvPr>
          <p:cNvSpPr/>
          <p:nvPr/>
        </p:nvSpPr>
        <p:spPr>
          <a:xfrm>
            <a:off x="2800350" y="3695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1127858C-5683-431F-AF03-DBB84A028752}"/>
              </a:ext>
            </a:extLst>
          </p:cNvPr>
          <p:cNvSpPr/>
          <p:nvPr/>
        </p:nvSpPr>
        <p:spPr>
          <a:xfrm>
            <a:off x="3390900" y="3695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4FE4BC3-6CDB-4E09-8B57-E91C9DA19E2E}"/>
              </a:ext>
            </a:extLst>
          </p:cNvPr>
          <p:cNvSpPr/>
          <p:nvPr/>
        </p:nvSpPr>
        <p:spPr>
          <a:xfrm>
            <a:off x="3981450" y="3695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B5D58CDD-8AF3-4DFA-9D91-501DAA6D9CF1}"/>
              </a:ext>
            </a:extLst>
          </p:cNvPr>
          <p:cNvSpPr/>
          <p:nvPr/>
        </p:nvSpPr>
        <p:spPr>
          <a:xfrm>
            <a:off x="4572000" y="3695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705A7476-D658-4D2E-86EA-AEEB51F9B25B}"/>
              </a:ext>
            </a:extLst>
          </p:cNvPr>
          <p:cNvSpPr/>
          <p:nvPr/>
        </p:nvSpPr>
        <p:spPr>
          <a:xfrm>
            <a:off x="1619250" y="4076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D1825682-1679-4224-8FF6-F9EF850B6090}"/>
              </a:ext>
            </a:extLst>
          </p:cNvPr>
          <p:cNvSpPr/>
          <p:nvPr/>
        </p:nvSpPr>
        <p:spPr>
          <a:xfrm>
            <a:off x="2209800" y="4076700"/>
            <a:ext cx="590550" cy="38100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2C2E085C-D5A4-4B01-876C-F8E7A9221159}"/>
              </a:ext>
            </a:extLst>
          </p:cNvPr>
          <p:cNvSpPr/>
          <p:nvPr/>
        </p:nvSpPr>
        <p:spPr>
          <a:xfrm>
            <a:off x="2800350" y="4076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F6C4CE40-9841-4A63-86F0-A1E08242C1E5}"/>
              </a:ext>
            </a:extLst>
          </p:cNvPr>
          <p:cNvSpPr/>
          <p:nvPr/>
        </p:nvSpPr>
        <p:spPr>
          <a:xfrm>
            <a:off x="3390900" y="4076700"/>
            <a:ext cx="590550" cy="38100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D9B3378D-E980-4842-AE4A-ABF2E26C87BA}"/>
              </a:ext>
            </a:extLst>
          </p:cNvPr>
          <p:cNvSpPr/>
          <p:nvPr/>
        </p:nvSpPr>
        <p:spPr>
          <a:xfrm>
            <a:off x="3981450" y="4076700"/>
            <a:ext cx="590550" cy="381000"/>
          </a:xfrm>
          <a:prstGeom prst="rect">
            <a:avLst/>
          </a:prstGeom>
          <a:solidFill>
            <a:srgbClr val="4C8DFF">
              <a:alpha val="1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2B0E6212-EAA6-4BEB-B148-679AAF7159D8}"/>
              </a:ext>
            </a:extLst>
          </p:cNvPr>
          <p:cNvSpPr/>
          <p:nvPr/>
        </p:nvSpPr>
        <p:spPr>
          <a:xfrm>
            <a:off x="4572000" y="4076700"/>
            <a:ext cx="590550" cy="38100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2DE8E0A-BDED-438B-A8B9-8568D3C762DB}"/>
              </a:ext>
            </a:extLst>
          </p:cNvPr>
          <p:cNvSpPr txBox="1"/>
          <p:nvPr/>
        </p:nvSpPr>
        <p:spPr>
          <a:xfrm>
            <a:off x="1619250" y="4648200"/>
            <a:ext cx="4476750" cy="49072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8FA3C8"/>
                </a:solidFill>
                <a:latin typeface="PingFang SC"/>
                <a:ea typeface="PingFang SC"/>
              </a:rPr>
              <a:t>每行 = 该查询词元对所有词元的注意力权重（行和均为 1.0）；绿框第 2 行即 journey 的权重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3988278E-EA02-4B28-A98C-87A8F4303746}"/>
              </a:ext>
            </a:extLst>
          </p:cNvPr>
          <p:cNvSpPr txBox="1"/>
          <p:nvPr/>
        </p:nvSpPr>
        <p:spPr>
          <a:xfrm>
            <a:off x="6667500" y="1676400"/>
            <a:ext cx="4762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1">
                <a:solidFill>
                  <a:srgbClr val="4C8DFF"/>
                </a:solidFill>
                <a:latin typeface="Menlo"/>
                <a:ea typeface="Menlo"/>
              </a:rPr>
              <a:t>attn_scores = inputs @ inputs.T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一次矩阵乘法算出全部 36 个注意力分数，替代嵌套的双重 for 循环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19672573-8D74-4D5D-A569-9B66F3A57142}"/>
              </a:ext>
            </a:extLst>
          </p:cNvPr>
          <p:cNvSpPr txBox="1"/>
          <p:nvPr/>
        </p:nvSpPr>
        <p:spPr>
          <a:xfrm>
            <a:off x="6667500" y="3009900"/>
            <a:ext cx="4762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1">
                <a:solidFill>
                  <a:srgbClr val="4C8DFF"/>
                </a:solidFill>
                <a:latin typeface="Menlo"/>
                <a:ea typeface="Menlo"/>
              </a:rPr>
              <a:t>attn_weights = torch.softmax(attn_scores, dim=-1)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沿最后一个维度归一化，每一行的权重之和为 1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82EE539A-6E1D-4D2D-806D-64AF47121AD3}"/>
              </a:ext>
            </a:extLst>
          </p:cNvPr>
          <p:cNvSpPr txBox="1"/>
          <p:nvPr/>
        </p:nvSpPr>
        <p:spPr>
          <a:xfrm>
            <a:off x="6667500" y="4343400"/>
            <a:ext cx="4762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1">
                <a:solidFill>
                  <a:srgbClr val="4C8DFF"/>
                </a:solidFill>
                <a:latin typeface="Menlo"/>
                <a:ea typeface="Menlo"/>
              </a:rPr>
              <a:t>all_context_vecs = attn_weights @ inputs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一步得到全部上下文向量；第 2 行 tensor([0.4419, 0.6515, 0.5683]) 与 3.3.1 节单点计算完全一致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96CBAF0-5562-477E-A8E7-0B30AB979B73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3.4 带可训练权重的自注意力：查询 · 键 · 值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缩放点积注意力：引入 3 个可训练权重矩阵 W_q、W_k、W_v，将嵌入输入映射为查询、键、值向量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1952C4F-F21F-48A8-AE70-0B640026E68D}"/>
              </a:ext>
            </a:extLst>
          </p:cNvPr>
          <p:cNvSpPr/>
          <p:nvPr/>
        </p:nvSpPr>
        <p:spPr>
          <a:xfrm>
            <a:off x="762000" y="1676400"/>
            <a:ext cx="3352800" cy="3238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FB0825-69C0-43A3-8675-71BE96516266}"/>
              </a:ext>
            </a:extLst>
          </p:cNvPr>
          <p:cNvSpPr txBox="1"/>
          <p:nvPr/>
        </p:nvSpPr>
        <p:spPr>
          <a:xfrm>
            <a:off x="1047750" y="1943100"/>
            <a:ext cx="27813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C8DFF"/>
                </a:solidFill>
                <a:latin typeface="Helvetica Neue"/>
                <a:ea typeface="Helvetica Neue"/>
              </a:rPr>
              <a:t>Q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0B7781-C8AF-494F-8588-CBF796B8BFB3}"/>
              </a:ext>
            </a:extLst>
          </p:cNvPr>
          <p:cNvSpPr txBox="1"/>
          <p:nvPr/>
        </p:nvSpPr>
        <p:spPr>
          <a:xfrm>
            <a:off x="1047750" y="2495550"/>
            <a:ext cx="27813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Query 查询向量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B7325CC-B5DF-45A0-9BDC-8AB98AAB6631}"/>
              </a:ext>
            </a:extLst>
          </p:cNvPr>
          <p:cNvSpPr txBox="1"/>
          <p:nvPr/>
        </p:nvSpPr>
        <p:spPr>
          <a:xfrm>
            <a:off x="1047750" y="2952750"/>
            <a:ext cx="27813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类比数据库中的搜索查询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代表模型当前关注或试图理解的项（如句子中的一个单词）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用于探测输入序列中的其他部分，确定对它们的关注程度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FD08257-6555-4C53-BC96-AEE020E0F26A}"/>
              </a:ext>
            </a:extLst>
          </p:cNvPr>
          <p:cNvSpPr/>
          <p:nvPr/>
        </p:nvSpPr>
        <p:spPr>
          <a:xfrm>
            <a:off x="4419600" y="1676400"/>
            <a:ext cx="3352800" cy="3238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2AA5FB-0579-403A-867B-3740320E5D85}"/>
              </a:ext>
            </a:extLst>
          </p:cNvPr>
          <p:cNvSpPr txBox="1"/>
          <p:nvPr/>
        </p:nvSpPr>
        <p:spPr>
          <a:xfrm>
            <a:off x="4705350" y="1943100"/>
            <a:ext cx="27813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C8DFF"/>
                </a:solidFill>
                <a:latin typeface="Helvetica Neue"/>
                <a:ea typeface="Helvetica Neue"/>
              </a:rPr>
              <a:t>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20E6DE4-1E84-41DA-B3C1-CA4A58A67105}"/>
              </a:ext>
            </a:extLst>
          </p:cNvPr>
          <p:cNvSpPr txBox="1"/>
          <p:nvPr/>
        </p:nvSpPr>
        <p:spPr>
          <a:xfrm>
            <a:off x="4705350" y="2495550"/>
            <a:ext cx="27813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Key 键向量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591E75-B8AC-4D9E-B9B5-53B95F47E4F1}"/>
              </a:ext>
            </a:extLst>
          </p:cNvPr>
          <p:cNvSpPr txBox="1"/>
          <p:nvPr/>
        </p:nvSpPr>
        <p:spPr>
          <a:xfrm>
            <a:off x="4705350" y="2952750"/>
            <a:ext cx="27813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类比数据库索引和搜索用的键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输入序列中的每个项都有一个对应的键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用于与查询进行匹配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ED5BCE5-66C0-4D18-830A-AEBFD0882F15}"/>
              </a:ext>
            </a:extLst>
          </p:cNvPr>
          <p:cNvSpPr/>
          <p:nvPr/>
        </p:nvSpPr>
        <p:spPr>
          <a:xfrm>
            <a:off x="8077200" y="1676400"/>
            <a:ext cx="3352800" cy="3238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101DE62-E3FE-462D-95F8-131DB8BBA690}"/>
              </a:ext>
            </a:extLst>
          </p:cNvPr>
          <p:cNvSpPr txBox="1"/>
          <p:nvPr/>
        </p:nvSpPr>
        <p:spPr>
          <a:xfrm>
            <a:off x="8362950" y="1943100"/>
            <a:ext cx="27813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C8DFF"/>
                </a:solidFill>
                <a:latin typeface="Helvetica Neue"/>
                <a:ea typeface="Helvetica Neue"/>
              </a:rPr>
              <a:t>V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2182A71-E5E4-4E4A-9658-1C6847C394CC}"/>
              </a:ext>
            </a:extLst>
          </p:cNvPr>
          <p:cNvSpPr txBox="1"/>
          <p:nvPr/>
        </p:nvSpPr>
        <p:spPr>
          <a:xfrm>
            <a:off x="8362950" y="2495550"/>
            <a:ext cx="27813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Value 值向量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6F3FD7F-BDF7-475B-AAE1-8D68C9E1834E}"/>
              </a:ext>
            </a:extLst>
          </p:cNvPr>
          <p:cNvSpPr txBox="1"/>
          <p:nvPr/>
        </p:nvSpPr>
        <p:spPr>
          <a:xfrm>
            <a:off x="8362950" y="2952750"/>
            <a:ext cx="27813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类比键-值对中的值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表示输入项的实际内容或表示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模型确定哪些键与查询最相关后，检索相应的值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EDEC71E-F2EF-4DE8-96FE-AE030D74F41B}"/>
              </a:ext>
            </a:extLst>
          </p:cNvPr>
          <p:cNvSpPr/>
          <p:nvPr/>
        </p:nvSpPr>
        <p:spPr>
          <a:xfrm>
            <a:off x="762000" y="5219700"/>
            <a:ext cx="3352800" cy="4953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29CD016-0EBD-421C-B784-61309ADB7CCA}"/>
              </a:ext>
            </a:extLst>
          </p:cNvPr>
          <p:cNvSpPr txBox="1"/>
          <p:nvPr/>
        </p:nvSpPr>
        <p:spPr>
          <a:xfrm>
            <a:off x="762000" y="5219700"/>
            <a:ext cx="3352800" cy="4953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D0B0"/>
                </a:solidFill>
                <a:latin typeface="Menlo"/>
                <a:ea typeface="Menlo"/>
              </a:rPr>
              <a:t>x @ W_query = q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62FB200-A818-472A-8A0B-5344B1F03C98}"/>
              </a:ext>
            </a:extLst>
          </p:cNvPr>
          <p:cNvSpPr/>
          <p:nvPr/>
        </p:nvSpPr>
        <p:spPr>
          <a:xfrm>
            <a:off x="4419600" y="5219700"/>
            <a:ext cx="3352800" cy="4953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A01AC93-740D-4AF7-95C9-A58AF39EA0CE}"/>
              </a:ext>
            </a:extLst>
          </p:cNvPr>
          <p:cNvSpPr txBox="1"/>
          <p:nvPr/>
        </p:nvSpPr>
        <p:spPr>
          <a:xfrm>
            <a:off x="4419600" y="5219700"/>
            <a:ext cx="3352800" cy="4953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D0B0"/>
                </a:solidFill>
                <a:latin typeface="Menlo"/>
                <a:ea typeface="Menlo"/>
              </a:rPr>
              <a:t>x @ W_key = k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ED28151-7FB6-48B7-A135-4D724D62D99A}"/>
              </a:ext>
            </a:extLst>
          </p:cNvPr>
          <p:cNvSpPr/>
          <p:nvPr/>
        </p:nvSpPr>
        <p:spPr>
          <a:xfrm>
            <a:off x="8077200" y="5219700"/>
            <a:ext cx="3352800" cy="4953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E9EA145-EFD8-4112-B3D1-9BA8CA99AE84}"/>
              </a:ext>
            </a:extLst>
          </p:cNvPr>
          <p:cNvSpPr txBox="1"/>
          <p:nvPr/>
        </p:nvSpPr>
        <p:spPr>
          <a:xfrm>
            <a:off x="8077200" y="5219700"/>
            <a:ext cx="3352800" cy="4953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D0B0"/>
                </a:solidFill>
                <a:latin typeface="Menlo"/>
                <a:ea typeface="Menlo"/>
              </a:rPr>
              <a:t>x @ W_value = v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3D4D031-6C27-499A-AF8F-3A6F4331439D}"/>
              </a:ext>
            </a:extLst>
          </p:cNvPr>
          <p:cNvSpPr txBox="1"/>
          <p:nvPr/>
        </p:nvSpPr>
        <p:spPr>
          <a:xfrm>
            <a:off x="762000" y="5981700"/>
            <a:ext cx="10668000" cy="2667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8FA3C8"/>
                </a:solidFill>
                <a:latin typeface="PingFang SC"/>
                <a:ea typeface="PingFang SC"/>
              </a:rPr>
              <a:t>注意区分：W 的「权重」是训练中优化的参数；「注意力权重」是动态、随上下文计算的值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57CE1A4-DA20-4E6C-BD9E-0CFB52112838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3.4 缩放点积注意力：为什么除以 √d_k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带可训练权重的自注意力 = 缩放点积注意力：在 softmax 之前将注意力分数除以键向量维度的平方根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81C3072-4844-427A-9E55-2A0CC8F0884F}"/>
              </a:ext>
            </a:extLst>
          </p:cNvPr>
          <p:cNvSpPr/>
          <p:nvPr/>
        </p:nvSpPr>
        <p:spPr>
          <a:xfrm>
            <a:off x="762000" y="1524000"/>
            <a:ext cx="10668000" cy="8382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BB55AD-B173-4340-B6A2-392A68E56167}"/>
              </a:ext>
            </a:extLst>
          </p:cNvPr>
          <p:cNvSpPr txBox="1"/>
          <p:nvPr/>
        </p:nvSpPr>
        <p:spPr>
          <a:xfrm>
            <a:off x="762000" y="1524000"/>
            <a:ext cx="10668000" cy="8382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EAF0FA"/>
                </a:solidFill>
                <a:latin typeface="Helvetica Neue"/>
                <a:ea typeface="Helvetica Neue"/>
              </a:rPr>
              <a:t>Attention(Q, K, V)  =  softmax( </a:t>
            </a:r>
            <a:r>
              <a:rPr sz="2100" b="1">
                <a:solidFill>
                  <a:srgbClr val="4C8DFF"/>
                </a:solidFill>
                <a:latin typeface="Helvetica Neue"/>
                <a:ea typeface="Helvetica Neue"/>
              </a:rPr>
              <a:t>QKᵀ / √d_k</a:t>
            </a:r>
            <a:r>
              <a:rPr sz="2100" b="1">
                <a:solidFill>
                  <a:srgbClr val="EAF0FA"/>
                </a:solidFill>
                <a:latin typeface="Helvetica Neue"/>
                <a:ea typeface="Helvetica Neue"/>
              </a:rPr>
              <a:t> )  V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65682E9-1C1E-4C9F-BB1D-743EB80B7128}"/>
              </a:ext>
            </a:extLst>
          </p:cNvPr>
          <p:cNvSpPr/>
          <p:nvPr/>
        </p:nvSpPr>
        <p:spPr>
          <a:xfrm>
            <a:off x="762000" y="2647950"/>
            <a:ext cx="4572000" cy="3429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A02A63-BE41-4D47-9C7B-253410998078}"/>
              </a:ext>
            </a:extLst>
          </p:cNvPr>
          <p:cNvSpPr txBox="1"/>
          <p:nvPr/>
        </p:nvSpPr>
        <p:spPr>
          <a:xfrm>
            <a:off x="1047750" y="2914650"/>
            <a:ext cx="4000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0FA"/>
                </a:solidFill>
                <a:latin typeface="PingFang SC"/>
                <a:ea typeface="PingFang SC"/>
              </a:rPr>
              <a:t>为什么缩放？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FA0144B-7C83-4757-910B-5FA1ED191EED}"/>
              </a:ext>
            </a:extLst>
          </p:cNvPr>
          <p:cNvSpPr txBox="1"/>
          <p:nvPr/>
        </p:nvSpPr>
        <p:spPr>
          <a:xfrm>
            <a:off x="1047750" y="3352800"/>
            <a:ext cx="40005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类 GPT 模型的嵌入维度通常大于 1000，点积可能非常大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点积增大时，softmax 的表现更接近阶跃函数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反向传播时梯度趋近 0，学习显著减慢甚至停滞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除以键向量维度的平方根 √d_k，可避免梯度过小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23AE7A8-DD48-4097-8B13-FC5B622F06A0}"/>
              </a:ext>
            </a:extLst>
          </p:cNvPr>
          <p:cNvSpPr txBox="1"/>
          <p:nvPr/>
        </p:nvSpPr>
        <p:spPr>
          <a:xfrm>
            <a:off x="1047750" y="5448300"/>
            <a:ext cx="4000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37D0B0"/>
                </a:solidFill>
                <a:latin typeface="PingFang SC"/>
                <a:ea typeface="PingFang SC"/>
              </a:rPr>
              <a:t>这就是「缩放点积注意力」名称的由来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4734F2A-D989-4E9E-A779-39672D599DF9}"/>
              </a:ext>
            </a:extLst>
          </p:cNvPr>
          <p:cNvSpPr/>
          <p:nvPr/>
        </p:nvSpPr>
        <p:spPr>
          <a:xfrm>
            <a:off x="5715000" y="2647950"/>
            <a:ext cx="5715000" cy="34290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F1867F2-4E01-4234-BC39-183E43A5C346}"/>
              </a:ext>
            </a:extLst>
          </p:cNvPr>
          <p:cNvSpPr txBox="1"/>
          <p:nvPr/>
        </p:nvSpPr>
        <p:spPr>
          <a:xfrm>
            <a:off x="5981700" y="2819400"/>
            <a:ext cx="52578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class SelfAttention_v1(nn.Module):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def __init__(self, d_in, d_out):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super().__init__()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self.W_query = nn.Parameter(torch.rand(d_in, d_out))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self.W_key   = nn.Parameter(torch.rand(d_in, d_out))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self.W_value = nn.Parameter(torch.rand(d_in, d_out))</a:t>
            </a:r>
            <a:br/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def forward(self, x):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keys = x @ self.W_key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queries = x @ self.W_query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values = x @ self.W_value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attn_scores = queries @ keys.T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attn_weights = torch.softmax(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    attn_scores / keys.shape[-1]**0.5, dim=-1)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context_vec = attn_weights @ values</a:t>
            </a:r>
            <a:br/>
            <a:r>
              <a:rPr sz="1050">
                <a:solidFill>
                  <a:srgbClr val="C6D2E8"/>
                </a:solidFill>
                <a:latin typeface="Menlo"/>
                <a:ea typeface="Menlo"/>
              </a:rPr>
              <a:t>        return context_vec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2502AE-D036-4D8F-8E09-A4ECE07D740D}"/>
              </a:ext>
            </a:extLst>
          </p:cNvPr>
          <p:cNvSpPr txBox="1"/>
          <p:nvPr/>
        </p:nvSpPr>
        <p:spPr>
          <a:xfrm>
            <a:off x="762000" y="6286500"/>
            <a:ext cx="10668000" cy="2667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v2 实现：把 nn.Parameter(torch.rand(...)) 换成 nn.Linear(d_in, d_out, bias=qkv_bias)，提供优化的权重初始化，训练更稳定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770AF5E-0F4F-4A94-B56B-8E39F998D7E6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3.5 因果注意力：隐藏未来词元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因果注意力（掩码注意力）：处理任何给定词元时，只能基于序列中先前和当前的输入计算注意力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0184AAF-43B8-482B-8CAC-C73E4752EB32}"/>
              </a:ext>
            </a:extLst>
          </p:cNvPr>
          <p:cNvSpPr/>
          <p:nvPr/>
        </p:nvSpPr>
        <p:spPr>
          <a:xfrm>
            <a:off x="762000" y="1600200"/>
            <a:ext cx="5334000" cy="42862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567C9B7-599A-43BF-BCED-7654D9EAA0EB}"/>
              </a:ext>
            </a:extLst>
          </p:cNvPr>
          <p:cNvSpPr txBox="1"/>
          <p:nvPr/>
        </p:nvSpPr>
        <p:spPr>
          <a:xfrm>
            <a:off x="1047750" y="1866900"/>
            <a:ext cx="4762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标准自注意力 → 因果注意力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A94191-A652-4D11-8762-0A2EEF93F51A}"/>
              </a:ext>
            </a:extLst>
          </p:cNvPr>
          <p:cNvSpPr txBox="1"/>
          <p:nvPr/>
        </p:nvSpPr>
        <p:spPr>
          <a:xfrm>
            <a:off x="1047750" y="2286000"/>
            <a:ext cx="4762500" cy="742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标准自注意力中每个词元可访问整个序列；因果注意力掩码对角线以上的权重，每行重新归一化后行和仍为 1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01F265B-C7F6-4EFD-A34D-3FC8B6ABBC7A}"/>
              </a:ext>
            </a:extLst>
          </p:cNvPr>
          <p:cNvSpPr/>
          <p:nvPr/>
        </p:nvSpPr>
        <p:spPr>
          <a:xfrm>
            <a:off x="2486025" y="33909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7105D79-1BF6-4BBD-A84B-B977B0C4B061}"/>
              </a:ext>
            </a:extLst>
          </p:cNvPr>
          <p:cNvSpPr/>
          <p:nvPr/>
        </p:nvSpPr>
        <p:spPr>
          <a:xfrm>
            <a:off x="2800350" y="33909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59D7EFB-C984-48C7-8804-42C6B863E693}"/>
              </a:ext>
            </a:extLst>
          </p:cNvPr>
          <p:cNvSpPr/>
          <p:nvPr/>
        </p:nvSpPr>
        <p:spPr>
          <a:xfrm>
            <a:off x="3114675" y="33909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0D11678-BD4E-4B9A-AA6F-A2D96214270A}"/>
              </a:ext>
            </a:extLst>
          </p:cNvPr>
          <p:cNvSpPr/>
          <p:nvPr/>
        </p:nvSpPr>
        <p:spPr>
          <a:xfrm>
            <a:off x="3429000" y="33909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3F9015D-C5DD-4D36-AE86-3A139C155E87}"/>
              </a:ext>
            </a:extLst>
          </p:cNvPr>
          <p:cNvSpPr/>
          <p:nvPr/>
        </p:nvSpPr>
        <p:spPr>
          <a:xfrm>
            <a:off x="3743325" y="33909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E3ED69E-DA74-4CEA-8A07-257F10D1A5BB}"/>
              </a:ext>
            </a:extLst>
          </p:cNvPr>
          <p:cNvSpPr/>
          <p:nvPr/>
        </p:nvSpPr>
        <p:spPr>
          <a:xfrm>
            <a:off x="4057650" y="33909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536BF7E-1F86-4A58-945F-B02194887F7F}"/>
              </a:ext>
            </a:extLst>
          </p:cNvPr>
          <p:cNvSpPr/>
          <p:nvPr/>
        </p:nvSpPr>
        <p:spPr>
          <a:xfrm>
            <a:off x="2486025" y="37052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A57A314-4A31-40CD-9B02-AE4DE8BBA036}"/>
              </a:ext>
            </a:extLst>
          </p:cNvPr>
          <p:cNvSpPr/>
          <p:nvPr/>
        </p:nvSpPr>
        <p:spPr>
          <a:xfrm>
            <a:off x="2800350" y="37052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98EC674-AB1F-4240-B1E3-43B2C8A347C6}"/>
              </a:ext>
            </a:extLst>
          </p:cNvPr>
          <p:cNvSpPr/>
          <p:nvPr/>
        </p:nvSpPr>
        <p:spPr>
          <a:xfrm>
            <a:off x="3114675" y="370522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64B955F-3349-49A7-892A-7AD283A5F4F8}"/>
              </a:ext>
            </a:extLst>
          </p:cNvPr>
          <p:cNvSpPr/>
          <p:nvPr/>
        </p:nvSpPr>
        <p:spPr>
          <a:xfrm>
            <a:off x="3429000" y="370522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4566B74-0686-4CCC-A15A-AB246BD58526}"/>
              </a:ext>
            </a:extLst>
          </p:cNvPr>
          <p:cNvSpPr/>
          <p:nvPr/>
        </p:nvSpPr>
        <p:spPr>
          <a:xfrm>
            <a:off x="3743325" y="370522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25FD78C-A0D5-4841-A48A-AE470D2C2AEB}"/>
              </a:ext>
            </a:extLst>
          </p:cNvPr>
          <p:cNvSpPr/>
          <p:nvPr/>
        </p:nvSpPr>
        <p:spPr>
          <a:xfrm>
            <a:off x="4057650" y="370522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D80C098-76E6-41C8-AF7F-471618707783}"/>
              </a:ext>
            </a:extLst>
          </p:cNvPr>
          <p:cNvSpPr/>
          <p:nvPr/>
        </p:nvSpPr>
        <p:spPr>
          <a:xfrm>
            <a:off x="2486025" y="401955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465902D-311F-4000-8F72-D45CB634185D}"/>
              </a:ext>
            </a:extLst>
          </p:cNvPr>
          <p:cNvSpPr/>
          <p:nvPr/>
        </p:nvSpPr>
        <p:spPr>
          <a:xfrm>
            <a:off x="2800350" y="401955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CEBC2A4-95F8-4631-90CA-81D5C49DA2D6}"/>
              </a:ext>
            </a:extLst>
          </p:cNvPr>
          <p:cNvSpPr/>
          <p:nvPr/>
        </p:nvSpPr>
        <p:spPr>
          <a:xfrm>
            <a:off x="3114675" y="401955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8ED25CC-0B3D-4125-B7B0-E99FE679AE72}"/>
              </a:ext>
            </a:extLst>
          </p:cNvPr>
          <p:cNvSpPr/>
          <p:nvPr/>
        </p:nvSpPr>
        <p:spPr>
          <a:xfrm>
            <a:off x="3429000" y="401955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A434D36-4275-4E70-B52C-8240300BA94C}"/>
              </a:ext>
            </a:extLst>
          </p:cNvPr>
          <p:cNvSpPr/>
          <p:nvPr/>
        </p:nvSpPr>
        <p:spPr>
          <a:xfrm>
            <a:off x="3743325" y="401955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612282E2-BB41-4150-823F-5C8E03C4B485}"/>
              </a:ext>
            </a:extLst>
          </p:cNvPr>
          <p:cNvSpPr/>
          <p:nvPr/>
        </p:nvSpPr>
        <p:spPr>
          <a:xfrm>
            <a:off x="4057650" y="401955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47A35B8-529C-45E9-B4E1-FEE73949CDE6}"/>
              </a:ext>
            </a:extLst>
          </p:cNvPr>
          <p:cNvSpPr/>
          <p:nvPr/>
        </p:nvSpPr>
        <p:spPr>
          <a:xfrm>
            <a:off x="2486025" y="433387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7FB67C1-1151-49F8-82FC-D98DA671402F}"/>
              </a:ext>
            </a:extLst>
          </p:cNvPr>
          <p:cNvSpPr/>
          <p:nvPr/>
        </p:nvSpPr>
        <p:spPr>
          <a:xfrm>
            <a:off x="2800350" y="433387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67196AF-C37A-40A6-AA09-E4AD273681A1}"/>
              </a:ext>
            </a:extLst>
          </p:cNvPr>
          <p:cNvSpPr/>
          <p:nvPr/>
        </p:nvSpPr>
        <p:spPr>
          <a:xfrm>
            <a:off x="3114675" y="433387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2A19224-07AD-40C6-A2DC-E4A88BC88A4A}"/>
              </a:ext>
            </a:extLst>
          </p:cNvPr>
          <p:cNvSpPr/>
          <p:nvPr/>
        </p:nvSpPr>
        <p:spPr>
          <a:xfrm>
            <a:off x="3429000" y="433387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B647708-666D-4F5C-8E4D-A51805B0A6DA}"/>
              </a:ext>
            </a:extLst>
          </p:cNvPr>
          <p:cNvSpPr/>
          <p:nvPr/>
        </p:nvSpPr>
        <p:spPr>
          <a:xfrm>
            <a:off x="3743325" y="433387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D1AF7F96-63C8-48D9-9AE1-C5F297E9B04A}"/>
              </a:ext>
            </a:extLst>
          </p:cNvPr>
          <p:cNvSpPr/>
          <p:nvPr/>
        </p:nvSpPr>
        <p:spPr>
          <a:xfrm>
            <a:off x="4057650" y="4333875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98C5A38-BD4B-429B-ACC5-85832C3202DB}"/>
              </a:ext>
            </a:extLst>
          </p:cNvPr>
          <p:cNvSpPr/>
          <p:nvPr/>
        </p:nvSpPr>
        <p:spPr>
          <a:xfrm>
            <a:off x="2486025" y="46482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7C657CE-9E26-4E6D-9537-CB682C8C3856}"/>
              </a:ext>
            </a:extLst>
          </p:cNvPr>
          <p:cNvSpPr/>
          <p:nvPr/>
        </p:nvSpPr>
        <p:spPr>
          <a:xfrm>
            <a:off x="2800350" y="46482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3597871-8E6E-4D43-AD32-C0CEF8CB5BA9}"/>
              </a:ext>
            </a:extLst>
          </p:cNvPr>
          <p:cNvSpPr/>
          <p:nvPr/>
        </p:nvSpPr>
        <p:spPr>
          <a:xfrm>
            <a:off x="3114675" y="46482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D66FEB6C-3A94-4236-9C03-F0562B991E00}"/>
              </a:ext>
            </a:extLst>
          </p:cNvPr>
          <p:cNvSpPr/>
          <p:nvPr/>
        </p:nvSpPr>
        <p:spPr>
          <a:xfrm>
            <a:off x="3429000" y="46482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963545B1-31F5-4E64-8050-0C4A36BEF982}"/>
              </a:ext>
            </a:extLst>
          </p:cNvPr>
          <p:cNvSpPr/>
          <p:nvPr/>
        </p:nvSpPr>
        <p:spPr>
          <a:xfrm>
            <a:off x="3743325" y="4648200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FD527BC1-6EC4-4DB7-8F5D-1B8EC3791D2B}"/>
              </a:ext>
            </a:extLst>
          </p:cNvPr>
          <p:cNvSpPr/>
          <p:nvPr/>
        </p:nvSpPr>
        <p:spPr>
          <a:xfrm>
            <a:off x="4057650" y="4648200"/>
            <a:ext cx="285750" cy="285750"/>
          </a:xfrm>
          <a:prstGeom prst="rect">
            <a:avLst/>
          </a:prstGeom>
          <a:solidFill>
            <a:srgbClr val="0F1830"/>
          </a:solidFill>
          <a:ln w="635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566CDA7-CFDB-4BD9-B5B7-CD70821BD5A4}"/>
              </a:ext>
            </a:extLst>
          </p:cNvPr>
          <p:cNvSpPr/>
          <p:nvPr/>
        </p:nvSpPr>
        <p:spPr>
          <a:xfrm>
            <a:off x="2486025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55AE13B3-90B1-4FF8-8826-8BD8863AD7A7}"/>
              </a:ext>
            </a:extLst>
          </p:cNvPr>
          <p:cNvSpPr/>
          <p:nvPr/>
        </p:nvSpPr>
        <p:spPr>
          <a:xfrm>
            <a:off x="2800350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799D3A94-0E50-4685-8734-6E5D36AC5DCF}"/>
              </a:ext>
            </a:extLst>
          </p:cNvPr>
          <p:cNvSpPr/>
          <p:nvPr/>
        </p:nvSpPr>
        <p:spPr>
          <a:xfrm>
            <a:off x="3114675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DDF52AEE-05AB-4D6D-9BA5-BCB8CDDF6B63}"/>
              </a:ext>
            </a:extLst>
          </p:cNvPr>
          <p:cNvSpPr/>
          <p:nvPr/>
        </p:nvSpPr>
        <p:spPr>
          <a:xfrm>
            <a:off x="3429000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A8997203-5512-4CD2-A4E1-4906796D7992}"/>
              </a:ext>
            </a:extLst>
          </p:cNvPr>
          <p:cNvSpPr/>
          <p:nvPr/>
        </p:nvSpPr>
        <p:spPr>
          <a:xfrm>
            <a:off x="3743325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8FEA5314-BB90-4630-B55F-A5D6353FAFA7}"/>
              </a:ext>
            </a:extLst>
          </p:cNvPr>
          <p:cNvSpPr/>
          <p:nvPr/>
        </p:nvSpPr>
        <p:spPr>
          <a:xfrm>
            <a:off x="4057650" y="4962525"/>
            <a:ext cx="285750" cy="2857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D7A04A31-F5B7-4737-A760-61F1A4F3D0FA}"/>
              </a:ext>
            </a:extLst>
          </p:cNvPr>
          <p:cNvSpPr txBox="1"/>
          <p:nvPr/>
        </p:nvSpPr>
        <p:spPr>
          <a:xfrm>
            <a:off x="1047750" y="5467350"/>
            <a:ext cx="4762500" cy="2286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4C8DFF"/>
                </a:solidFill>
                <a:latin typeface="PingFang SC"/>
                <a:ea typeface="PingFang SC"/>
              </a:rPr>
              <a:t>■ </a:t>
            </a:r>
            <a:r>
              <a:rPr sz="1200">
                <a:solidFill>
                  <a:srgbClr val="8FA3C8"/>
                </a:solidFill>
                <a:latin typeface="PingFang SC"/>
                <a:ea typeface="PingFang SC"/>
              </a:rPr>
              <a:t>可见：当前与之前的词元    </a:t>
            </a:r>
            <a:r>
              <a:rPr sz="1200">
                <a:solidFill>
                  <a:srgbClr val="3A4A70"/>
                </a:solidFill>
                <a:latin typeface="PingFang SC"/>
                <a:ea typeface="PingFang SC"/>
              </a:rPr>
              <a:t>■ </a:t>
            </a:r>
            <a:r>
              <a:rPr sz="1200">
                <a:solidFill>
                  <a:srgbClr val="8FA3C8"/>
                </a:solidFill>
                <a:latin typeface="PingFang SC"/>
                <a:ea typeface="PingFang SC"/>
              </a:rPr>
              <a:t>已掩码：未来词元</a:t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6DCE7580-C055-410E-8DA8-EF38B03BCA65}"/>
              </a:ext>
            </a:extLst>
          </p:cNvPr>
          <p:cNvSpPr/>
          <p:nvPr/>
        </p:nvSpPr>
        <p:spPr>
          <a:xfrm>
            <a:off x="6477000" y="1600200"/>
            <a:ext cx="4953000" cy="4286250"/>
          </a:xfrm>
          <a:prstGeom prst="roundRect">
            <a:avLst/>
          </a:prstGeom>
          <a:solidFill>
            <a:srgbClr val="151F38"/>
          </a:solidFill>
          <a:ln w="254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34CA9626-937D-4E79-9660-31DDA745BF0F}"/>
              </a:ext>
            </a:extLst>
          </p:cNvPr>
          <p:cNvSpPr txBox="1"/>
          <p:nvPr/>
        </p:nvSpPr>
        <p:spPr>
          <a:xfrm>
            <a:off x="6762750" y="1866900"/>
            <a:ext cx="4381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7D0B0"/>
                </a:solidFill>
                <a:latin typeface="PingFang SC"/>
                <a:ea typeface="PingFang SC"/>
              </a:rPr>
              <a:t>为什么需要因果掩码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E43E4C5-26F9-4BBE-888A-42CC9726222C}"/>
              </a:ext>
            </a:extLst>
          </p:cNvPr>
          <p:cNvSpPr txBox="1"/>
          <p:nvPr/>
        </p:nvSpPr>
        <p:spPr>
          <a:xfrm>
            <a:off x="6762750" y="2362200"/>
            <a:ext cx="43815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类 GPT 模型从左到右逐词生成文本，预测下一个词元时绝不能访问未来词元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掩码并重新归一化后，被遮蔽位置的效果被消除——等效于只在未掩码位置重新计算 softmax，不会泄露未来信息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示例：第 2 行单词「journey」仅保留当前词与之前词（Your）的注意力权重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因果注意力 + dropout 将封装为 CausalAttention 类，作为多头注意力的基础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53D0EDC-85BF-4538-96EB-9C313F744BFB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3.5 高效掩码技巧与 Dropout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利用 softmax 的数学特性减少掩码步骤，并在注意力权重上施加 dropout 减少过拟合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6B1BC2B-5054-45BF-93C1-6B3D338A0C0C}"/>
              </a:ext>
            </a:extLst>
          </p:cNvPr>
          <p:cNvSpPr/>
          <p:nvPr/>
        </p:nvSpPr>
        <p:spPr>
          <a:xfrm>
            <a:off x="762000" y="1600200"/>
            <a:ext cx="5715000" cy="20002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6B2A7-D22C-4FF5-8329-F860B7ED7247}"/>
              </a:ext>
            </a:extLst>
          </p:cNvPr>
          <p:cNvSpPr txBox="1"/>
          <p:nvPr/>
        </p:nvSpPr>
        <p:spPr>
          <a:xfrm>
            <a:off x="990600" y="17907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E54EA4-2D47-4FF4-8F0F-3799ED68671C}"/>
              </a:ext>
            </a:extLst>
          </p:cNvPr>
          <p:cNvSpPr txBox="1"/>
          <p:nvPr/>
        </p:nvSpPr>
        <p:spPr>
          <a:xfrm>
            <a:off x="1371600" y="1809750"/>
            <a:ext cx="4762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高效掩码：在 softmax 之前遮蔽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C9D3EB-A3E0-4112-BBAA-DA4916F7E079}"/>
              </a:ext>
            </a:extLst>
          </p:cNvPr>
          <p:cNvSpPr txBox="1"/>
          <p:nvPr/>
        </p:nvSpPr>
        <p:spPr>
          <a:xfrm>
            <a:off x="990600" y="2190750"/>
            <a:ext cx="52578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torch.triu(torch.ones(ctx, ctx), diagonal=1) 生成上三角掩码，masked_fill 把未来位置的分数置为 -inf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e⁻∞ 无限接近 0：softmax 一步完成遮蔽与归一化，无需先清零再手动归一化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4D0D4FB-42D2-4974-A614-A9F5FD88613D}"/>
              </a:ext>
            </a:extLst>
          </p:cNvPr>
          <p:cNvSpPr/>
          <p:nvPr/>
        </p:nvSpPr>
        <p:spPr>
          <a:xfrm>
            <a:off x="762000" y="3790950"/>
            <a:ext cx="5715000" cy="2095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E5D757E-3E3E-442C-A680-E05284533420}"/>
              </a:ext>
            </a:extLst>
          </p:cNvPr>
          <p:cNvSpPr txBox="1"/>
          <p:nvPr/>
        </p:nvSpPr>
        <p:spPr>
          <a:xfrm>
            <a:off x="990600" y="398145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4E7CB8-5A85-4DBD-89D2-827FC5CFAB68}"/>
              </a:ext>
            </a:extLst>
          </p:cNvPr>
          <p:cNvSpPr txBox="1"/>
          <p:nvPr/>
        </p:nvSpPr>
        <p:spPr>
          <a:xfrm>
            <a:off x="1371600" y="4000500"/>
            <a:ext cx="4762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Dropout：随机「丢弃」注意力权重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06F3037-CFCB-4741-8801-5FAD6909341C}"/>
              </a:ext>
            </a:extLst>
          </p:cNvPr>
          <p:cNvSpPr txBox="1"/>
          <p:nvPr/>
        </p:nvSpPr>
        <p:spPr>
          <a:xfrm>
            <a:off x="990600" y="4381500"/>
            <a:ext cx="52578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训练时以概率 p 随机将注意力权重置 0（示例 p=50%，训练 GPT 时常用 10%~20%）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存活元素按 1/p 放大（×2），维持注意力的整体平衡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仅在训练期生效，减少模型对特定单元的依赖、防止过拟合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8F4F619-8C80-42AB-B7A6-DAEBD983CE39}"/>
              </a:ext>
            </a:extLst>
          </p:cNvPr>
          <p:cNvSpPr/>
          <p:nvPr/>
        </p:nvSpPr>
        <p:spPr>
          <a:xfrm>
            <a:off x="6858000" y="1600200"/>
            <a:ext cx="4572000" cy="428625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16E507B-8866-4D09-9DA6-F92C9201888C}"/>
              </a:ext>
            </a:extLst>
          </p:cNvPr>
          <p:cNvSpPr txBox="1"/>
          <p:nvPr/>
        </p:nvSpPr>
        <p:spPr>
          <a:xfrm>
            <a:off x="7086600" y="1809750"/>
            <a:ext cx="4152900" cy="3905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class CausalAttention(nn.Module):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def __init__(self, d_in, d_out, context_length,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     dropout, qkv_bias=False):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super().__init__()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# … 3 个 nn.Linear 投影 (d_in → d_out)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self.dropout = nn.Dropout(dropout)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self.register_buffer(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"mask", torch.triu(torch.ones(context_length,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    context_length), diagonal=1))</a:t>
            </a:r>
            <a:br/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def forward(self, x):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b, num_tokens, d_in = x.shape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# … 计算 keys / queries / values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attn_scores = queries @ keys.transpose(1, 2)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attn_scores.masked_fill_(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self.mask.bool()[:num_tokens, :num_tokens],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-torch.inf)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attn_weights = torch.softmax(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    attn_scores / keys.shape[-1]**0.5, dim=-1)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attn_weights = self.dropout(attn_weights)</a:t>
            </a:r>
            <a:br/>
            <a:r>
              <a:rPr sz="1000">
                <a:solidFill>
                  <a:srgbClr val="C6D2E8"/>
                </a:solidFill>
                <a:latin typeface="Menlo"/>
                <a:ea typeface="Menlo"/>
              </a:rPr>
              <a:t>        return attn_weights @ values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5493C1-4284-456E-A2BC-8C0FD5559A07}"/>
              </a:ext>
            </a:extLst>
          </p:cNvPr>
          <p:cNvSpPr txBox="1"/>
          <p:nvPr/>
        </p:nvSpPr>
        <p:spPr>
          <a:xfrm>
            <a:off x="762000" y="6172200"/>
            <a:ext cx="1066800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8FA3C8"/>
                </a:solidFill>
                <a:latin typeface="PingFang SC"/>
                <a:ea typeface="PingFang SC"/>
              </a:rPr>
              <a:t>register_buffer：掩码随模型自动迁移到 CPU/GPU，避免设备不匹配；masked_fill_ 带下划线 = 就地操作，省去内存副本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6AC3C3A-B521-48D0-B7D0-B9B717FF8FB8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3.6 从单头到多头注意力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把头注意力拆成多个「头」并行工作：每个头学习数据的不同特征，关注不同的表示子空间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650388B-BB53-41EB-B369-76BB12333DD0}"/>
              </a:ext>
            </a:extLst>
          </p:cNvPr>
          <p:cNvSpPr/>
          <p:nvPr/>
        </p:nvSpPr>
        <p:spPr>
          <a:xfrm>
            <a:off x="762000" y="1600200"/>
            <a:ext cx="5143500" cy="4000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514D841-28E4-476F-B603-F70B144926EF}"/>
              </a:ext>
            </a:extLst>
          </p:cNvPr>
          <p:cNvSpPr txBox="1"/>
          <p:nvPr/>
        </p:nvSpPr>
        <p:spPr>
          <a:xfrm>
            <a:off x="1047750" y="1866900"/>
            <a:ext cx="3619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A"/>
                </a:solidFill>
                <a:latin typeface="PingFang SC"/>
                <a:ea typeface="PingFang SC"/>
              </a:rPr>
              <a:t>方法① 堆叠单头模块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286A65D-17B8-46C8-8E55-3E458F0C18F5}"/>
              </a:ext>
            </a:extLst>
          </p:cNvPr>
          <p:cNvSpPr/>
          <p:nvPr/>
        </p:nvSpPr>
        <p:spPr>
          <a:xfrm>
            <a:off x="4705350" y="1866900"/>
            <a:ext cx="914400" cy="285750"/>
          </a:xfrm>
          <a:prstGeom prst="roundRect">
            <a:avLst/>
          </a:prstGeom>
          <a:solidFill>
            <a:srgbClr val="4C8DFF">
              <a:alpha val="14902"/>
            </a:srgbClr>
          </a:solidFill>
          <a:ln w="12700">
            <a:solidFill>
              <a:srgbClr val="4C8D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F2C8D9-C800-4101-929C-E82993A53F61}"/>
              </a:ext>
            </a:extLst>
          </p:cNvPr>
          <p:cNvSpPr txBox="1"/>
          <p:nvPr/>
        </p:nvSpPr>
        <p:spPr>
          <a:xfrm>
            <a:off x="4705350" y="1866900"/>
            <a:ext cx="914400" cy="2857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8DFF"/>
                </a:solidFill>
                <a:latin typeface="PingFang SC"/>
                <a:ea typeface="PingFang SC"/>
              </a:rPr>
              <a:t>直观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6816DB-EEF1-40B0-85D8-1F582F2F740D}"/>
              </a:ext>
            </a:extLst>
          </p:cNvPr>
          <p:cNvSpPr txBox="1"/>
          <p:nvPr/>
        </p:nvSpPr>
        <p:spPr>
          <a:xfrm>
            <a:off x="1047750" y="2381250"/>
            <a:ext cx="4572000" cy="2952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用 nn.ModuleList 堆叠 num_heads 个 CausalAttention 实例，每个头拥有独立权重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forward 中通过 [head(x) for head in self.heads] 逐头顺序处理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torch.cat(..., dim=-1) 沿特征维拼接输出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缺点：每个头都要重复执行大矩阵乘法，计算开销大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3CA9A07-A92D-4E42-A566-9CFB2F9F4CB4}"/>
              </a:ext>
            </a:extLst>
          </p:cNvPr>
          <p:cNvSpPr/>
          <p:nvPr/>
        </p:nvSpPr>
        <p:spPr>
          <a:xfrm>
            <a:off x="6286500" y="1600200"/>
            <a:ext cx="5143500" cy="4000500"/>
          </a:xfrm>
          <a:prstGeom prst="roundRect">
            <a:avLst/>
          </a:prstGeom>
          <a:solidFill>
            <a:srgbClr val="151F38"/>
          </a:solidFill>
          <a:ln w="254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BE2143F-E26C-4175-8C12-50F80250ECAB}"/>
              </a:ext>
            </a:extLst>
          </p:cNvPr>
          <p:cNvSpPr txBox="1"/>
          <p:nvPr/>
        </p:nvSpPr>
        <p:spPr>
          <a:xfrm>
            <a:off x="6572250" y="1866900"/>
            <a:ext cx="3619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7D0B0"/>
                </a:solidFill>
                <a:latin typeface="PingFang SC"/>
                <a:ea typeface="PingFang SC"/>
              </a:rPr>
              <a:t>方法② 权重划分（最终采用）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0652682-8D4B-4A6B-83D9-6377D611558F}"/>
              </a:ext>
            </a:extLst>
          </p:cNvPr>
          <p:cNvSpPr/>
          <p:nvPr/>
        </p:nvSpPr>
        <p:spPr>
          <a:xfrm>
            <a:off x="10229850" y="1866900"/>
            <a:ext cx="914400" cy="285750"/>
          </a:xfrm>
          <a:prstGeom prst="roundRect">
            <a:avLst/>
          </a:prstGeom>
          <a:solidFill>
            <a:srgbClr val="37D0B0">
              <a:alpha val="14902"/>
            </a:srgbClr>
          </a:solidFill>
          <a:ln w="127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63D8762-B7B4-4590-849A-0DE3FC9AEEA8}"/>
              </a:ext>
            </a:extLst>
          </p:cNvPr>
          <p:cNvSpPr txBox="1"/>
          <p:nvPr/>
        </p:nvSpPr>
        <p:spPr>
          <a:xfrm>
            <a:off x="10229850" y="1866900"/>
            <a:ext cx="914400" cy="2857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7D0B0"/>
                </a:solidFill>
                <a:latin typeface="PingFang SC"/>
                <a:ea typeface="PingFang SC"/>
              </a:rPr>
              <a:t>高效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06B0A48-6479-4B86-91E0-813E5D1CE6EC}"/>
              </a:ext>
            </a:extLst>
          </p:cNvPr>
          <p:cNvSpPr txBox="1"/>
          <p:nvPr/>
        </p:nvSpPr>
        <p:spPr>
          <a:xfrm>
            <a:off x="6572250" y="2381250"/>
            <a:ext cx="4572000" cy="2952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一次矩阵乘法：keys = W_key(x)，再把 d_out 维 view 成 num_heads × head_dim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转置为 (b, num_heads, num_tokens, head_dim)，批处理矩阵乘法让所有头并行计算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合并各头上下文向量，再经 out_proj 输出投影层（GPT 等主流架构常见做法）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矩阵乘法是计算开销大户——只做一次，效率显著提升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76ACD23-6445-45EB-8E61-2A8BD7BFB536}"/>
              </a:ext>
            </a:extLst>
          </p:cNvPr>
          <p:cNvSpPr/>
          <p:nvPr/>
        </p:nvSpPr>
        <p:spPr>
          <a:xfrm>
            <a:off x="762000" y="5886450"/>
            <a:ext cx="10668000" cy="5334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9BCE95E-6797-40F7-A8E0-1502898FB9B0}"/>
              </a:ext>
            </a:extLst>
          </p:cNvPr>
          <p:cNvSpPr txBox="1"/>
          <p:nvPr/>
        </p:nvSpPr>
        <p:spPr>
          <a:xfrm>
            <a:off x="762000" y="5886450"/>
            <a:ext cx="10668000" cy="53340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8DFF"/>
                </a:solidFill>
                <a:latin typeface="PingFang SC"/>
                <a:ea typeface="PingFang SC"/>
              </a:rPr>
              <a:t>head_dim = d_out ÷ num_heads ｜ 方法① 拼接后 d_out × num_heads 维 ｜ 方法② 输出 (b, num_tokens, d_out)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A4043AB-0BD0-4D02-92F6-5D897F0D9D25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真实参照：GPT-2 注意力模块的规模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本章示例为保持可读性使用了极小维度；最小 GPT-2（参数量 1.17 亿）的真实规格如下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CBC4D59-BF5C-4878-9640-E3C084953C31}"/>
              </a:ext>
            </a:extLst>
          </p:cNvPr>
          <p:cNvSpPr/>
          <p:nvPr/>
        </p:nvSpPr>
        <p:spPr>
          <a:xfrm>
            <a:off x="762000" y="1809750"/>
            <a:ext cx="2524125" cy="2857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6A8B4E-303C-4890-97BA-9EE2F2D85F45}"/>
              </a:ext>
            </a:extLst>
          </p:cNvPr>
          <p:cNvSpPr txBox="1"/>
          <p:nvPr/>
        </p:nvSpPr>
        <p:spPr>
          <a:xfrm>
            <a:off x="952500" y="2286000"/>
            <a:ext cx="2143125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4C8DFF"/>
                </a:solidFill>
                <a:latin typeface="Helvetica Neue"/>
                <a:ea typeface="Helvetica Neue"/>
              </a:rPr>
              <a:t>1.17</a:t>
            </a:r>
            <a:r>
              <a:rPr sz="2000" b="1">
                <a:solidFill>
                  <a:srgbClr val="4C8DFF"/>
                </a:solidFill>
                <a:latin typeface="PingFang SC"/>
                <a:ea typeface="PingFang SC"/>
              </a:rPr>
              <a:t> 亿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3EBFAD0-8711-4ADE-95B4-97503019FA1A}"/>
              </a:ext>
            </a:extLst>
          </p:cNvPr>
          <p:cNvSpPr txBox="1"/>
          <p:nvPr/>
        </p:nvSpPr>
        <p:spPr>
          <a:xfrm>
            <a:off x="952500" y="3238500"/>
            <a:ext cx="21431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参数量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494ED33-9238-4728-AA82-4BBB5A1FD2F1}"/>
              </a:ext>
            </a:extLst>
          </p:cNvPr>
          <p:cNvSpPr txBox="1"/>
          <p:nvPr/>
        </p:nvSpPr>
        <p:spPr>
          <a:xfrm>
            <a:off x="952500" y="3600450"/>
            <a:ext cx="2143125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最小 GPT-2 模型的规模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6ED6763-A90D-4ED6-BDFA-8CC5A5699A0F}"/>
              </a:ext>
            </a:extLst>
          </p:cNvPr>
          <p:cNvSpPr/>
          <p:nvPr/>
        </p:nvSpPr>
        <p:spPr>
          <a:xfrm>
            <a:off x="3476625" y="1809750"/>
            <a:ext cx="2524125" cy="2857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3208466-D29B-4FF4-9B22-3EE40DFCB2E7}"/>
              </a:ext>
            </a:extLst>
          </p:cNvPr>
          <p:cNvSpPr txBox="1"/>
          <p:nvPr/>
        </p:nvSpPr>
        <p:spPr>
          <a:xfrm>
            <a:off x="3667125" y="2286000"/>
            <a:ext cx="2143125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4C8DFF"/>
                </a:solidFill>
                <a:latin typeface="Helvetica Neue"/>
                <a:ea typeface="Helvetica Neue"/>
              </a:rPr>
              <a:t>12</a:t>
            </a:r>
            <a:r>
              <a:rPr sz="2000" b="1">
                <a:solidFill>
                  <a:srgbClr val="4C8DFF"/>
                </a:solidFill>
                <a:latin typeface="PingFang SC"/>
                <a:ea typeface="PingFang SC"/>
              </a:rPr>
              <a:t> 个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1B9D68-69E3-4A77-B961-A792507209A6}"/>
              </a:ext>
            </a:extLst>
          </p:cNvPr>
          <p:cNvSpPr txBox="1"/>
          <p:nvPr/>
        </p:nvSpPr>
        <p:spPr>
          <a:xfrm>
            <a:off x="3667125" y="3238500"/>
            <a:ext cx="21431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注意力头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7B350E-79B8-47ED-B081-AFE25A1A4326}"/>
              </a:ext>
            </a:extLst>
          </p:cNvPr>
          <p:cNvSpPr txBox="1"/>
          <p:nvPr/>
        </p:nvSpPr>
        <p:spPr>
          <a:xfrm>
            <a:off x="3667125" y="3600450"/>
            <a:ext cx="2143125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多头注意力并行头数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04403A2-EEFB-42A1-AA0F-04821E207AD4}"/>
              </a:ext>
            </a:extLst>
          </p:cNvPr>
          <p:cNvSpPr/>
          <p:nvPr/>
        </p:nvSpPr>
        <p:spPr>
          <a:xfrm>
            <a:off x="6191250" y="1809750"/>
            <a:ext cx="2524125" cy="2857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1B3D61-485A-4F30-82CE-D1F60C781F92}"/>
              </a:ext>
            </a:extLst>
          </p:cNvPr>
          <p:cNvSpPr txBox="1"/>
          <p:nvPr/>
        </p:nvSpPr>
        <p:spPr>
          <a:xfrm>
            <a:off x="6381750" y="2286000"/>
            <a:ext cx="2143125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4C8DFF"/>
                </a:solidFill>
                <a:latin typeface="Helvetica Neue"/>
                <a:ea typeface="Helvetica Neue"/>
              </a:rPr>
              <a:t>768</a:t>
            </a:r>
            <a:r>
              <a:rPr sz="2000" b="1">
                <a:solidFill>
                  <a:srgbClr val="4C8DFF"/>
                </a:solidFill>
                <a:latin typeface="PingFang SC"/>
                <a:ea typeface="PingFang SC"/>
              </a:rPr>
              <a:t> 维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600719A-A25A-42E3-ADDD-57E8ED3DB191}"/>
              </a:ext>
            </a:extLst>
          </p:cNvPr>
          <p:cNvSpPr txBox="1"/>
          <p:nvPr/>
        </p:nvSpPr>
        <p:spPr>
          <a:xfrm>
            <a:off x="6381750" y="3238500"/>
            <a:ext cx="21431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嵌入维度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D50D79A-8431-4D6B-AE5D-16489A715A17}"/>
              </a:ext>
            </a:extLst>
          </p:cNvPr>
          <p:cNvSpPr txBox="1"/>
          <p:nvPr/>
        </p:nvSpPr>
        <p:spPr>
          <a:xfrm>
            <a:off x="6381750" y="3600450"/>
            <a:ext cx="2143125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上下文向量嵌入维度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41CDE9A-604D-4978-A84D-5E680AAB653F}"/>
              </a:ext>
            </a:extLst>
          </p:cNvPr>
          <p:cNvSpPr/>
          <p:nvPr/>
        </p:nvSpPr>
        <p:spPr>
          <a:xfrm>
            <a:off x="8905875" y="1809750"/>
            <a:ext cx="2524125" cy="28575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EA0ED39-6C0F-4CFA-840F-E98EECCD1B37}"/>
              </a:ext>
            </a:extLst>
          </p:cNvPr>
          <p:cNvSpPr txBox="1"/>
          <p:nvPr/>
        </p:nvSpPr>
        <p:spPr>
          <a:xfrm>
            <a:off x="9096375" y="2286000"/>
            <a:ext cx="2143125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4C8DFF"/>
                </a:solidFill>
                <a:latin typeface="Helvetica Neue"/>
                <a:ea typeface="Helvetica Neue"/>
              </a:rPr>
              <a:t>1024</a:t>
            </a:r>
            <a:r>
              <a:rPr sz="2000" b="1">
                <a:solidFill>
                  <a:srgbClr val="4C8DFF"/>
                </a:solidFill>
                <a:latin typeface="PingFang SC"/>
                <a:ea typeface="PingFang SC"/>
              </a:rPr>
              <a:t> 词元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C3CF8F2-5F3F-4139-92A1-CC2CC5C86145}"/>
              </a:ext>
            </a:extLst>
          </p:cNvPr>
          <p:cNvSpPr txBox="1"/>
          <p:nvPr/>
        </p:nvSpPr>
        <p:spPr>
          <a:xfrm>
            <a:off x="9096375" y="3238500"/>
            <a:ext cx="21431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上下文长度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8A30E88-11C5-4738-A282-45D218B426C4}"/>
              </a:ext>
            </a:extLst>
          </p:cNvPr>
          <p:cNvSpPr txBox="1"/>
          <p:nvPr/>
        </p:nvSpPr>
        <p:spPr>
          <a:xfrm>
            <a:off x="9096375" y="3600450"/>
            <a:ext cx="2143125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支持的最大词元数量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B67F7C2-0F56-4C1C-92CA-4C12DE2EA325}"/>
              </a:ext>
            </a:extLst>
          </p:cNvPr>
          <p:cNvSpPr/>
          <p:nvPr/>
        </p:nvSpPr>
        <p:spPr>
          <a:xfrm>
            <a:off x="762000" y="5143500"/>
            <a:ext cx="10668000" cy="533400"/>
          </a:xfrm>
          <a:prstGeom prst="roundRect">
            <a:avLst/>
          </a:prstGeom>
          <a:solidFill>
            <a:srgbClr val="37D0B0">
              <a:alpha val="1215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F8BA76C-C513-4C3D-8134-504ABF17FD72}"/>
              </a:ext>
            </a:extLst>
          </p:cNvPr>
          <p:cNvSpPr txBox="1"/>
          <p:nvPr/>
        </p:nvSpPr>
        <p:spPr>
          <a:xfrm>
            <a:off x="1047750" y="5143500"/>
            <a:ext cx="100965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7D0B0"/>
                </a:solidFill>
                <a:latin typeface="PingFang SC"/>
                <a:ea typeface="PingFang SC"/>
              </a:rPr>
              <a:t>对比 最大 GPT-2：</a:t>
            </a: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15 亿参数 · 25 个注意力头 · 1600 嵌入维度　｜　GPT 中输入与输出的嵌入维度相同（d_in = d_out）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EFC814D-F068-4DFC-A9E1-E8BE7FEE11A7}"/>
              </a:ext>
            </a:extLst>
          </p:cNvPr>
          <p:cNvSpPr txBox="1"/>
          <p:nvPr/>
        </p:nvSpPr>
        <p:spPr>
          <a:xfrm>
            <a:off x="762000" y="6019800"/>
            <a:ext cx="10668000" cy="2667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9FB3D9"/>
                </a:solidFill>
                <a:latin typeface="PingFang SC"/>
                <a:ea typeface="PingFang SC"/>
              </a:rPr>
              <a:t>本章实现的 MultiHeadAttention 类，将在第 4 章直接组装进完整的 GPT 模型架构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F3945DB-3663-474F-BCBC-F3FE9151E5A7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3.7 本章小结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从点积到多头注意力：一套可以直接装进 GPT 的注意力机制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C41B3E9-A10D-4921-9432-7E6539DF09D4}"/>
              </a:ext>
            </a:extLst>
          </p:cNvPr>
          <p:cNvSpPr/>
          <p:nvPr/>
        </p:nvSpPr>
        <p:spPr>
          <a:xfrm>
            <a:off x="762000" y="1676400"/>
            <a:ext cx="3429000" cy="18669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460781-CD9B-4FF9-B574-407970F6F72B}"/>
              </a:ext>
            </a:extLst>
          </p:cNvPr>
          <p:cNvSpPr txBox="1"/>
          <p:nvPr/>
        </p:nvSpPr>
        <p:spPr>
          <a:xfrm>
            <a:off x="1009650" y="19240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8DFF"/>
                </a:solidFill>
                <a:latin typeface="PingFang SC"/>
                <a:ea typeface="PingFang SC"/>
              </a:rPr>
              <a:t>1  上下文向量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EBC9E1-0267-466E-8A01-5857A760F502}"/>
              </a:ext>
            </a:extLst>
          </p:cNvPr>
          <p:cNvSpPr txBox="1"/>
          <p:nvPr/>
        </p:nvSpPr>
        <p:spPr>
          <a:xfrm>
            <a:off x="1009650" y="23241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注意力机制将输入元素转换为增强的上下文向量表示；自注意力通过按权重加权求和来计算它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72E5628-BB7E-4F97-BAA5-437AEC05BE5B}"/>
              </a:ext>
            </a:extLst>
          </p:cNvPr>
          <p:cNvSpPr/>
          <p:nvPr/>
        </p:nvSpPr>
        <p:spPr>
          <a:xfrm>
            <a:off x="4381500" y="1676400"/>
            <a:ext cx="3429000" cy="18669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089272-4F5E-4A37-B4C6-BCF9908D500E}"/>
              </a:ext>
            </a:extLst>
          </p:cNvPr>
          <p:cNvSpPr txBox="1"/>
          <p:nvPr/>
        </p:nvSpPr>
        <p:spPr>
          <a:xfrm>
            <a:off x="4629150" y="19240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8DFF"/>
                </a:solidFill>
                <a:latin typeface="PingFang SC"/>
                <a:ea typeface="PingFang SC"/>
              </a:rPr>
              <a:t>2  缩放点积注意力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F8B8CA7-DD17-4ED6-A6F3-5EA3FF7C5B71}"/>
              </a:ext>
            </a:extLst>
          </p:cNvPr>
          <p:cNvSpPr txBox="1"/>
          <p:nvPr/>
        </p:nvSpPr>
        <p:spPr>
          <a:xfrm>
            <a:off x="4629150" y="23241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引入可训练矩阵 W_q、W_k、W_v 计算查询、键、值；除以 √d_k 缩放，避免梯度过小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0E88E88-2706-436C-9AC6-DD8A5E144C2A}"/>
              </a:ext>
            </a:extLst>
          </p:cNvPr>
          <p:cNvSpPr/>
          <p:nvPr/>
        </p:nvSpPr>
        <p:spPr>
          <a:xfrm>
            <a:off x="8001000" y="1676400"/>
            <a:ext cx="3429000" cy="18669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C9B2A0-A199-4F6F-BF94-46900F95CDCF}"/>
              </a:ext>
            </a:extLst>
          </p:cNvPr>
          <p:cNvSpPr txBox="1"/>
          <p:nvPr/>
        </p:nvSpPr>
        <p:spPr>
          <a:xfrm>
            <a:off x="8248650" y="19240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8DFF"/>
                </a:solidFill>
                <a:latin typeface="PingFang SC"/>
                <a:ea typeface="PingFang SC"/>
              </a:rPr>
              <a:t>3  向量化实现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B3B492A-1979-469D-BDB1-9C549DEE98F5}"/>
              </a:ext>
            </a:extLst>
          </p:cNvPr>
          <p:cNvSpPr txBox="1"/>
          <p:nvPr/>
        </p:nvSpPr>
        <p:spPr>
          <a:xfrm>
            <a:off x="8248650" y="23241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注意力权重通过点积得出；矩阵乘法可替代嵌套的 for 循环，计算更高效、更紧凑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88067E5-817F-459C-932E-347F069DA68D}"/>
              </a:ext>
            </a:extLst>
          </p:cNvPr>
          <p:cNvSpPr/>
          <p:nvPr/>
        </p:nvSpPr>
        <p:spPr>
          <a:xfrm>
            <a:off x="762000" y="3771900"/>
            <a:ext cx="3429000" cy="18669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8CF5609-1087-4A25-AF5F-C0C4442BA96D}"/>
              </a:ext>
            </a:extLst>
          </p:cNvPr>
          <p:cNvSpPr txBox="1"/>
          <p:nvPr/>
        </p:nvSpPr>
        <p:spPr>
          <a:xfrm>
            <a:off x="1009650" y="40195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8DFF"/>
                </a:solidFill>
                <a:latin typeface="PingFang SC"/>
                <a:ea typeface="PingFang SC"/>
              </a:rPr>
              <a:t>4  因果掩码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FD098AE-E1B3-40EC-8AFC-78E7044398B3}"/>
              </a:ext>
            </a:extLst>
          </p:cNvPr>
          <p:cNvSpPr txBox="1"/>
          <p:nvPr/>
        </p:nvSpPr>
        <p:spPr>
          <a:xfrm>
            <a:off x="1009650" y="44196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从左到右生成文本的模型必须添加因果掩码，防止访问未来词元；掩码 + 重归一化无信息泄露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C09373D-71B1-436B-A2BB-FC8E70702654}"/>
              </a:ext>
            </a:extLst>
          </p:cNvPr>
          <p:cNvSpPr/>
          <p:nvPr/>
        </p:nvSpPr>
        <p:spPr>
          <a:xfrm>
            <a:off x="4381500" y="3771900"/>
            <a:ext cx="3429000" cy="18669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23B2A38-5725-4EFC-BA6A-35D89ADBE717}"/>
              </a:ext>
            </a:extLst>
          </p:cNvPr>
          <p:cNvSpPr txBox="1"/>
          <p:nvPr/>
        </p:nvSpPr>
        <p:spPr>
          <a:xfrm>
            <a:off x="4629150" y="40195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8DFF"/>
                </a:solidFill>
                <a:latin typeface="PingFang SC"/>
                <a:ea typeface="PingFang SC"/>
              </a:rPr>
              <a:t>5  Dropout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798C5A3-E00E-4776-8DC5-79720DDC698E}"/>
              </a:ext>
            </a:extLst>
          </p:cNvPr>
          <p:cNvSpPr txBox="1"/>
          <p:nvPr/>
        </p:nvSpPr>
        <p:spPr>
          <a:xfrm>
            <a:off x="4629150" y="44196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在注意力权重上施加 dropout：随机置 0 并按 1/p 缩放，减少大语言模型的过拟合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68E9E56-351B-4459-973B-08087ABEEA45}"/>
              </a:ext>
            </a:extLst>
          </p:cNvPr>
          <p:cNvSpPr/>
          <p:nvPr/>
        </p:nvSpPr>
        <p:spPr>
          <a:xfrm>
            <a:off x="8001000" y="3771900"/>
            <a:ext cx="3429000" cy="1866900"/>
          </a:xfrm>
          <a:prstGeom prst="roundRect">
            <a:avLst/>
          </a:prstGeom>
          <a:solidFill>
            <a:srgbClr val="151F38"/>
          </a:solidFill>
          <a:ln w="254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65A59B0-CA81-42ED-8C02-2F7879554C3E}"/>
              </a:ext>
            </a:extLst>
          </p:cNvPr>
          <p:cNvSpPr txBox="1"/>
          <p:nvPr/>
        </p:nvSpPr>
        <p:spPr>
          <a:xfrm>
            <a:off x="8248650" y="4019550"/>
            <a:ext cx="29337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D0B0"/>
                </a:solidFill>
                <a:latin typeface="PingFang SC"/>
                <a:ea typeface="PingFang SC"/>
              </a:rPr>
              <a:t>6  多头注意力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CB79BC-7645-4073-ABEF-7271846B2904}"/>
              </a:ext>
            </a:extLst>
          </p:cNvPr>
          <p:cNvSpPr txBox="1"/>
          <p:nvPr/>
        </p:nvSpPr>
        <p:spPr>
          <a:xfrm>
            <a:off x="8248650" y="4419600"/>
            <a:ext cx="29337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6D2E8"/>
                </a:solidFill>
                <a:latin typeface="PingFang SC"/>
                <a:ea typeface="PingFang SC"/>
              </a:rPr>
              <a:t>多个注意力头并行捕获不同特征；可堆叠单头实现，也可用批量矩阵乘法更高效地实现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123135E-C330-427C-8D2B-E2A84FA475B7}"/>
              </a:ext>
            </a:extLst>
          </p:cNvPr>
          <p:cNvSpPr txBox="1"/>
          <p:nvPr/>
        </p:nvSpPr>
        <p:spPr>
          <a:xfrm>
            <a:off x="762000" y="6019800"/>
            <a:ext cx="10668000" cy="2667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8FA3C8"/>
                </a:solidFill>
                <a:latin typeface="PingFang SC"/>
                <a:ea typeface="PingFang SC"/>
              </a:rPr>
              <a:t>掌握自注意力，就攻克了本书及大语言模型实现中最具挑战性的部分之一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86E4F5E-3319-48D4-AE31-3FA4D8E618B0}"/>
              </a:ext>
            </a:extLst>
          </p:cNvPr>
          <p:cNvSpPr txBox="1"/>
          <p:nvPr/>
        </p:nvSpPr>
        <p:spPr>
          <a:xfrm>
            <a:off x="762000" y="457200"/>
            <a:ext cx="971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000" b="1">
                <a:solidFill>
                  <a:srgbClr val="EAF0FA"/>
                </a:solidFill>
                <a:latin typeface="PingFang SC"/>
                <a:ea typeface="PingFang SC"/>
              </a:rPr>
              <a:t>课后练习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9FB3D9"/>
                </a:solidFill>
                <a:latin typeface="PingFang SC"/>
                <a:ea typeface="PingFang SC"/>
              </a:rPr>
              <a:t>动手巩固本章实现的注意力代码，为第 4 章组装 GPT 模型做好准备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0F712AE-0F99-4E30-8652-27C230018251}"/>
              </a:ext>
            </a:extLst>
          </p:cNvPr>
          <p:cNvSpPr/>
          <p:nvPr/>
        </p:nvSpPr>
        <p:spPr>
          <a:xfrm>
            <a:off x="762000" y="1676400"/>
            <a:ext cx="3352800" cy="31432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8DB4E6-7744-4442-A4D5-A1D09A603CEB}"/>
              </a:ext>
            </a:extLst>
          </p:cNvPr>
          <p:cNvSpPr txBox="1"/>
          <p:nvPr/>
        </p:nvSpPr>
        <p:spPr>
          <a:xfrm>
            <a:off x="1009650" y="19240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C8DFF"/>
                </a:solidFill>
                <a:latin typeface="PingFang SC"/>
                <a:ea typeface="PingFang SC"/>
              </a:rPr>
              <a:t>练习 3.1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237EEF-915A-4E05-8F53-E880A8742D90}"/>
              </a:ext>
            </a:extLst>
          </p:cNvPr>
          <p:cNvSpPr txBox="1"/>
          <p:nvPr/>
        </p:nvSpPr>
        <p:spPr>
          <a:xfrm>
            <a:off x="1009650" y="2286000"/>
            <a:ext cx="2857500" cy="6400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比较 SelfAttention_v1 和 SelfAttention_v2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76B9BD-4EC8-4186-9EFB-B0699F523ECC}"/>
              </a:ext>
            </a:extLst>
          </p:cNvPr>
          <p:cNvSpPr txBox="1"/>
          <p:nvPr/>
        </p:nvSpPr>
        <p:spPr>
          <a:xfrm>
            <a:off x="1009650" y="2914650"/>
            <a:ext cx="2857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两个版本的初始化方式不同导致输出不同。把 v2 实例的权重矩阵正确分配给 v1，使二者产生相同输出。提示：nn.Linear 以转置形式存储权重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35EFD4E-B3B5-4548-A65F-5455EC6F8225}"/>
              </a:ext>
            </a:extLst>
          </p:cNvPr>
          <p:cNvSpPr/>
          <p:nvPr/>
        </p:nvSpPr>
        <p:spPr>
          <a:xfrm>
            <a:off x="4419600" y="1676400"/>
            <a:ext cx="3352800" cy="31432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82D86AE-41A3-4DF3-B449-21534AC497AA}"/>
              </a:ext>
            </a:extLst>
          </p:cNvPr>
          <p:cNvSpPr txBox="1"/>
          <p:nvPr/>
        </p:nvSpPr>
        <p:spPr>
          <a:xfrm>
            <a:off x="4667250" y="19240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C8DFF"/>
                </a:solidFill>
                <a:latin typeface="PingFang SC"/>
                <a:ea typeface="PingFang SC"/>
              </a:rPr>
              <a:t>练习 3.2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F91854D-BB48-48DF-8E82-163F40506A2F}"/>
              </a:ext>
            </a:extLst>
          </p:cNvPr>
          <p:cNvSpPr txBox="1"/>
          <p:nvPr/>
        </p:nvSpPr>
        <p:spPr>
          <a:xfrm>
            <a:off x="4667250" y="2286000"/>
            <a:ext cx="2857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返回二维嵌入向量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815C62-6CDB-4AD7-A319-F9949FCE1540}"/>
              </a:ext>
            </a:extLst>
          </p:cNvPr>
          <p:cNvSpPr txBox="1"/>
          <p:nvPr/>
        </p:nvSpPr>
        <p:spPr>
          <a:xfrm>
            <a:off x="4667250" y="2914650"/>
            <a:ext cx="2857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更改 MultiHeadAttentionWrapper(..., num_heads=2) 调用的输入参数，使输出上下文向量是二维而不是四维，同时保持两个注意力头。提示：不需要修改类实现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0FFA5E9-7F19-4B76-A32A-D6487299DE73}"/>
              </a:ext>
            </a:extLst>
          </p:cNvPr>
          <p:cNvSpPr/>
          <p:nvPr/>
        </p:nvSpPr>
        <p:spPr>
          <a:xfrm>
            <a:off x="8077200" y="1676400"/>
            <a:ext cx="3352800" cy="314325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2B3A6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573E46B-9DF1-4A12-A937-16A0976DF6AC}"/>
              </a:ext>
            </a:extLst>
          </p:cNvPr>
          <p:cNvSpPr txBox="1"/>
          <p:nvPr/>
        </p:nvSpPr>
        <p:spPr>
          <a:xfrm>
            <a:off x="8324850" y="19240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C8DFF"/>
                </a:solidFill>
                <a:latin typeface="PingFang SC"/>
                <a:ea typeface="PingFang SC"/>
              </a:rPr>
              <a:t>练习 3.3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BD39369-DE08-4D1E-AA4F-14CDC1BB1607}"/>
              </a:ext>
            </a:extLst>
          </p:cNvPr>
          <p:cNvSpPr txBox="1"/>
          <p:nvPr/>
        </p:nvSpPr>
        <p:spPr>
          <a:xfrm>
            <a:off x="8324850" y="2286000"/>
            <a:ext cx="2857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EAF0FA"/>
                </a:solidFill>
                <a:latin typeface="PingFang SC"/>
                <a:ea typeface="PingFang SC"/>
              </a:rPr>
              <a:t>初始化 GPT-2 规模的注意力模块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149F478-B680-4783-AD86-66B60DD50441}"/>
              </a:ext>
            </a:extLst>
          </p:cNvPr>
          <p:cNvSpPr txBox="1"/>
          <p:nvPr/>
        </p:nvSpPr>
        <p:spPr>
          <a:xfrm>
            <a:off x="8324850" y="2914650"/>
            <a:ext cx="2857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9FB3D9"/>
                </a:solidFill>
                <a:latin typeface="PingFang SC"/>
                <a:ea typeface="PingFang SC"/>
              </a:rPr>
              <a:t>用 MultiHeadAttention 类初始化与最小 GPT-2 模型相同规格的模块：12 个注意力头、768 输入/输出嵌入维度，并支持 1024 词元的上下文长度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6AD85C0-5D56-47C3-8D8A-876AA6DE7835}"/>
              </a:ext>
            </a:extLst>
          </p:cNvPr>
          <p:cNvSpPr/>
          <p:nvPr/>
        </p:nvSpPr>
        <p:spPr>
          <a:xfrm>
            <a:off x="762000" y="5295900"/>
            <a:ext cx="10668000" cy="800100"/>
          </a:xfrm>
          <a:prstGeom prst="roundRect">
            <a:avLst/>
          </a:prstGeom>
          <a:solidFill>
            <a:srgbClr val="37D0B0">
              <a:alpha val="12157"/>
            </a:srgbClr>
          </a:solidFill>
          <a:ln w="12700">
            <a:solidFill>
              <a:srgbClr val="37D0B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0A7BFF4-2600-4939-9376-3006A8465C00}"/>
              </a:ext>
            </a:extLst>
          </p:cNvPr>
          <p:cNvSpPr txBox="1"/>
          <p:nvPr/>
        </p:nvSpPr>
        <p:spPr>
          <a:xfrm>
            <a:off x="1066800" y="5467350"/>
            <a:ext cx="2857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D0B0"/>
                </a:solidFill>
                <a:latin typeface="PingFang SC"/>
                <a:ea typeface="PingFang SC"/>
              </a:rPr>
              <a:t>第 4 章预告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486D188-F5EF-4996-80A5-E3A470E719A2}"/>
              </a:ext>
            </a:extLst>
          </p:cNvPr>
          <p:cNvSpPr txBox="1"/>
          <p:nvPr/>
        </p:nvSpPr>
        <p:spPr>
          <a:xfrm>
            <a:off x="1066800" y="5772150"/>
            <a:ext cx="100584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C6D2E8"/>
                </a:solidFill>
                <a:latin typeface="PingFang SC"/>
                <a:ea typeface="PingFang SC"/>
              </a:rPr>
              <a:t>从头实现 GPT 模型进行文本生成——把多头注意力与归一化、快捷连接、Transformer 块组装成类 GPT 架构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8CAD21C-1489-4898-978A-F9206456CCFB}"/>
              </a:ext>
            </a:extLst>
          </p:cNvPr>
          <p:cNvSpPr txBox="1"/>
          <p:nvPr/>
        </p:nvSpPr>
        <p:spPr>
          <a:xfrm>
            <a:off x="762000" y="6362700"/>
            <a:ext cx="10668000" cy="2286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54648C"/>
                </a:solidFill>
                <a:latin typeface="Helvetica Neue"/>
                <a:ea typeface="Helvetica Neue"/>
              </a:rPr>
              <a:t>BUILD A LLM FROM SCRATCH · CHAPTER 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634E195-02C7-4485-A0E2-31C54CAAA046}"/>
              </a:ext>
            </a:extLst>
          </p:cNvPr>
          <p:cNvSpPr/>
          <p:nvPr/>
        </p:nvSpPr>
        <p:spPr>
          <a:xfrm>
            <a:off x="8648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7D4E719-B993-48FB-8653-FF05A43DDF61}"/>
              </a:ext>
            </a:extLst>
          </p:cNvPr>
          <p:cNvSpPr/>
          <p:nvPr/>
        </p:nvSpPr>
        <p:spPr>
          <a:xfrm>
            <a:off x="9029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F264031-725E-4959-9544-AE2C64709B3A}"/>
              </a:ext>
            </a:extLst>
          </p:cNvPr>
          <p:cNvSpPr/>
          <p:nvPr/>
        </p:nvSpPr>
        <p:spPr>
          <a:xfrm>
            <a:off x="9410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977F514-0612-463B-86C4-5805E9D4CCCA}"/>
              </a:ext>
            </a:extLst>
          </p:cNvPr>
          <p:cNvSpPr/>
          <p:nvPr/>
        </p:nvSpPr>
        <p:spPr>
          <a:xfrm>
            <a:off x="9791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78CFE8D-DB01-45AF-B3AE-A007432FE781}"/>
              </a:ext>
            </a:extLst>
          </p:cNvPr>
          <p:cNvSpPr/>
          <p:nvPr/>
        </p:nvSpPr>
        <p:spPr>
          <a:xfrm>
            <a:off x="10172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0A31674-07BF-4C9A-9C51-DB4047523326}"/>
              </a:ext>
            </a:extLst>
          </p:cNvPr>
          <p:cNvSpPr/>
          <p:nvPr/>
        </p:nvSpPr>
        <p:spPr>
          <a:xfrm>
            <a:off x="10553700" y="952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75B834C-D97C-45C8-AC64-E7EC8AB908D1}"/>
              </a:ext>
            </a:extLst>
          </p:cNvPr>
          <p:cNvSpPr/>
          <p:nvPr/>
        </p:nvSpPr>
        <p:spPr>
          <a:xfrm>
            <a:off x="8648700" y="1333500"/>
            <a:ext cx="323850" cy="32385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3198E87-2365-4914-B5B3-48598A8DA866}"/>
              </a:ext>
            </a:extLst>
          </p:cNvPr>
          <p:cNvSpPr/>
          <p:nvPr/>
        </p:nvSpPr>
        <p:spPr>
          <a:xfrm>
            <a:off x="9029700" y="1333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96708B0-C278-4ACF-9588-75AAAEE080A5}"/>
              </a:ext>
            </a:extLst>
          </p:cNvPr>
          <p:cNvSpPr/>
          <p:nvPr/>
        </p:nvSpPr>
        <p:spPr>
          <a:xfrm>
            <a:off x="9410700" y="1333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DA52578-6DE6-4FE4-81F4-8F5F3E974E9E}"/>
              </a:ext>
            </a:extLst>
          </p:cNvPr>
          <p:cNvSpPr/>
          <p:nvPr/>
        </p:nvSpPr>
        <p:spPr>
          <a:xfrm>
            <a:off x="9791700" y="1333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8FEB896-6162-49DE-94ED-E2FAC3F21EBD}"/>
              </a:ext>
            </a:extLst>
          </p:cNvPr>
          <p:cNvSpPr/>
          <p:nvPr/>
        </p:nvSpPr>
        <p:spPr>
          <a:xfrm>
            <a:off x="10172700" y="1333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1CC9C31-4336-472A-876C-CFCEA5C7025D}"/>
              </a:ext>
            </a:extLst>
          </p:cNvPr>
          <p:cNvSpPr/>
          <p:nvPr/>
        </p:nvSpPr>
        <p:spPr>
          <a:xfrm>
            <a:off x="10553700" y="1333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439B878-C7F9-49C6-B631-09BBDCEF7FEE}"/>
              </a:ext>
            </a:extLst>
          </p:cNvPr>
          <p:cNvSpPr/>
          <p:nvPr/>
        </p:nvSpPr>
        <p:spPr>
          <a:xfrm>
            <a:off x="8648700" y="1714500"/>
            <a:ext cx="323850" cy="3238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50FA253-4659-4037-989F-19CB27DC23ED}"/>
              </a:ext>
            </a:extLst>
          </p:cNvPr>
          <p:cNvSpPr/>
          <p:nvPr/>
        </p:nvSpPr>
        <p:spPr>
          <a:xfrm>
            <a:off x="9029700" y="1714500"/>
            <a:ext cx="323850" cy="32385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0FB86F8-EF9B-446F-B3BF-64FFA0F462B2}"/>
              </a:ext>
            </a:extLst>
          </p:cNvPr>
          <p:cNvSpPr/>
          <p:nvPr/>
        </p:nvSpPr>
        <p:spPr>
          <a:xfrm>
            <a:off x="9410700" y="1714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7C65C85-E32E-4FB5-9ABF-996B05334BC3}"/>
              </a:ext>
            </a:extLst>
          </p:cNvPr>
          <p:cNvSpPr/>
          <p:nvPr/>
        </p:nvSpPr>
        <p:spPr>
          <a:xfrm>
            <a:off x="9791700" y="1714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F239AA9-ED93-4EB7-93FD-77D4B205D405}"/>
              </a:ext>
            </a:extLst>
          </p:cNvPr>
          <p:cNvSpPr/>
          <p:nvPr/>
        </p:nvSpPr>
        <p:spPr>
          <a:xfrm>
            <a:off x="10172700" y="1714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AD3AB8D-7A29-439A-A94B-434C1E5AC6D3}"/>
              </a:ext>
            </a:extLst>
          </p:cNvPr>
          <p:cNvSpPr/>
          <p:nvPr/>
        </p:nvSpPr>
        <p:spPr>
          <a:xfrm>
            <a:off x="10553700" y="1714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2D01B36-3094-406E-94EC-DB1767592A57}"/>
              </a:ext>
            </a:extLst>
          </p:cNvPr>
          <p:cNvSpPr/>
          <p:nvPr/>
        </p:nvSpPr>
        <p:spPr>
          <a:xfrm>
            <a:off x="8648700" y="2095500"/>
            <a:ext cx="323850" cy="32385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28C2EC0-F6DC-45BA-BD05-69F32ABD3DDE}"/>
              </a:ext>
            </a:extLst>
          </p:cNvPr>
          <p:cNvSpPr/>
          <p:nvPr/>
        </p:nvSpPr>
        <p:spPr>
          <a:xfrm>
            <a:off x="9029700" y="2095500"/>
            <a:ext cx="323850" cy="3238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5EAC0F2-0272-4549-BD5D-D9B96C421DBD}"/>
              </a:ext>
            </a:extLst>
          </p:cNvPr>
          <p:cNvSpPr/>
          <p:nvPr/>
        </p:nvSpPr>
        <p:spPr>
          <a:xfrm>
            <a:off x="9410700" y="2095500"/>
            <a:ext cx="323850" cy="32385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9E73205-A13F-4D22-88B6-E0B67FB11D33}"/>
              </a:ext>
            </a:extLst>
          </p:cNvPr>
          <p:cNvSpPr/>
          <p:nvPr/>
        </p:nvSpPr>
        <p:spPr>
          <a:xfrm>
            <a:off x="9791700" y="2095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746CF33-332B-4914-BE36-DC48D957D796}"/>
              </a:ext>
            </a:extLst>
          </p:cNvPr>
          <p:cNvSpPr/>
          <p:nvPr/>
        </p:nvSpPr>
        <p:spPr>
          <a:xfrm>
            <a:off x="10172700" y="2095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8D239ACE-CF65-4769-888C-B6FD49B47216}"/>
              </a:ext>
            </a:extLst>
          </p:cNvPr>
          <p:cNvSpPr/>
          <p:nvPr/>
        </p:nvSpPr>
        <p:spPr>
          <a:xfrm>
            <a:off x="10553700" y="2095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814D1686-CDB4-448A-903E-FD995859671C}"/>
              </a:ext>
            </a:extLst>
          </p:cNvPr>
          <p:cNvSpPr/>
          <p:nvPr/>
        </p:nvSpPr>
        <p:spPr>
          <a:xfrm>
            <a:off x="8648700" y="2476500"/>
            <a:ext cx="323850" cy="32385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BC7FE31-C318-4D95-A895-B70D4035715A}"/>
              </a:ext>
            </a:extLst>
          </p:cNvPr>
          <p:cNvSpPr/>
          <p:nvPr/>
        </p:nvSpPr>
        <p:spPr>
          <a:xfrm>
            <a:off x="9029700" y="2476500"/>
            <a:ext cx="323850" cy="32385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8F55E5BE-5C34-4D58-9034-BAF98874BDB4}"/>
              </a:ext>
            </a:extLst>
          </p:cNvPr>
          <p:cNvSpPr/>
          <p:nvPr/>
        </p:nvSpPr>
        <p:spPr>
          <a:xfrm>
            <a:off x="9410700" y="2476500"/>
            <a:ext cx="323850" cy="3238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00912876-E172-4E9E-BC1B-9EA635983EE0}"/>
              </a:ext>
            </a:extLst>
          </p:cNvPr>
          <p:cNvSpPr/>
          <p:nvPr/>
        </p:nvSpPr>
        <p:spPr>
          <a:xfrm>
            <a:off x="9791700" y="2476500"/>
            <a:ext cx="323850" cy="32385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E17FBF9A-E125-468B-BDE6-4CCF6FFE8372}"/>
              </a:ext>
            </a:extLst>
          </p:cNvPr>
          <p:cNvSpPr/>
          <p:nvPr/>
        </p:nvSpPr>
        <p:spPr>
          <a:xfrm>
            <a:off x="10172700" y="2476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598C936-7536-45E5-AB0F-CA4E5F7416BA}"/>
              </a:ext>
            </a:extLst>
          </p:cNvPr>
          <p:cNvSpPr/>
          <p:nvPr/>
        </p:nvSpPr>
        <p:spPr>
          <a:xfrm>
            <a:off x="10553700" y="2476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DACE50EA-5DAD-4CA4-8562-E0169AD2304D}"/>
              </a:ext>
            </a:extLst>
          </p:cNvPr>
          <p:cNvSpPr/>
          <p:nvPr/>
        </p:nvSpPr>
        <p:spPr>
          <a:xfrm>
            <a:off x="8648700" y="2857500"/>
            <a:ext cx="323850" cy="323850"/>
          </a:xfrm>
          <a:prstGeom prst="rect">
            <a:avLst/>
          </a:prstGeom>
          <a:solidFill>
            <a:srgbClr val="4C8DFF">
              <a:alpha val="1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3E85DDE8-8C82-4766-BA79-6628E463EBF0}"/>
              </a:ext>
            </a:extLst>
          </p:cNvPr>
          <p:cNvSpPr/>
          <p:nvPr/>
        </p:nvSpPr>
        <p:spPr>
          <a:xfrm>
            <a:off x="9029700" y="2857500"/>
            <a:ext cx="323850" cy="323850"/>
          </a:xfrm>
          <a:prstGeom prst="rect">
            <a:avLst/>
          </a:prstGeom>
          <a:solidFill>
            <a:srgbClr val="4C8DFF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7E992CE2-30E5-493B-A411-093B6A586F35}"/>
              </a:ext>
            </a:extLst>
          </p:cNvPr>
          <p:cNvSpPr/>
          <p:nvPr/>
        </p:nvSpPr>
        <p:spPr>
          <a:xfrm>
            <a:off x="9410700" y="2857500"/>
            <a:ext cx="323850" cy="323850"/>
          </a:xfrm>
          <a:prstGeom prst="rect">
            <a:avLst/>
          </a:prstGeom>
          <a:solidFill>
            <a:srgbClr val="4C8DFF">
              <a:alpha val="2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DE9B2B59-0BCF-4382-A59C-090541050152}"/>
              </a:ext>
            </a:extLst>
          </p:cNvPr>
          <p:cNvSpPr/>
          <p:nvPr/>
        </p:nvSpPr>
        <p:spPr>
          <a:xfrm>
            <a:off x="9791700" y="2857500"/>
            <a:ext cx="323850" cy="323850"/>
          </a:xfrm>
          <a:prstGeom prst="rect">
            <a:avLst/>
          </a:prstGeom>
          <a:solidFill>
            <a:srgbClr val="4C8DFF">
              <a:alpha val="3098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D5142C3B-D7FF-4749-B1DA-63D38A0E70F2}"/>
              </a:ext>
            </a:extLst>
          </p:cNvPr>
          <p:cNvSpPr/>
          <p:nvPr/>
        </p:nvSpPr>
        <p:spPr>
          <a:xfrm>
            <a:off x="10172700" y="2857500"/>
            <a:ext cx="323850" cy="323850"/>
          </a:xfrm>
          <a:prstGeom prst="rect">
            <a:avLst/>
          </a:prstGeom>
          <a:solidFill>
            <a:srgbClr val="4C8DFF">
              <a:alpha val="41961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A3544B5D-0385-482D-AAB5-866D607AD317}"/>
              </a:ext>
            </a:extLst>
          </p:cNvPr>
          <p:cNvSpPr/>
          <p:nvPr/>
        </p:nvSpPr>
        <p:spPr>
          <a:xfrm>
            <a:off x="10553700" y="2857500"/>
            <a:ext cx="323850" cy="323850"/>
          </a:xfrm>
          <a:prstGeom prst="rect">
            <a:avLst/>
          </a:prstGeom>
          <a:solidFill>
            <a:srgbClr val="4C8DFF">
              <a:alpha val="5098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8C447CA-6B7B-4DF5-8B60-A6D4A33D9B33}"/>
              </a:ext>
            </a:extLst>
          </p:cNvPr>
          <p:cNvSpPr txBox="1"/>
          <p:nvPr/>
        </p:nvSpPr>
        <p:spPr>
          <a:xfrm>
            <a:off x="723900" y="1047750"/>
            <a:ext cx="3810000" cy="2762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4C8DFF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7084D2DF-8A61-4ABA-B227-1475332749BC}"/>
              </a:ext>
            </a:extLst>
          </p:cNvPr>
          <p:cNvSpPr txBox="1"/>
          <p:nvPr/>
        </p:nvSpPr>
        <p:spPr>
          <a:xfrm>
            <a:off x="762000" y="3810000"/>
            <a:ext cx="6096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AF0FA"/>
                </a:solidFill>
                <a:latin typeface="PingFang SC"/>
                <a:ea typeface="PingFang SC"/>
              </a:rPr>
              <a:t>编码注意力机制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5235BAD-3AF8-425B-940C-1CD059ED3049}"/>
              </a:ext>
            </a:extLst>
          </p:cNvPr>
          <p:cNvSpPr txBox="1"/>
          <p:nvPr/>
        </p:nvSpPr>
        <p:spPr>
          <a:xfrm>
            <a:off x="762000" y="4876800"/>
            <a:ext cx="74295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9FB3D9"/>
                </a:solidFill>
                <a:latin typeface="PingFang SC"/>
                <a:ea typeface="PingFang SC"/>
              </a:rPr>
              <a:t>Coding Attention Mechanisms｜自注意力 · 缩放点积注意力 · 因果注意力 · 多头注意力</a:t>
            </a:r>
          </a:p>
        </p:txBody>
      </p:sp>
      <p:cxnSp>
        <p:nvCxnSpPr>
          <p:cNvPr id="42" name="Straight Connector 42">
            <a:extLst>
              <a:ext uri="{FF2B5EF4-FFF2-40B4-BE49-F238E27FC236}">
                <a16:creationId xmlns:a16="http://schemas.microsoft.com/office/drawing/2014/main" id="{DF06598C-EF11-45DC-9BD6-A216210D77FA}"/>
              </a:ext>
            </a:extLst>
          </p:cNvPr>
          <p:cNvCxnSpPr/>
          <p:nvPr/>
        </p:nvCxnSpPr>
        <p:spPr>
          <a:xfrm>
            <a:off x="762000" y="5791200"/>
            <a:ext cx="10668000" cy="9525"/>
          </a:xfrm>
          <a:prstGeom prst="line">
            <a:avLst/>
          </a:prstGeom>
          <a:ln w="12700" cap="flat">
            <a:solidFill>
              <a:srgbClr val="2B3A60"/>
            </a:solidFill>
          </a:ln>
        </p:spPr>
      </p:cxnSp>
      <p:sp>
        <p:nvSpPr>
          <p:cNvPr id="43" name="TextBox 43">
            <a:extLst>
              <a:ext uri="{FF2B5EF4-FFF2-40B4-BE49-F238E27FC236}">
                <a16:creationId xmlns:a16="http://schemas.microsoft.com/office/drawing/2014/main" id="{D80D9C33-616F-4872-A4ED-FBA664BB108A}"/>
              </a:ext>
            </a:extLst>
          </p:cNvPr>
          <p:cNvSpPr txBox="1"/>
          <p:nvPr/>
        </p:nvSpPr>
        <p:spPr>
          <a:xfrm>
            <a:off x="762000" y="5943600"/>
            <a:ext cx="666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8FA3C8"/>
                </a:solidFill>
                <a:latin typeface="PingFang SC"/>
                <a:ea typeface="PingFang SC"/>
              </a:rPr>
              <a:t>《从零构建大模型》(Sebastian Raschka) · 第 3 章教学课件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7883D1C-5D16-4BF4-A0BF-FDC081DDE887}"/>
              </a:ext>
            </a:extLst>
          </p:cNvPr>
          <p:cNvSpPr txBox="1"/>
          <p:nvPr/>
        </p:nvSpPr>
        <p:spPr>
          <a:xfrm>
            <a:off x="8382000" y="5943600"/>
            <a:ext cx="3048000" cy="2476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</a:pPr>
            <a:r>
              <a:rPr sz="1200">
                <a:solidFill>
                  <a:srgbClr val="54648C"/>
                </a:solidFill>
                <a:latin typeface="Helvetica Neue"/>
                <a:ea typeface="Helvetica Neue"/>
              </a:rPr>
              <a:t>BUILD A LLM FROM SCRATCH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