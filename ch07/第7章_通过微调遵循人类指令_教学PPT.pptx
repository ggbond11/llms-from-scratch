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2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666750"/>
            <a:ext cx="49530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9A9484"/>
                </a:solidFill>
                <a:latin typeface="PingFang SC" panose="020B0400000000000000" charset="-122"/>
                <a:ea typeface="PingFang SC" panose="020B0400000000000000" charset="-122"/>
              </a:rPr>
              <a:t>从零构建大模型 · 教学讲义</a:t>
            </a:r>
            <a:endParaRPr sz="1350">
              <a:solidFill>
                <a:srgbClr val="9A948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477500" y="666750"/>
            <a:ext cx="1028700" cy="2286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6F6A5E"/>
                </a:solidFill>
                <a:latin typeface="PingFang SC" panose="020B0400000000000000" charset="-122"/>
                <a:ea typeface="PingFang SC" panose="020B0400000000000000" charset="-122"/>
              </a:rPr>
              <a:t>第 7 章</a:t>
            </a:r>
            <a:endParaRPr sz="1300" b="1">
              <a:solidFill>
                <a:srgbClr val="6F6A5E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33400" y="1123950"/>
            <a:ext cx="4095750" cy="3333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60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07</a:t>
            </a:r>
            <a:endParaRPr sz="160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4476750" y="1504950"/>
            <a:ext cx="7239000" cy="2190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通过微调</a:t>
            </a:r>
            <a:endParaRPr sz="5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遵循人类指令</a:t>
            </a:r>
            <a:endParaRPr sz="58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495800" y="3771900"/>
            <a:ext cx="7048500" cy="3238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>
                <a:solidFill>
                  <a:srgbClr val="C9C2B4"/>
                </a:solidFill>
                <a:latin typeface="PingFang SC" panose="020B0400000000000000" charset="-122"/>
                <a:ea typeface="PingFang SC" panose="020B0400000000000000" charset="-122"/>
              </a:rPr>
              <a:t>第 7 章 · 监督指令微调（Supervised Fine-Tuning）</a:t>
            </a:r>
            <a:endParaRPr sz="1800">
              <a:solidFill>
                <a:srgbClr val="C9C2B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5800" y="5467350"/>
            <a:ext cx="24765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训练数据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5800" y="5676900"/>
            <a:ext cx="2667000" cy="3238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1,100 条指令对</a:t>
            </a:r>
            <a:endParaRPr sz="190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543300" y="5467350"/>
            <a:ext cx="24765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基座模型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543300" y="5676900"/>
            <a:ext cx="2857500" cy="3238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GPT-2 medium · 355M</a:t>
            </a:r>
            <a:endParaRPr sz="190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239000" y="5467350"/>
            <a:ext cx="24765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评审模型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239000" y="5676900"/>
            <a:ext cx="3619500" cy="3238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Llama 3 8B（Ollama）</a:t>
            </a:r>
            <a:endParaRPr sz="190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5800" y="6438900"/>
            <a:ext cx="8572500" cy="1714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6F6A5E"/>
                </a:solidFill>
                <a:latin typeface="Helvetica Neue" panose="02000503000000020004"/>
                <a:ea typeface="Helvetica Neue" panose="02000503000000020004"/>
              </a:rPr>
              <a:t>Sebastian Raschka · Build a Large Language Model (From Scratch)</a:t>
            </a:r>
            <a:endParaRPr sz="950">
              <a:solidFill>
                <a:srgbClr val="6F6A5E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38100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本章导览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9 个步骤，把续写模型变成指令助手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00150"/>
            <a:ext cx="91440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指令微调分三个阶段；本章按流水线顺序逐段实现。</a:t>
            </a:r>
            <a:endParaRPr sz="13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5800" y="1809750"/>
            <a:ext cx="9525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第一阶段</a:t>
            </a:r>
            <a:endParaRPr sz="125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准备数据</a:t>
            </a:r>
            <a:endParaRPr sz="12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1809750" y="1676400"/>
            <a:ext cx="1905000" cy="609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(1) </a:t>
            </a: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下载与制作数据集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3733800" y="1866900"/>
            <a:ext cx="171450" cy="228600"/>
          </a:xfrm>
          <a:prstGeom prst="rightArrow">
            <a:avLst/>
          </a:prstGeom>
          <a:solidFill>
            <a:srgbClr val="C9BFAC"/>
          </a:solidFill>
        </p:spPr>
        <p:txBody>
          <a:bodyPr wrap="square" rtlCol="0"/>
          <a:lstStyle/>
          <a:p/>
        </p:txBody>
      </p:sp>
      <p:sp>
        <p:nvSpPr>
          <p:cNvPr id="9" name="Shape 9"/>
          <p:cNvSpPr/>
          <p:nvPr/>
        </p:nvSpPr>
        <p:spPr>
          <a:xfrm>
            <a:off x="3924300" y="1676400"/>
            <a:ext cx="1905000" cy="609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(2) </a:t>
            </a: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数据集划分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5848350" y="1866900"/>
            <a:ext cx="171450" cy="228600"/>
          </a:xfrm>
          <a:prstGeom prst="rightArrow">
            <a:avLst/>
          </a:prstGeom>
          <a:solidFill>
            <a:srgbClr val="C9BFAC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6038850" y="1676400"/>
            <a:ext cx="1905000" cy="609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(3) </a:t>
            </a: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创建数据加载器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85800" y="2952750"/>
            <a:ext cx="9525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第二阶段</a:t>
            </a:r>
            <a:endParaRPr sz="125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微调模型</a:t>
            </a:r>
            <a:endParaRPr sz="12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1809750" y="2819400"/>
            <a:ext cx="1905000" cy="609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(4) </a:t>
            </a: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加载预训练模型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3733800" y="3009900"/>
            <a:ext cx="171450" cy="228600"/>
          </a:xfrm>
          <a:prstGeom prst="rightArrow">
            <a:avLst/>
          </a:prstGeom>
          <a:solidFill>
            <a:srgbClr val="C9BFAC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3924300" y="2819400"/>
            <a:ext cx="1905000" cy="609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(5) </a:t>
            </a: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指令微调模型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5848350" y="3009900"/>
            <a:ext cx="171450" cy="228600"/>
          </a:xfrm>
          <a:prstGeom prst="rightArrow">
            <a:avLst/>
          </a:prstGeom>
          <a:solidFill>
            <a:srgbClr val="C9BFAC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6038850" y="2819400"/>
            <a:ext cx="1905000" cy="609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(6) </a:t>
            </a: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检查模型损失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85800" y="4095750"/>
            <a:ext cx="952500" cy="495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第三阶段</a:t>
            </a:r>
            <a:endParaRPr sz="125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评估模型</a:t>
            </a:r>
            <a:endParaRPr sz="12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1809750" y="3962400"/>
            <a:ext cx="1905000" cy="609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(7) </a:t>
            </a: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提取模型回复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3733800" y="4152900"/>
            <a:ext cx="171450" cy="228600"/>
          </a:xfrm>
          <a:prstGeom prst="rightArrow">
            <a:avLst/>
          </a:prstGeom>
          <a:solidFill>
            <a:srgbClr val="C9BFAC"/>
          </a:solidFill>
        </p:spPr>
        <p:txBody>
          <a:bodyPr wrap="square" rtlCol="0"/>
          <a:lstStyle/>
          <a:p/>
        </p:txBody>
      </p:sp>
      <p:sp>
        <p:nvSpPr>
          <p:cNvPr id="21" name="Shape 21"/>
          <p:cNvSpPr/>
          <p:nvPr/>
        </p:nvSpPr>
        <p:spPr>
          <a:xfrm>
            <a:off x="3924300" y="3962400"/>
            <a:ext cx="1905000" cy="609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(8) </a:t>
            </a: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量化评估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5848350" y="4152900"/>
            <a:ext cx="171450" cy="228600"/>
          </a:xfrm>
          <a:prstGeom prst="rightArrow">
            <a:avLst/>
          </a:prstGeom>
          <a:solidFill>
            <a:srgbClr val="C9BFAC"/>
          </a:solidFill>
        </p:spPr>
        <p:txBody>
          <a:bodyPr wrap="square" rtlCol="0"/>
          <a:lstStyle/>
          <a:p/>
        </p:txBody>
      </p:sp>
      <p:sp>
        <p:nvSpPr>
          <p:cNvPr id="23" name="Shape 23"/>
          <p:cNvSpPr/>
          <p:nvPr/>
        </p:nvSpPr>
        <p:spPr>
          <a:xfrm>
            <a:off x="6038850" y="3962400"/>
            <a:ext cx="1905000" cy="609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(9) </a:t>
            </a: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对回复打分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8343900" y="1676400"/>
            <a:ext cx="3162300" cy="28575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8572500" y="1866900"/>
            <a:ext cx="27051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本章目标</a:t>
            </a:r>
            <a:endParaRPr sz="15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572500" y="2247900"/>
            <a:ext cx="2705100" cy="20764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理解 SFT 在 LLM 生命周期中的位置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掌握指令数据的格式化与批处理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复现一次完整的指令微调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会用 LLM-as-judge 评估回复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8343900" y="4686300"/>
            <a:ext cx="3162300" cy="10287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8572500" y="4838700"/>
            <a:ext cx="2705100" cy="776097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050" b="1">
                <a:solidFill>
                  <a:srgbClr val="F3C9B8"/>
                </a:solidFill>
                <a:latin typeface="PingFang SC" panose="020B0400000000000000" charset="-122"/>
                <a:ea typeface="PingFang SC" panose="020B0400000000000000" charset="-122"/>
              </a:rPr>
              <a:t>核心问题</a:t>
            </a:r>
            <a:endParaRPr sz="1050" b="1">
              <a:solidFill>
                <a:srgbClr val="F3C9B8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只会续写的模型，如何学会听指令？</a:t>
            </a:r>
            <a:endParaRPr sz="17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6096000"/>
            <a:ext cx="66675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阶段与步骤编号对应书中图 7-3。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38100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7.1 指令微调介绍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952500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会续写 ≠ 会听指令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57300"/>
            <a:ext cx="104775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预训练模型是文本补全器。SFT 用「指令 → 回复」样本继续训练，让模型把指令当作任务，而不是待续写的文本。</a:t>
            </a:r>
            <a:endParaRPr sz="13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790700"/>
            <a:ext cx="5219700" cy="32194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981200"/>
            <a:ext cx="45720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微调前 · 预训练模型</a:t>
            </a:r>
            <a:endParaRPr sz="120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2324100"/>
            <a:ext cx="4762500" cy="914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输入</a:t>
            </a:r>
            <a:endParaRPr sz="1000" b="1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Convert the active sentence to passive: 'The chef cooks the meal every day.'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3352800"/>
            <a:ext cx="19050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模型输出</a:t>
            </a:r>
            <a:endParaRPr sz="1000" b="1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3581400"/>
            <a:ext cx="4762500" cy="876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### Response:</a:t>
            </a:r>
            <a:endParaRPr sz="1100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The chef cooks the meal every day.</a:t>
            </a:r>
            <a:endParaRPr sz="1100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### Instruction:</a:t>
            </a:r>
            <a:endParaRPr sz="1100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Convert the active sentence to passive: 'The chef</a:t>
            </a:r>
            <a:endParaRPr sz="1100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4400" y="4572000"/>
            <a:ext cx="4762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只复制了输入，没有完成转换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5962650" y="3238500"/>
            <a:ext cx="266700" cy="304800"/>
          </a:xfrm>
          <a:prstGeom prst="rightArrow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6286500" y="1790700"/>
            <a:ext cx="5219700" cy="3219450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C9D6DC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515100" y="1981200"/>
            <a:ext cx="45720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微调后 · 指令模型</a:t>
            </a:r>
            <a:endParaRPr sz="120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15100" y="2324100"/>
            <a:ext cx="4762500" cy="914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00" b="1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输入</a:t>
            </a:r>
            <a:endParaRPr sz="1000" b="1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Convert the active sentence to passive: 'The chef cooks the meal every day.'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6515100" y="3352800"/>
            <a:ext cx="19050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模型输出</a:t>
            </a:r>
            <a:endParaRPr sz="1000" b="1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515100" y="3581400"/>
            <a:ext cx="4762500" cy="8763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2F5366"/>
                </a:solidFill>
                <a:latin typeface="Menlo" panose="020B0609030804020204"/>
                <a:ea typeface="Menlo" panose="020B0609030804020204"/>
              </a:rPr>
              <a:t>### Response:</a:t>
            </a:r>
            <a:endParaRPr sz="1100">
              <a:solidFill>
                <a:srgbClr val="2F536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2F5366"/>
                </a:solidFill>
                <a:latin typeface="Menlo" panose="020B0609030804020204"/>
                <a:ea typeface="Menlo" panose="020B0609030804020204"/>
              </a:rPr>
              <a:t>The meal is cooked every day by the chef.</a:t>
            </a:r>
            <a:endParaRPr sz="1100">
              <a:solidFill>
                <a:srgbClr val="2F536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2F5366"/>
                </a:solidFill>
                <a:latin typeface="Menlo" panose="020B0609030804020204"/>
                <a:ea typeface="Menlo" panose="020B0609030804020204"/>
              </a:rPr>
              <a:t>&lt;|endoftext|&gt;</a:t>
            </a:r>
            <a:endParaRPr sz="1100">
              <a:solidFill>
                <a:srgbClr val="2F536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15100" y="4572000"/>
            <a:ext cx="4762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正确执行被动语态转换，并主动停止</a:t>
            </a:r>
            <a:endParaRPr sz="120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685800" y="5257800"/>
            <a:ext cx="10820400" cy="7239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952500" y="5429250"/>
            <a:ext cx="8572500" cy="4000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SFT 的目标不是注入知识，而是塑造行为：看到指令，就按模板给出回复。</a:t>
            </a:r>
            <a:endParaRPr sz="15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525000" y="5543550"/>
            <a:ext cx="1714500" cy="20955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3C9B8"/>
                </a:solidFill>
                <a:latin typeface="Helvetica Neue" panose="02000503000000020004"/>
                <a:ea typeface="Helvetica Neue" panose="02000503000000020004"/>
              </a:rPr>
              <a:t>Supervised Fine-Tuning</a:t>
            </a:r>
            <a:endParaRPr sz="1000">
              <a:solidFill>
                <a:srgbClr val="F3C9B8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7.2 为有监督指令微调准备数据集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1100 条样本，204 KB 的「指令课」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Shape 5"/>
          <p:cNvSpPr/>
          <p:nvPr/>
        </p:nvSpPr>
        <p:spPr>
          <a:xfrm>
            <a:off x="685800" y="1390650"/>
            <a:ext cx="3048000" cy="990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914400" y="1524000"/>
            <a:ext cx="2590800" cy="647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1100</a:t>
            </a:r>
            <a:endParaRPr sz="3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14400" y="2171700"/>
            <a:ext cx="25908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条指令-回复样本</a:t>
            </a:r>
            <a:endParaRPr sz="11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3962400" y="1390650"/>
            <a:ext cx="3048000" cy="990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4191000" y="1524000"/>
            <a:ext cx="2590800" cy="647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2F5366"/>
                </a:solidFill>
                <a:latin typeface="Helvetica Neue" panose="02000503000000020004"/>
                <a:ea typeface="Helvetica Neue" panose="02000503000000020004"/>
              </a:rPr>
              <a:t>204 KB</a:t>
            </a:r>
            <a:endParaRPr sz="3600" b="1">
              <a:solidFill>
                <a:srgbClr val="2F536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191000" y="2171700"/>
            <a:ext cx="25908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JSON 文件大小</a:t>
            </a:r>
            <a:endParaRPr sz="11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7239000" y="1390650"/>
            <a:ext cx="4267200" cy="9906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7467600" y="1524000"/>
            <a:ext cx="3810000" cy="647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3</a:t>
            </a:r>
            <a:r>
              <a:rPr sz="17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 个字段</a:t>
            </a:r>
            <a:endParaRPr sz="17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467600" y="2171700"/>
            <a:ext cx="38100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5C564A"/>
                </a:solidFill>
                <a:latin typeface="Menlo" panose="020B0609030804020204"/>
                <a:ea typeface="Menlo" panose="020B0609030804020204"/>
              </a:rPr>
              <a:t>instruction / input / output</a:t>
            </a:r>
            <a:endParaRPr sz="1100">
              <a:solidFill>
                <a:srgbClr val="5C564A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85800" y="2628900"/>
            <a:ext cx="6286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data[50] · 一条完整样本</a:t>
            </a:r>
            <a:endParaRPr sz="11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85800" y="2895600"/>
            <a:ext cx="6286500" cy="18669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14400" y="3086100"/>
            <a:ext cx="5829300" cy="14859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{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"instruction": "Identify the correct spelling of the following word.",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"input": "Ocassion",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"output": "The correct spelling is 'Occasion.'"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85800" y="4933950"/>
            <a:ext cx="6286500" cy="571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JSON 结构类似 Python 字典：每个样本是一条独立的「指令–输入–回复」三元组。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7277100" y="2667000"/>
            <a:ext cx="4229100" cy="7239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7467600" y="2781300"/>
            <a:ext cx="38481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instruction</a:t>
            </a:r>
            <a:endParaRPr sz="110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467600" y="3009900"/>
            <a:ext cx="38481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任务说明：要模型完成什么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7277100" y="3505200"/>
            <a:ext cx="4229100" cy="7239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7467600" y="3619500"/>
            <a:ext cx="38481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input</a:t>
            </a:r>
            <a:endParaRPr sz="110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467600" y="3848100"/>
            <a:ext cx="38481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可选上下文：可以是空字符串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7277100" y="4343400"/>
            <a:ext cx="4229100" cy="7239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7467600" y="4457700"/>
            <a:ext cx="38481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output</a:t>
            </a:r>
            <a:endParaRPr sz="110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7467600" y="4686300"/>
            <a:ext cx="38481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期望回复：训练时作为目标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7277100" y="5219700"/>
            <a:ext cx="4229100" cy="781050"/>
          </a:xfrm>
          <a:prstGeom prst="round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7467600" y="5334000"/>
            <a:ext cx="3848100" cy="5524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>
                <a:solidFill>
                  <a:srgbClr val="BFD6DF"/>
                </a:solidFill>
                <a:latin typeface="PingFang SC" panose="020B0400000000000000" charset="-122"/>
                <a:ea typeface="PingFang SC" panose="020B0400000000000000" charset="-122"/>
              </a:rPr>
              <a:t>注意</a:t>
            </a:r>
            <a:endParaRPr sz="1050" b="1">
              <a:solidFill>
                <a:srgbClr val="BFD6D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input 为空时，模板会省略 ### Input 小节。</a:t>
            </a:r>
            <a:endParaRPr sz="120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04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7.2 提示词风格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同一组数据，两种「对话格式」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57300"/>
            <a:ext cx="52197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Alpaca 风格（本书采用）</a:t>
            </a:r>
            <a:endParaRPr sz="13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524000"/>
            <a:ext cx="5219700" cy="34290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714500"/>
            <a:ext cx="4762500" cy="3048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Below is an instruction that describes a task. </a:t>
            </a:r>
            <a:endParaRPr sz="11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Write a response that appropriately completes the request.</a:t>
            </a:r>
            <a:endParaRPr sz="11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### Instruction:</a:t>
            </a:r>
            <a:endParaRPr sz="1100" b="1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Identify the correct spelling of the following word.</a:t>
            </a:r>
            <a:endParaRPr sz="11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### Input:</a:t>
            </a:r>
            <a:endParaRPr sz="1100" b="1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11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Ocassion</a:t>
            </a:r>
            <a:endParaRPr sz="11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5000"/>
              </a:lnSpc>
              <a:spcAft>
                <a:spcPts val="200"/>
              </a:spcAft>
            </a:pPr>
            <a:r>
              <a:rPr sz="1100" b="1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### Response:</a:t>
            </a:r>
            <a:endParaRPr sz="1100" b="1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The correct spelling is 'Occasion.'</a:t>
            </a:r>
            <a:endParaRPr sz="11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5800" y="5105400"/>
            <a:ext cx="52197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用 ### 小节显式划分指令、输入与回复；结构化、易解析，便于批量构造。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286500" y="1257300"/>
            <a:ext cx="52197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Phi-3 风格（更简洁）</a:t>
            </a:r>
            <a:endParaRPr sz="130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286500" y="1524000"/>
            <a:ext cx="5219700" cy="34290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515100" y="1714500"/>
            <a:ext cx="4762500" cy="3048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1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&lt;|user|&gt;</a:t>
            </a:r>
            <a:endParaRPr sz="1150" b="1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Identify the correct spelling of the following word.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Ocassion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 b="1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&lt;|assistant|&gt;</a:t>
            </a:r>
            <a:endParaRPr sz="1150" b="1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The correct spelling is 'Occasion.'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286500" y="5105400"/>
            <a:ext cx="5219700" cy="4572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用特殊词元标记对话角色，更贴近聊天格式，但依赖分词器支持。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85800" y="5734050"/>
            <a:ext cx="10820400" cy="45720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914400" y="5857875"/>
            <a:ext cx="103632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练习 7.1  换用 Phi-3 风格重跑微调，比较回复质量是否变化。训练与推理必须使用同一模板。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05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7.2 格式化与划分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format_input 与 85/5/10 划分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57300"/>
            <a:ext cx="5905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代码清单 7-2 · format_input</a:t>
            </a:r>
            <a:endParaRPr sz="11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504950"/>
            <a:ext cx="5905500" cy="32385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676400"/>
            <a:ext cx="5486400" cy="2914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def format_input(entry):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instruction_text = (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f"Below is an instruction that describes a task. "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f"Write a response that appropriately completes the request."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f"\n\n### Instruction:\n{entry['instruction']}"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)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input_text = (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f"\n\n### Input:\n{entry['input']}" if entry["input"] else ""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)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return instruction_text + input_text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5800" y="5010150"/>
            <a:ext cx="59055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85% / 5% / 10% 的划分与前几章一致：训练集学参数，验证集看泛化，测试集只在最后使用一次。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896100" y="1504950"/>
            <a:ext cx="4610100" cy="1905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086600" y="1619250"/>
            <a:ext cx="42291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data[50] → 含 Input 小节</a:t>
            </a:r>
            <a:endParaRPr sz="110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086600" y="1847850"/>
            <a:ext cx="4229100" cy="14478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Below is an instruction that describes a task. Write a response that appropriately completes the request.</a:t>
            </a:r>
            <a:endParaRPr sz="8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### Instruction:</a:t>
            </a:r>
            <a:endParaRPr sz="85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Identify the correct spelling of the following word.</a:t>
            </a:r>
            <a:endParaRPr sz="8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### Input:</a:t>
            </a:r>
            <a:endParaRPr sz="85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Ocassion</a:t>
            </a:r>
            <a:endParaRPr sz="8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896100" y="3524250"/>
            <a:ext cx="4610100" cy="16192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7086600" y="3638550"/>
            <a:ext cx="42291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data[999] → 无 Input 小节</a:t>
            </a:r>
            <a:endParaRPr sz="110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086600" y="3867150"/>
            <a:ext cx="4229100" cy="11811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Below is an instruction that describes a task. Write a response that appropriately completes the request.</a:t>
            </a:r>
            <a:endParaRPr sz="8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### Instruction:</a:t>
            </a:r>
            <a:endParaRPr sz="85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What is an antonym of 'complicated'?</a:t>
            </a:r>
            <a:endParaRPr sz="8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### Response:</a:t>
            </a:r>
            <a:endParaRPr sz="85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8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An antonym of 'complicated' is 'simple'.</a:t>
            </a:r>
            <a:endParaRPr sz="8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896100" y="5295900"/>
            <a:ext cx="46101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数据划分（1100 条）</a:t>
            </a:r>
            <a:endParaRPr sz="11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896100" y="5562600"/>
            <a:ext cx="3914775" cy="171450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10810875" y="5562600"/>
            <a:ext cx="228600" cy="171450"/>
          </a:xfrm>
          <a:prstGeom prst="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18" name="Shape 18"/>
          <p:cNvSpPr/>
          <p:nvPr/>
        </p:nvSpPr>
        <p:spPr>
          <a:xfrm>
            <a:off x="11039475" y="5562600"/>
            <a:ext cx="466725" cy="171450"/>
          </a:xfrm>
          <a:prstGeom prst="rect">
            <a:avLst/>
          </a:prstGeom>
          <a:solidFill>
            <a:srgbClr val="B9AE99"/>
          </a:solidFill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896100" y="5810250"/>
            <a:ext cx="46101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85% 训练（935） · 5% 验证（55） · 10% 测试（110）</a:t>
            </a:r>
            <a:endParaRPr sz="110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06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7.3 将数据组织成训练批次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一个训练批次，要过五道工序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38250"/>
            <a:ext cx="10477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在 PyTorch 的 collate_fn 中完成：每一步都是对序列的一次变换。</a:t>
            </a:r>
            <a:endParaRPr sz="13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38300"/>
            <a:ext cx="590550" cy="3810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85800" y="1752600"/>
            <a:ext cx="590550" cy="1714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</a:rPr>
              <a:t>(2.1)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428750" y="1600200"/>
            <a:ext cx="4953000" cy="24384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应用提示词模板</a:t>
            </a:r>
            <a:endParaRPr sz="16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28750" y="1866900"/>
            <a:ext cx="49530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指令、输入、回复拼成 Alpaca 模板，得到一段完整文本。</a:t>
            </a:r>
            <a:endParaRPr sz="120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667500" y="1581150"/>
            <a:ext cx="4838700" cy="62865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6819900" y="1657350"/>
            <a:ext cx="4572000" cy="5143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### Instruction:</a:t>
            </a:r>
            <a:endParaRPr sz="950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### Input:</a:t>
            </a:r>
            <a:endParaRPr sz="950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### Response:</a:t>
            </a:r>
            <a:endParaRPr sz="950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685800" y="2438400"/>
            <a:ext cx="590550" cy="3810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685800" y="2552700"/>
            <a:ext cx="590550" cy="1714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</a:rPr>
              <a:t>(2.2)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28750" y="2400300"/>
            <a:ext cx="4953000" cy="24384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词元化</a:t>
            </a:r>
            <a:endParaRPr sz="16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428750" y="2667000"/>
            <a:ext cx="49530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用 GPT-2 分词器编码，得到词元 ID 序列。</a:t>
            </a:r>
            <a:endParaRPr sz="120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667500" y="2381250"/>
            <a:ext cx="4838700" cy="62865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819900" y="2457450"/>
            <a:ext cx="4572000" cy="5143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[21106, 318, 281, 12064, 326,</a:t>
            </a:r>
            <a:endParaRPr sz="9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8477, 257, 4876, 13, ...]</a:t>
            </a:r>
            <a:endParaRPr sz="9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85800" y="3238500"/>
            <a:ext cx="590550" cy="3810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85800" y="3352800"/>
            <a:ext cx="590550" cy="1714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</a:rPr>
              <a:t>(2.3)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428750" y="3200400"/>
            <a:ext cx="4953000" cy="24384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填充到批次等长</a:t>
            </a:r>
            <a:endParaRPr sz="16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428750" y="3467100"/>
            <a:ext cx="49530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补一个结束符，再用 50256 补齐到批次内最长。</a:t>
            </a:r>
            <a:endParaRPr sz="120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6667500" y="3181350"/>
            <a:ext cx="4838700" cy="62865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6819900" y="3257550"/>
            <a:ext cx="4572000" cy="5143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[..., 4876, 13,</a:t>
            </a:r>
            <a:endParaRPr sz="9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 50256, 50256, 50256]</a:t>
            </a:r>
            <a:endParaRPr sz="950" b="1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685800" y="4038600"/>
            <a:ext cx="590550" cy="3810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685800" y="4152900"/>
            <a:ext cx="590550" cy="1714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</a:rPr>
              <a:t>(2.4)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428750" y="4000500"/>
            <a:ext cx="4953000" cy="24384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构造目标词元 ID</a:t>
            </a:r>
            <a:endParaRPr sz="16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428750" y="4267200"/>
            <a:ext cx="49530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输入右移一位得到目标，末尾补结束符。</a:t>
            </a:r>
            <a:endParaRPr sz="120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6667500" y="3981450"/>
            <a:ext cx="4838700" cy="62865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6819900" y="4057650"/>
            <a:ext cx="4572000" cy="5143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8FB4C4"/>
                </a:solidFill>
                <a:latin typeface="Menlo" panose="020B0609030804020204"/>
                <a:ea typeface="Menlo" panose="020B0609030804020204"/>
              </a:rPr>
              <a:t>targets:</a:t>
            </a:r>
            <a:endParaRPr sz="950">
              <a:solidFill>
                <a:srgbClr val="8FB4C4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[318, 281, 12064, ..., 50256]</a:t>
            </a:r>
            <a:endParaRPr sz="9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685800" y="4838700"/>
            <a:ext cx="590550" cy="3810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685800" y="4953000"/>
            <a:ext cx="590550" cy="171450"/>
          </a:xfrm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enlo" panose="020B0609030804020204"/>
                <a:ea typeface="Menlo" panose="020B0609030804020204"/>
              </a:rPr>
              <a:t>(2.5)</a:t>
            </a:r>
            <a:endParaRPr sz="1100" b="1">
              <a:solidFill>
                <a:srgbClr val="FFFFF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428750" y="4800600"/>
            <a:ext cx="4953000" cy="24384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掩码填充词元</a:t>
            </a:r>
            <a:endParaRPr sz="16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28750" y="5067300"/>
            <a:ext cx="49530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除第一个 50256 外，所有填充位替换为 -100。</a:t>
            </a:r>
            <a:endParaRPr sz="120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Shape 34"/>
          <p:cNvSpPr/>
          <p:nvPr/>
        </p:nvSpPr>
        <p:spPr>
          <a:xfrm>
            <a:off x="6667500" y="4781550"/>
            <a:ext cx="4838700" cy="62865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6819900" y="4857750"/>
            <a:ext cx="4572000" cy="5143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[..., 4876, 13, 50256,</a:t>
            </a:r>
            <a:endParaRPr sz="9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 -100, -100, -100]</a:t>
            </a:r>
            <a:endParaRPr sz="950" b="1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685800" y="5676900"/>
            <a:ext cx="10820400" cy="49530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914400" y="5810250"/>
            <a:ext cx="103632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产物：inputs 与 targets 两个形状相同的张量，长度随批次变化，最多 1024。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07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7.3 实现指令数据集类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预词元化：一次编码，反复使用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57300"/>
            <a:ext cx="60960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代码清单 7-4 · InstructionDataset</a:t>
            </a:r>
            <a:endParaRPr sz="11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504950"/>
            <a:ext cx="6096000" cy="36195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676400"/>
            <a:ext cx="5638800" cy="3276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class InstructionDataset(Dataset):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def __init__(self, data, tokenizer):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self.data = data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self.encoded_texts = []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for entry in data: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    instruction_plus_input = format_input(entry)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    response_text = f"\n\n### Response:\n{entry['output']}"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    full_text = instruction_plus_input + response_text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    self.encoded_texts.append(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        tokenizer.encode(full_text)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    )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def __getitem__(self, index):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return self.encoded_texts[index]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def __len__(self):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return len(self.data)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124700" y="1257300"/>
            <a:ext cx="4381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每条样本的旅程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7124700" y="1562100"/>
            <a:ext cx="4381500" cy="5905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JSON 字典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00">
                <a:solidFill>
                  <a:srgbClr val="8A8172"/>
                </a:solidFill>
                <a:latin typeface="Menlo" panose="020B0609030804020204"/>
                <a:ea typeface="Menlo" panose="020B0609030804020204"/>
              </a:rPr>
              <a:t>instruction / input / output</a:t>
            </a:r>
            <a:endParaRPr sz="1000">
              <a:solidFill>
                <a:srgbClr val="8A817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229725" y="2171700"/>
            <a:ext cx="171450" cy="114300"/>
          </a:xfrm>
          <a:prstGeom prst="downArrow">
            <a:avLst/>
          </a:prstGeom>
          <a:solidFill>
            <a:srgbClr val="C9BFAC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7124700" y="2305050"/>
            <a:ext cx="4381500" cy="5905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拼成完整文本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format_input + 回复模板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9229725" y="2914650"/>
            <a:ext cx="171450" cy="114300"/>
          </a:xfrm>
          <a:prstGeom prst="downArrow">
            <a:avLst/>
          </a:prstGeom>
          <a:solidFill>
            <a:srgbClr val="C9BFAC"/>
          </a:solidFill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7124700" y="3048000"/>
            <a:ext cx="4381500" cy="5905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tokenizer.encode</a:t>
            </a:r>
            <a:endParaRPr sz="1300" b="1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一次编码，存入列表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9229725" y="3657600"/>
            <a:ext cx="171450" cy="114300"/>
          </a:xfrm>
          <a:prstGeom prst="downArrow">
            <a:avLst/>
          </a:prstGeom>
          <a:solidFill>
            <a:srgbClr val="C9BFAC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7124700" y="3790950"/>
            <a:ext cx="4381500" cy="590550"/>
          </a:xfrm>
          <a:prstGeom prst="roundRect">
            <a:avLst/>
          </a:prstGeom>
          <a:solidFill>
            <a:srgbClr val="C0502B"/>
          </a:solidFill>
        </p:spPr>
        <p:txBody>
          <a:bodyPr wrap="square" lIns="0" tIns="0" rIns="0" bIns="0" rtlCol="0" anchor="ctr"/>
          <a:lstStyle/>
          <a:p>
            <a:pPr algn="ctr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enlo" panose="020B0609030804020204"/>
                <a:ea typeface="Menlo" panose="020B0609030804020204"/>
              </a:rPr>
              <a:t>List[int]</a:t>
            </a:r>
            <a:endParaRPr sz="1300" b="1">
              <a:solidFill>
                <a:srgbClr val="FFFFFF"/>
              </a:solidFill>
              <a:latin typeface="Menlo" panose="020B0609030804020204"/>
              <a:ea typeface="Menlo" panose="020B0609030804020204"/>
            </a:endParaRPr>
          </a:p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050">
                <a:solidFill>
                  <a:srgbClr val="F8D9CB"/>
                </a:solidFill>
                <a:latin typeface="PingFang SC" panose="020B0400000000000000" charset="-122"/>
                <a:ea typeface="PingFang SC" panose="020B0400000000000000" charset="-122"/>
              </a:rPr>
              <a:t>训练时直接取用，不再编码</a:t>
            </a:r>
            <a:endParaRPr sz="1050">
              <a:solidFill>
                <a:srgbClr val="F8D9C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7124700" y="4552950"/>
            <a:ext cx="4381500" cy="819150"/>
          </a:xfrm>
          <a:prstGeom prst="round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7315200" y="4667250"/>
            <a:ext cx="4000500" cy="590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050" b="1">
                <a:solidFill>
                  <a:srgbClr val="BFD6DF"/>
                </a:solidFill>
                <a:latin typeface="PingFang SC" panose="020B0400000000000000" charset="-122"/>
                <a:ea typeface="PingFang SC" panose="020B0400000000000000" charset="-122"/>
              </a:rPr>
              <a:t>注意</a:t>
            </a:r>
            <a:endParaRPr sz="1050" b="1">
              <a:solidFill>
                <a:srgbClr val="BFD6DF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填充词元 &lt;|endoftext|&gt; 的 ID 是 50256，可直接拼接 ID。</a:t>
            </a:r>
            <a:endParaRPr sz="115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85800" y="5334000"/>
            <a:ext cx="10820400" cy="68580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914400" y="5486400"/>
            <a:ext cx="103632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预词元化把编码成本前置到 Dataset 构造阶段；训练循环只负责取样与拼批。</a:t>
            </a:r>
            <a:endParaRPr sz="13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08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7.3 构造成对张量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填充到等长，目标左移一位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38250"/>
            <a:ext cx="10477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用书中的 3 条玩具序列演示：批次内取最长，输入截尾、目标右移。</a:t>
            </a:r>
            <a:endParaRPr sz="13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5800" y="1581150"/>
            <a:ext cx="2857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F5366"/>
                </a:solidFill>
                <a:latin typeface="Menlo" panose="020B0609030804020204"/>
                <a:ea typeface="Menlo" panose="020B0609030804020204"/>
              </a:rPr>
              <a:t>inputs（3 × 5）</a:t>
            </a:r>
            <a:endParaRPr sz="1100" b="1">
              <a:solidFill>
                <a:srgbClr val="2F536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85800" y="1828800"/>
            <a:ext cx="6096000" cy="11811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1962150"/>
            <a:ext cx="56388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   0,    1,    2,    3,    4]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   5,    6, 50256, 50256, 50256]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   7,    8,    9, 50256, 50256]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5800" y="3200400"/>
            <a:ext cx="2857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targets（3 × 5）</a:t>
            </a:r>
            <a:endParaRPr sz="110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85800" y="3448050"/>
            <a:ext cx="6096000" cy="11811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914400" y="3581400"/>
            <a:ext cx="56388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   1,    2,    3,    4, 50256]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   6, 50256, 50256, 50256, 50256]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[   8,    9, 50256, 50256, 50256]</a:t>
            </a:r>
            <a:endParaRPr sz="11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85800" y="4724400"/>
            <a:ext cx="60960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Menlo" panose="020B0609030804020204"/>
                <a:ea typeface="Menlo" panose="020B0609030804020204"/>
              </a:rPr>
              <a:t>玩具序列：[0,1,2,3,4] / [5,6] / [7,8,9]</a:t>
            </a:r>
            <a:endParaRPr sz="1050">
              <a:solidFill>
                <a:srgbClr val="8A817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85800" y="5105400"/>
            <a:ext cx="6096000" cy="64770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914400" y="5257800"/>
            <a:ext cx="5638800" cy="3619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同一序列错开一位：y_t = x_{t+1}，这就是 next-token 目标。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124700" y="1581150"/>
            <a:ext cx="43815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张量是怎么来的</a:t>
            </a:r>
            <a:endParaRPr sz="16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124700" y="1943100"/>
            <a:ext cx="5334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7734300" y="1943100"/>
            <a:ext cx="37719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每条先补结束符</a:t>
            </a:r>
            <a:endParaRPr sz="13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734300" y="2209800"/>
            <a:ext cx="37719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末尾加 50256，再补齐到批次最长。</a:t>
            </a:r>
            <a:endParaRPr sz="11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124700" y="2781300"/>
            <a:ext cx="5334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734300" y="2781300"/>
            <a:ext cx="37719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inputs 截掉最后一位</a:t>
            </a:r>
            <a:endParaRPr sz="13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7734300" y="3048000"/>
            <a:ext cx="37719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padded[:-1]，长度等于批次最长。</a:t>
            </a:r>
            <a:endParaRPr sz="11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124700" y="3619500"/>
            <a:ext cx="533400" cy="2857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734300" y="3619500"/>
            <a:ext cx="37719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targets 右移一位</a:t>
            </a:r>
            <a:endParaRPr sz="13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734300" y="3886200"/>
            <a:ext cx="37719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padded[1:]，学习预测下一个词元。</a:t>
            </a:r>
            <a:endParaRPr sz="11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7124700" y="4552950"/>
            <a:ext cx="4381500" cy="12001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7315200" y="4667250"/>
            <a:ext cx="4000500" cy="990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关键一行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batch_max_length = max(</a:t>
            </a:r>
            <a:endParaRPr sz="9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9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    len(item)+1 for item in batch)</a:t>
            </a:r>
            <a:endParaRPr sz="9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批次内取最长，避免全局填充。</a:t>
            </a:r>
            <a:endParaRPr sz="10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09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A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7.3 掩码填充词元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为什么占位符是 -100？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428750"/>
            <a:ext cx="3810000" cy="2381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-100</a:t>
            </a:r>
            <a:endParaRPr sz="120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5800" y="3905250"/>
            <a:ext cx="3810000" cy="609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PyTorch cross_entropy 的默认 ignore_index：被标记的目标不参与损失。</a:t>
            </a:r>
            <a:endParaRPr sz="11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762500" y="1428750"/>
            <a:ext cx="67437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被标为 -100 的目标不参与损失与梯度；填充词元因此不会影响学习。</a:t>
            </a:r>
            <a:endParaRPr sz="14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Shape 8"/>
          <p:cNvSpPr/>
          <p:nvPr/>
        </p:nvSpPr>
        <p:spPr>
          <a:xfrm>
            <a:off x="4762500" y="2019300"/>
            <a:ext cx="6743700" cy="15621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4991100" y="2152650"/>
            <a:ext cx="2857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A8172"/>
                </a:solidFill>
                <a:latin typeface="Menlo" panose="020B0609030804020204"/>
                <a:ea typeface="Menlo" panose="020B0609030804020204"/>
              </a:rPr>
              <a:t>targets</a:t>
            </a:r>
            <a:endParaRPr sz="1050" b="1">
              <a:solidFill>
                <a:srgbClr val="8A817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48600" y="2152650"/>
            <a:ext cx="34290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8A8172"/>
                </a:solidFill>
                <a:latin typeface="Menlo" panose="020B0609030804020204"/>
                <a:ea typeface="Menlo" panose="020B0609030804020204"/>
              </a:rPr>
              <a:t>loss</a:t>
            </a:r>
            <a:endParaRPr sz="1050" b="1">
              <a:solidFill>
                <a:srgbClr val="8A817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4991100" y="2438400"/>
            <a:ext cx="2857500" cy="266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[0, 1]</a:t>
            </a:r>
            <a:endParaRPr sz="12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848600" y="2438400"/>
            <a:ext cx="3429000" cy="266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1.1269</a:t>
            </a:r>
            <a:endParaRPr sz="12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991100" y="2800350"/>
            <a:ext cx="2857500" cy="266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[0, 1, 1]</a:t>
            </a:r>
            <a:endParaRPr sz="12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848600" y="2800350"/>
            <a:ext cx="3429000" cy="266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0.7936</a:t>
            </a:r>
            <a:endParaRPr sz="12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991100" y="3162300"/>
            <a:ext cx="2857500" cy="266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[0, 1, -100]</a:t>
            </a:r>
            <a:endParaRPr sz="125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848600" y="3162300"/>
            <a:ext cx="3429000" cy="266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1.1269</a:t>
            </a:r>
            <a:endParaRPr sz="125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762500" y="3714750"/>
            <a:ext cx="67437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loss_1 == loss_3 → True：第三项被完全忽略</a:t>
            </a:r>
            <a:endParaRPr sz="12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4762500" y="4114800"/>
            <a:ext cx="6743700" cy="12001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4991100" y="4248150"/>
            <a:ext cx="62865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为什么保留第一个 50256？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它教模型在回复结束时生成结束符，而不是无限续写；其余填充位全部忽略。</a:t>
            </a:r>
            <a:endParaRPr sz="12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85800" y="5619750"/>
            <a:ext cx="10820400" cy="53340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14400" y="5753100"/>
            <a:ext cx="103632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分类微调不必这样做：它只看最后一个输出词元，不存在整段序列的填充损失。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10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7.3 进阶：损失掩码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指令部分，要不要算损失？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38250"/>
            <a:ext cx="104775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把目标里「指令 + 输入」对应的词元设为 -100，损失就只来自回复。</a:t>
            </a:r>
            <a:endParaRPr sz="13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19250"/>
            <a:ext cx="5219700" cy="3429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809750"/>
            <a:ext cx="47625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本书做法：不掩码</a:t>
            </a:r>
            <a:endParaRPr sz="14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2114550"/>
            <a:ext cx="4762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目标覆盖指令与回复全文，实现最简单。</a:t>
            </a:r>
            <a:endParaRPr sz="11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914400" y="2457450"/>
            <a:ext cx="4762500" cy="7239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1066800" y="2552700"/>
            <a:ext cx="44577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8FB4C4"/>
                </a:solidFill>
                <a:latin typeface="Menlo" panose="020B0609030804020204"/>
                <a:ea typeface="Menlo" panose="020B0609030804020204"/>
              </a:rPr>
              <a:t>targets = [</a:t>
            </a:r>
            <a:endParaRPr sz="950">
              <a:solidFill>
                <a:srgbClr val="8FB4C4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instruction..., response..., 50256 ]</a:t>
            </a:r>
            <a:endParaRPr sz="9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14400" y="3333750"/>
            <a:ext cx="47625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全部参与损失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" y="3714750"/>
            <a:ext cx="4762500" cy="1143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· 训练信号覆盖全文，模型也学「怎么读指令」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· 无需定位指令与回复的边界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· 本章默认方案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6286500" y="1619250"/>
            <a:ext cx="5219700" cy="3429000"/>
          </a:xfrm>
          <a:prstGeom prst="roundRect">
            <a:avLst/>
          </a:prstGeom>
          <a:solidFill>
            <a:srgbClr val="EDF2F4"/>
          </a:solidFill>
          <a:ln w="12700">
            <a:solidFill>
              <a:srgbClr val="C9D6DC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515100" y="1809750"/>
            <a:ext cx="47625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可选做法：只对回复算损失</a:t>
            </a:r>
            <a:endParaRPr sz="140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15100" y="2114550"/>
            <a:ext cx="4762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指令与输入对应的目标词元全部替换为 -100。</a:t>
            </a:r>
            <a:endParaRPr sz="11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515100" y="2457450"/>
            <a:ext cx="4762500" cy="7239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667500" y="2552700"/>
            <a:ext cx="44577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8FB4C4"/>
                </a:solidFill>
                <a:latin typeface="Menlo" panose="020B0609030804020204"/>
                <a:ea typeface="Menlo" panose="020B0609030804020204"/>
              </a:rPr>
              <a:t>targets = [</a:t>
            </a:r>
            <a:endParaRPr sz="950">
              <a:solidFill>
                <a:srgbClr val="8FB4C4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  -100, -100, ..., response..., 50256 ]</a:t>
            </a:r>
            <a:endParaRPr sz="950" b="1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515100" y="3333750"/>
            <a:ext cx="47625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只有回复参与损失</a:t>
            </a:r>
            <a:endParaRPr sz="105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6515100" y="3714750"/>
            <a:ext cx="4762500" cy="1143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· 梯度只来自回复，训练更聚焦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· 减少「背指令」式过拟合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· 需要额外定位指令边界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85800" y="5219700"/>
            <a:ext cx="10820400" cy="914400"/>
          </a:xfrm>
          <a:prstGeom prst="round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14400" y="5372100"/>
            <a:ext cx="10363200" cy="609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研究并不一致：Shi 等（2024）报告不掩码指令可能更好。本书保留全文损失，把对比留作练习 7.2。</a:t>
            </a:r>
            <a:endParaRPr sz="130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11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7.4 创建指令数据集的数据加载器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每个批次，自己决定多长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38250"/>
            <a:ext cx="10477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用 functools.partial 预填 device 与 allowed_max_length=1024，再交给 DataLoader。</a:t>
            </a:r>
            <a:endParaRPr sz="13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5800" y="1485900"/>
            <a:ext cx="6286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代码清单 7-6 · 关键设置</a:t>
            </a:r>
            <a:endParaRPr sz="11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7" name="Shape 7"/>
          <p:cNvSpPr/>
          <p:nvPr/>
        </p:nvSpPr>
        <p:spPr>
          <a:xfrm>
            <a:off x="685800" y="1733550"/>
            <a:ext cx="6286500" cy="314325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1885950"/>
            <a:ext cx="5829300" cy="2819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customized_collate_fn = partial(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custom_collate_fn,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device=device,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    allowed_max_length=1024</a:t>
            </a:r>
            <a:endParaRPr sz="1050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)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train_loader = DataLoader(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train_dataset,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batch_size=8,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collate_fn=customized_collate_fn,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shuffle=True,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drop_last=True,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num_workers=0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)</a:t>
            </a:r>
            <a:endParaRPr sz="105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7277100" y="1504950"/>
            <a:ext cx="4229100" cy="1676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467600" y="1638300"/>
            <a:ext cx="38481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train_loader 的形状</a:t>
            </a:r>
            <a:endParaRPr sz="1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467600" y="1924050"/>
            <a:ext cx="3848100" cy="8953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torch.Size([8, 61])</a:t>
            </a:r>
            <a:endParaRPr sz="110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torch.Size([8, 76])</a:t>
            </a:r>
            <a:endParaRPr sz="110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torch.Size([8, 73])</a:t>
            </a:r>
            <a:endParaRPr sz="110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8A8172"/>
                </a:solidFill>
                <a:latin typeface="Menlo" panose="020B0609030804020204"/>
                <a:ea typeface="Menlo" panose="020B0609030804020204"/>
              </a:rPr>
              <a:t>...</a:t>
            </a:r>
            <a:endParaRPr sz="1100">
              <a:solidFill>
                <a:srgbClr val="8A817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467600" y="2876550"/>
            <a:ext cx="38481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8 条样本；每个批次的长度都不同。</a:t>
            </a:r>
            <a:endParaRPr sz="10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7277100" y="3352800"/>
            <a:ext cx="4229100" cy="12192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7467600" y="3467100"/>
            <a:ext cx="180975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batch_size = 8</a:t>
            </a:r>
            <a:endParaRPr sz="110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372600" y="3467100"/>
            <a:ext cx="1943100" cy="20955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每批 8 条样本</a:t>
            </a:r>
            <a:endParaRPr sz="10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467600" y="3810000"/>
            <a:ext cx="180975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num_workers = 0</a:t>
            </a:r>
            <a:endParaRPr sz="110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9372600" y="3810000"/>
            <a:ext cx="1943100" cy="20955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主进程加载</a:t>
            </a:r>
            <a:endParaRPr sz="10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467600" y="4152900"/>
            <a:ext cx="180975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shuffle = False</a:t>
            </a:r>
            <a:endParaRPr sz="110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372600" y="4152900"/>
            <a:ext cx="1943100" cy="20955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验证 / 测试不打乱</a:t>
            </a:r>
            <a:endParaRPr sz="105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685800" y="5105400"/>
            <a:ext cx="10820400" cy="80010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914400" y="5238750"/>
            <a:ext cx="103632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三个收益：减少无效填充；数据搬移在后台完成；超过 1024 的词元被截断，保护 GPT-2 上下文。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12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7.5 加载预训练的大语言模型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为什么把 124M 换成 355M？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38250"/>
            <a:ext cx="10477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小模型容量不足，学不会高质量的指令行为；本章改用 GPT-2 medium。</a:t>
            </a:r>
            <a:endParaRPr sz="13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19250"/>
            <a:ext cx="6286500" cy="6477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76300" y="1714500"/>
            <a:ext cx="38100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gpt2-small (124M)</a:t>
            </a:r>
            <a:endParaRPr sz="135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1981200"/>
            <a:ext cx="38100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768 · 12 层 · 12 头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067300" y="1828800"/>
            <a:ext cx="1714500" cy="20955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容量不足</a:t>
            </a:r>
            <a:endParaRPr sz="11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685800" y="2381250"/>
            <a:ext cx="6286500" cy="6477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876300" y="2476500"/>
            <a:ext cx="40005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Helvetica Neue" panose="02000503000000020004"/>
                <a:ea typeface="Helvetica Neue" panose="02000503000000020004"/>
              </a:rPr>
              <a:t>gpt2-medium (355M)</a:t>
            </a:r>
            <a:endParaRPr sz="1350" b="1">
              <a:solidFill>
                <a:srgbClr val="FFFFFF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76300" y="2743200"/>
            <a:ext cx="40005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F8D9CB"/>
                </a:solidFill>
                <a:latin typeface="PingFang SC" panose="020B0400000000000000" charset="-122"/>
                <a:ea typeface="PingFang SC" panose="020B0400000000000000" charset="-122"/>
              </a:rPr>
              <a:t>1024 · 24 层 · 16 头</a:t>
            </a:r>
            <a:endParaRPr sz="1050">
              <a:solidFill>
                <a:srgbClr val="F8D9C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067300" y="2590800"/>
            <a:ext cx="1714500" cy="20955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本章选择</a:t>
            </a:r>
            <a:endParaRPr sz="11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685800" y="3143250"/>
            <a:ext cx="6286500" cy="6477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76300" y="3238500"/>
            <a:ext cx="38100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gpt2-large (774M)</a:t>
            </a:r>
            <a:endParaRPr sz="135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76300" y="3505200"/>
            <a:ext cx="38100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1280 · 36 层 · 20 头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067300" y="3352800"/>
            <a:ext cx="1714500" cy="20955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更大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85800" y="3905250"/>
            <a:ext cx="6286500" cy="6477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76300" y="4000500"/>
            <a:ext cx="38100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gpt2-xl (1558M)</a:t>
            </a:r>
            <a:endParaRPr sz="135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76300" y="4267200"/>
            <a:ext cx="38100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1600 · 48 层 · 25 头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067300" y="4114800"/>
            <a:ext cx="1714500" cy="20955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更大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277100" y="1524000"/>
            <a:ext cx="42291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5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355M</a:t>
            </a:r>
            <a:endParaRPr sz="5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277100" y="2495550"/>
            <a:ext cx="4229100" cy="228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参数量约 3.55 亿，是 124M 的 2.9 倍</a:t>
            </a:r>
            <a:endParaRPr sz="11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7277100" y="2876550"/>
            <a:ext cx="4229100" cy="952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· 容量足够学习复杂指令行为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8000"/>
              </a:lnSpc>
              <a:spcAft>
                <a:spcPts val="60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· 单卡可训练，权重约 1.42 GB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· 124M 在指令任务上效果有限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7277100" y="3943350"/>
            <a:ext cx="4229100" cy="5715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7467600" y="4095750"/>
            <a:ext cx="3848100" cy="2667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CHOOSE_MODEL = "gpt2-medium (355M)"</a:t>
            </a:r>
            <a:endParaRPr sz="1000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277100" y="4629150"/>
            <a:ext cx="42291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>
                <a:solidFill>
                  <a:srgbClr val="5C564A"/>
                </a:solidFill>
                <a:latin typeface="PingFang SC" panose="020B0400000000000000" charset="-122"/>
                <a:ea typeface="PingFang SC" panose="020B0400000000000000" charset="-122"/>
              </a:rPr>
              <a:t>硬件受限时退回 124M，但回复质量会明显下降。</a:t>
            </a:r>
            <a:endParaRPr sz="1100">
              <a:solidFill>
                <a:srgbClr val="5C564A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Shape 28"/>
          <p:cNvSpPr/>
          <p:nvPr/>
        </p:nvSpPr>
        <p:spPr>
          <a:xfrm>
            <a:off x="685800" y="4762500"/>
            <a:ext cx="6286500" cy="80010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914400" y="4895850"/>
            <a:ext cx="5829300" cy="533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加载流程复用第 5 章：download_and_load_gpt2 → GPTModel → load_weights_into_gpt。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13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4762500" cy="2095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7.5 微调前基线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85800"/>
            <a:ext cx="10001250" cy="512064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它不是答错，而是在「接着写」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38250"/>
            <a:ext cx="104775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用验证集第一条指令测试未微调模型：格式对了一半，任务完全没做。</a:t>
            </a:r>
            <a:endParaRPr sz="14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733550"/>
            <a:ext cx="7239000" cy="314325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885950"/>
            <a:ext cx="67818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FB4C4"/>
                </a:solidFill>
                <a:latin typeface="PingFang SC" panose="020B0400000000000000" charset="-122"/>
                <a:ea typeface="PingFang SC" panose="020B0400000000000000" charset="-122"/>
              </a:rPr>
              <a:t>输入</a:t>
            </a:r>
            <a:endParaRPr sz="1000" b="1">
              <a:solidFill>
                <a:srgbClr val="8FB4C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2095500"/>
            <a:ext cx="6781800" cy="6096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>
                <a:solidFill>
                  <a:srgbClr val="F0A47F"/>
                </a:solidFill>
                <a:latin typeface="Menlo" panose="020B0609030804020204"/>
                <a:ea typeface="Menlo" panose="020B0609030804020204"/>
              </a:rPr>
              <a:t>### Instruction:</a:t>
            </a:r>
            <a:endParaRPr sz="1100">
              <a:solidFill>
                <a:srgbClr val="F0A47F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Convert the active sentence to passive: 'The chef cooks the meal every day.'</a:t>
            </a:r>
            <a:endParaRPr sz="11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2857500"/>
            <a:ext cx="6781800" cy="1905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FB4C4"/>
                </a:solidFill>
                <a:latin typeface="PingFang SC" panose="020B0400000000000000" charset="-122"/>
                <a:ea typeface="PingFang SC" panose="020B0400000000000000" charset="-122"/>
              </a:rPr>
              <a:t>模型输出（max_new_tokens=35）</a:t>
            </a:r>
            <a:endParaRPr sz="1000" b="1">
              <a:solidFill>
                <a:srgbClr val="8FB4C4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3067050"/>
            <a:ext cx="6781800" cy="1619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### Response:</a:t>
            </a:r>
            <a:endParaRPr sz="1100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The chef cooks the meal every day.</a:t>
            </a:r>
            <a:endParaRPr sz="1100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### Instruction:</a:t>
            </a:r>
            <a:endParaRPr sz="1100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00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Convert the active sentence to passive: 'The chef cooks the</a:t>
            </a:r>
            <a:endParaRPr sz="1100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191500" y="1733550"/>
            <a:ext cx="3314700" cy="2476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诊断</a:t>
            </a:r>
            <a:endParaRPr sz="14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8191500" y="2095500"/>
            <a:ext cx="3314700" cy="161925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01  复读了原句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1200"/>
              </a:spcAft>
            </a:pP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02  重新开始写 Instruction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03  没有生成被动语态</a:t>
            </a:r>
            <a:endParaRPr sz="12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8191500" y="3771900"/>
            <a:ext cx="3314700" cy="11049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420100" y="3943350"/>
            <a:ext cx="2857500" cy="762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50" b="1">
                <a:solidFill>
                  <a:srgbClr val="F8D9CB"/>
                </a:solidFill>
                <a:latin typeface="PingFang SC" panose="020B0400000000000000" charset="-122"/>
                <a:ea typeface="PingFang SC" panose="020B0400000000000000" charset="-122"/>
              </a:rPr>
              <a:t>结论</a:t>
            </a:r>
            <a:endParaRPr sz="1050" b="1">
              <a:solidFill>
                <a:srgbClr val="F8D9CB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预训练目标只要求续写，不要求完成任务。</a:t>
            </a:r>
            <a:endParaRPr sz="130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Shape 15"/>
          <p:cNvSpPr/>
          <p:nvPr/>
        </p:nvSpPr>
        <p:spPr>
          <a:xfrm>
            <a:off x="685800" y="5219700"/>
            <a:ext cx="10820400" cy="66675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14400" y="5391150"/>
            <a:ext cx="10363200" cy="3810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这就是基线：它提供了「微调前」的参照，也说明为什么需要第 7.6 节的训练。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85800" y="6438900"/>
            <a:ext cx="4762500" cy="152400"/>
          </a:xfrm>
        </p:spPr>
        <p:txBody>
          <a:bodyPr wrap="square" lIns="0" tIns="0" rIns="0" bIns="0" rtlCol="0" anchor="t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1049000" y="6438900"/>
            <a:ext cx="457200" cy="152400"/>
          </a:xfrm>
        </p:spPr>
        <p:txBody>
          <a:bodyPr wrap="square" lIns="0" tIns="0" rIns="0" bIns="0" rtlCol="0" anchor="t"/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14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7.6  指令微调训练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训练配置：小学习率、短轮次、持续观测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第 5 章的训练循环原样复用，只替换数据、优化器参数与评估节奏。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38300"/>
            <a:ext cx="6667500" cy="35433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790700"/>
            <a:ext cx="47625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Menlo" panose="020B0609030804020204"/>
                <a:ea typeface="Menlo" panose="020B0609030804020204"/>
              </a:rPr>
              <a:t>05_instruction_finetuning.py</a:t>
            </a:r>
            <a:endParaRPr sz="1050">
              <a:solidFill>
                <a:srgbClr val="8A817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2057400"/>
            <a:ext cx="6210300" cy="3048000"/>
          </a:xfrm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torch.manual_seed(123)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optimizer = torch.optim.AdamW(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model.parameters(),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lr=0.00005, weight_decay=0.1,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E8A87C"/>
                </a:solidFill>
                <a:latin typeface="Menlo" panose="020B0609030804020204"/>
                <a:ea typeface="Menlo" panose="020B0609030804020204"/>
              </a:rPr>
              <a:t>)</a:t>
            </a:r>
            <a:endParaRPr sz="1300" b="1">
              <a:solidFill>
                <a:srgbClr val="E8A87C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E8A87C"/>
                </a:solidFill>
                <a:latin typeface="Menlo" panose="020B0609030804020204"/>
                <a:ea typeface="Menlo" panose="020B0609030804020204"/>
              </a:rPr>
              <a:t>num_epochs = 2</a:t>
            </a:r>
            <a:endParaRPr sz="1300" b="1">
              <a:solidFill>
                <a:srgbClr val="E8A87C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train_losses, val_losses, tokens_seen = train_model_simple(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 b="1">
                <a:solidFill>
                  <a:srgbClr val="E8A87C"/>
                </a:solidFill>
                <a:latin typeface="Menlo" panose="020B0609030804020204"/>
                <a:ea typeface="Menlo" panose="020B0609030804020204"/>
              </a:rPr>
              <a:t>    model, train_loader, val_loader, optimizer, device,</a:t>
            </a:r>
            <a:endParaRPr sz="1300" b="1">
              <a:solidFill>
                <a:srgbClr val="E8A87C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num_epochs=num_epochs,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eval_freq=5, eval_iter=5,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start_context=format_input(val_data[0]),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tokenizer=tokenizer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  <a:spcAft>
                <a:spcPts val="0"/>
              </a:spcAft>
            </a:pPr>
            <a:r>
              <a:rPr sz="13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)</a:t>
            </a:r>
            <a:endParaRPr sz="13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7620000" y="1638300"/>
            <a:ext cx="1866900" cy="914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7734300" y="1752600"/>
            <a:ext cx="16383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学习率  lr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734300" y="1924050"/>
            <a:ext cx="1638300" cy="350520"/>
          </a:xfrm>
        </p:spPr>
        <p:txBody>
          <a:bodyPr wrap="square" lIns="0" tIns="0" rIns="0" bIns="0" rtlCol="0" anchor="t"/>
          <a:lstStyle/>
          <a:p>
            <a:r>
              <a:rPr sz="23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5e-5</a:t>
            </a:r>
            <a:endParaRPr sz="23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734300" y="2286000"/>
            <a:ext cx="1638300" cy="17145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小步更新，保住预训练表示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9639300" y="1638300"/>
            <a:ext cx="1866900" cy="914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9753600" y="1752600"/>
            <a:ext cx="16383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权重衰减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753600" y="1924050"/>
            <a:ext cx="1638300" cy="350520"/>
          </a:xfrm>
        </p:spPr>
        <p:txBody>
          <a:bodyPr wrap="square" lIns="0" tIns="0" rIns="0" bIns="0" rtlCol="0" anchor="t"/>
          <a:lstStyle/>
          <a:p>
            <a:r>
              <a:rPr sz="23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0.1</a:t>
            </a:r>
            <a:endParaRPr sz="23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753600" y="2286000"/>
            <a:ext cx="1638300" cy="17145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约束参数，抑制过拟合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7620000" y="2705100"/>
            <a:ext cx="1866900" cy="914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7734300" y="2819400"/>
            <a:ext cx="16383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训练轮次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734300" y="2990850"/>
            <a:ext cx="1638300" cy="350520"/>
          </a:xfrm>
        </p:spPr>
        <p:txBody>
          <a:bodyPr wrap="square" lIns="0" tIns="0" rIns="0" bIns="0" rtlCol="0" anchor="t"/>
          <a:lstStyle/>
          <a:p>
            <a:r>
              <a:rPr sz="23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2</a:t>
            </a:r>
            <a:endParaRPr sz="23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7734300" y="3352800"/>
            <a:ext cx="1638300" cy="17145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一轮已明显收敛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9639300" y="2705100"/>
            <a:ext cx="1866900" cy="914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9753600" y="2819400"/>
            <a:ext cx="16383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评估节奏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753600" y="2990850"/>
            <a:ext cx="1638300" cy="323850"/>
          </a:xfrm>
        </p:spPr>
        <p:txBody>
          <a:bodyPr wrap="square" lIns="0" tIns="0" rIns="0" bIns="0" rtlCol="0" anchor="t"/>
          <a:lstStyle/>
          <a:p>
            <a:r>
              <a:rPr sz="21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5 / 5</a:t>
            </a:r>
            <a:endParaRPr sz="21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753600" y="3352800"/>
            <a:ext cx="1638300" cy="17145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每 5 步记录一次损失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7620000" y="3771900"/>
            <a:ext cx="3886200" cy="140970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7848600" y="3905250"/>
            <a:ext cx="3429000" cy="190500"/>
          </a:xfrm>
        </p:spPr>
        <p:txBody>
          <a:bodyPr wrap="square" lIns="0" tIns="0" rIns="0" bIns="0" rtlCol="0" anchor="t"/>
          <a:lstStyle/>
          <a:p>
            <a:r>
              <a:rPr sz="11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训练前的基线损失</a:t>
            </a:r>
            <a:endParaRPr sz="11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7848600" y="4171950"/>
            <a:ext cx="1333500" cy="20955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训练集</a:t>
            </a:r>
            <a:endParaRPr sz="12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334500" y="4114800"/>
            <a:ext cx="1905000" cy="304800"/>
          </a:xfrm>
        </p:spPr>
        <p:txBody>
          <a:bodyPr wrap="square" lIns="0" tIns="0" rIns="0" bIns="0" rtlCol="0" anchor="t"/>
          <a:lstStyle/>
          <a:p>
            <a:pPr algn="r"/>
            <a:r>
              <a:rPr sz="20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3.8259</a:t>
            </a:r>
            <a:endParaRPr sz="20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7848600" y="4457700"/>
            <a:ext cx="1333500" cy="20955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验证集</a:t>
            </a:r>
            <a:endParaRPr sz="12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334500" y="4400550"/>
            <a:ext cx="1905000" cy="304800"/>
          </a:xfrm>
        </p:spPr>
        <p:txBody>
          <a:bodyPr wrap="square" lIns="0" tIns="0" rIns="0" bIns="0" rtlCol="0" anchor="t"/>
          <a:lstStyle/>
          <a:p>
            <a:pPr algn="r"/>
            <a:r>
              <a:rPr sz="20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3.7619</a:t>
            </a:r>
            <a:endParaRPr sz="20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7848600" y="4819650"/>
            <a:ext cx="3429000" cy="2286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两者接近：起点一致，下降空间很大。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Shape 32"/>
          <p:cNvSpPr/>
          <p:nvPr/>
        </p:nvSpPr>
        <p:spPr>
          <a:xfrm>
            <a:off x="685800" y="5410200"/>
            <a:ext cx="10820400" cy="666750"/>
          </a:xfrm>
          <a:prstGeom prst="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33" name="Shape 33"/>
          <p:cNvSpPr/>
          <p:nvPr/>
        </p:nvSpPr>
        <p:spPr>
          <a:xfrm>
            <a:off x="685800" y="5410200"/>
            <a:ext cx="38100" cy="666750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914400" y="5600700"/>
            <a:ext cx="1428750" cy="247650"/>
          </a:xfrm>
        </p:spPr>
        <p:txBody>
          <a:bodyPr wrap="square" lIns="0" tIns="0" rIns="0" bIns="0" rtlCol="0" anchor="t"/>
          <a:lstStyle/>
          <a:p>
            <a:r>
              <a:rPr sz="12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为什么是 2 轮</a:t>
            </a:r>
            <a:endParaRPr sz="12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2343150" y="5562600"/>
            <a:ext cx="8858250" cy="400050"/>
          </a:xfrm>
        </p:spPr>
        <p:txBody>
          <a:bodyPr wrap="square" lIns="0" tIns="0" rIns="0" bIns="0" rtlCol="0" anchor="t"/>
          <a:lstStyle/>
          <a:p>
            <a:r>
              <a:rPr sz="12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损失降幅已经很大，第二轮开始趋于平缓；继续训练收益有限，还可能过拟合。</a:t>
            </a:r>
            <a:endParaRPr sz="12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15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7.6  训练过程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损失曲线：先陡降，再收敛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每 5 步记录一次；两条曲线先陡降，随后都进入平台期。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76400"/>
            <a:ext cx="7086600" cy="31432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790700"/>
            <a:ext cx="36195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验证集样本上的损失轨迹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4838700" y="1790700"/>
            <a:ext cx="272415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■ </a:t>
            </a:r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训练损失    </a:t>
            </a:r>
            <a:r>
              <a:rPr sz="1000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■ </a:t>
            </a:r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验证损失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Shape 9"/>
          <p:cNvSpPr/>
          <p:nvPr/>
        </p:nvSpPr>
        <p:spPr>
          <a:xfrm>
            <a:off x="990600" y="4400550"/>
            <a:ext cx="6553200" cy="9525"/>
          </a:xfrm>
          <a:prstGeom prst="rect">
            <a:avLst/>
          </a:prstGeom>
          <a:solidFill>
            <a:srgbClr val="DFD7C8"/>
          </a:solidFill>
        </p:spPr>
        <p:txBody>
          <a:bodyPr wrap="square" rtlCol="0"/>
          <a:lstStyle/>
          <a:p/>
        </p:txBody>
      </p:sp>
      <p:sp>
        <p:nvSpPr>
          <p:cNvPr id="10" name="Shape 10"/>
          <p:cNvSpPr/>
          <p:nvPr/>
        </p:nvSpPr>
        <p:spPr>
          <a:xfrm>
            <a:off x="1609725" y="2562225"/>
            <a:ext cx="533400" cy="1838325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1" name="Shape 11"/>
          <p:cNvSpPr/>
          <p:nvPr/>
        </p:nvSpPr>
        <p:spPr>
          <a:xfrm>
            <a:off x="2238375" y="2571750"/>
            <a:ext cx="533400" cy="1828800"/>
          </a:xfrm>
          <a:prstGeom prst="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12" name="Shape 12"/>
          <p:cNvSpPr/>
          <p:nvPr/>
        </p:nvSpPr>
        <p:spPr>
          <a:xfrm>
            <a:off x="3895725" y="4038600"/>
            <a:ext cx="533400" cy="361950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3" name="Shape 13"/>
          <p:cNvSpPr/>
          <p:nvPr/>
        </p:nvSpPr>
        <p:spPr>
          <a:xfrm>
            <a:off x="4524375" y="3933825"/>
            <a:ext cx="533400" cy="466725"/>
          </a:xfrm>
          <a:prstGeom prst="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14" name="Shape 14"/>
          <p:cNvSpPr/>
          <p:nvPr/>
        </p:nvSpPr>
        <p:spPr>
          <a:xfrm>
            <a:off x="6181725" y="4191000"/>
            <a:ext cx="533400" cy="209550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5" name="Shape 15"/>
          <p:cNvSpPr/>
          <p:nvPr/>
        </p:nvSpPr>
        <p:spPr>
          <a:xfrm>
            <a:off x="6810375" y="3943350"/>
            <a:ext cx="533400" cy="457200"/>
          </a:xfrm>
          <a:prstGeom prst="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1609725" y="2352675"/>
            <a:ext cx="5334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2.637</a:t>
            </a:r>
            <a:endParaRPr sz="10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2238375" y="2362200"/>
            <a:ext cx="5334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2F5366"/>
                </a:solidFill>
                <a:latin typeface="Helvetica Neue" panose="02000503000000020004"/>
                <a:ea typeface="Helvetica Neue" panose="02000503000000020004"/>
              </a:rPr>
              <a:t>2.626</a:t>
            </a:r>
            <a:endParaRPr sz="1000" b="1">
              <a:solidFill>
                <a:srgbClr val="2F536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3895725" y="3829050"/>
            <a:ext cx="5334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0.520</a:t>
            </a:r>
            <a:endParaRPr sz="10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4524375" y="3724275"/>
            <a:ext cx="5334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2F5366"/>
                </a:solidFill>
                <a:latin typeface="Helvetica Neue" panose="02000503000000020004"/>
                <a:ea typeface="Helvetica Neue" panose="02000503000000020004"/>
              </a:rPr>
              <a:t>0.665</a:t>
            </a:r>
            <a:endParaRPr sz="1000" b="1">
              <a:solidFill>
                <a:srgbClr val="2F536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181725" y="3981450"/>
            <a:ext cx="5334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0.300</a:t>
            </a:r>
            <a:endParaRPr sz="10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10375" y="3733800"/>
            <a:ext cx="533400" cy="171450"/>
          </a:xfrm>
        </p:spPr>
        <p:txBody>
          <a:bodyPr wrap="square" lIns="0" tIns="0" rIns="0" bIns="0" rtlCol="0" anchor="t"/>
          <a:lstStyle/>
          <a:p>
            <a:pPr algn="ctr"/>
            <a:r>
              <a:rPr sz="1000" b="1">
                <a:solidFill>
                  <a:srgbClr val="2F5366"/>
                </a:solidFill>
                <a:latin typeface="Helvetica Neue" panose="02000503000000020004"/>
                <a:ea typeface="Helvetica Neue" panose="02000503000000020004"/>
              </a:rPr>
              <a:t>0.657</a:t>
            </a:r>
            <a:endParaRPr sz="1000" b="1">
              <a:solidFill>
                <a:srgbClr val="2F536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724025" y="4457700"/>
            <a:ext cx="933450" cy="342900"/>
          </a:xfrm>
        </p:spPr>
        <p:txBody>
          <a:bodyPr wrap="square" lIns="0" tIns="0" rIns="0" bIns="0" rtlCol="0" anchor="t"/>
          <a:lstStyle/>
          <a:p>
            <a:pPr algn="ctr"/>
            <a:r>
              <a:rPr sz="11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起点</a:t>
            </a:r>
            <a:endParaRPr sz="11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90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Step 0</a:t>
            </a:r>
            <a:endParaRPr sz="90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4010025" y="4457700"/>
            <a:ext cx="933450" cy="342900"/>
          </a:xfrm>
        </p:spPr>
        <p:txBody>
          <a:bodyPr wrap="square" lIns="0" tIns="0" rIns="0" bIns="0" rtlCol="0" anchor="t"/>
          <a:lstStyle/>
          <a:p>
            <a:pPr algn="ctr"/>
            <a:r>
              <a:rPr sz="11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第 1 轮末</a:t>
            </a:r>
            <a:endParaRPr sz="11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90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Step 115</a:t>
            </a:r>
            <a:endParaRPr sz="90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296025" y="4457700"/>
            <a:ext cx="933450" cy="342900"/>
          </a:xfrm>
        </p:spPr>
        <p:txBody>
          <a:bodyPr wrap="square" lIns="0" tIns="0" rIns="0" bIns="0" rtlCol="0" anchor="t"/>
          <a:lstStyle/>
          <a:p>
            <a:pPr algn="ctr"/>
            <a:r>
              <a:rPr sz="11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第 2 轮末</a:t>
            </a:r>
            <a:endParaRPr sz="11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ctr"/>
            <a:r>
              <a:rPr sz="90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Step 230</a:t>
            </a:r>
            <a:endParaRPr sz="90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8039100" y="1676400"/>
            <a:ext cx="3467100" cy="314325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267700" y="1809750"/>
            <a:ext cx="2857500" cy="190500"/>
          </a:xfrm>
        </p:spPr>
        <p:txBody>
          <a:bodyPr wrap="square" lIns="0" tIns="0" rIns="0" bIns="0" rtlCol="0" anchor="t"/>
          <a:lstStyle/>
          <a:p>
            <a:r>
              <a:rPr sz="11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三个读数</a:t>
            </a:r>
            <a:endParaRPr sz="11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267700" y="2095500"/>
            <a:ext cx="3009900" cy="198120"/>
          </a:xfrm>
        </p:spPr>
        <p:txBody>
          <a:bodyPr wrap="square" lIns="0" tIns="0" rIns="0" bIns="0" rtlCol="0" anchor="t"/>
          <a:lstStyle/>
          <a:p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① 起点 ≈ 2.63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267700" y="2305050"/>
            <a:ext cx="3009900" cy="20955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训练与验证几乎重合，模型尚未适配指令格式。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267700" y="2609850"/>
            <a:ext cx="3009900" cy="198120"/>
          </a:xfrm>
        </p:spPr>
        <p:txBody>
          <a:bodyPr wrap="square" lIns="0" tIns="0" rIns="0" bIns="0" rtlCol="0" anchor="t"/>
          <a:lstStyle/>
          <a:p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② 第一轮降幅最大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8267700" y="2819400"/>
            <a:ext cx="3009900" cy="20955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训练 2.637 → 0.520，验证降到 0.665。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8267700" y="3124200"/>
            <a:ext cx="3009900" cy="198120"/>
          </a:xfrm>
        </p:spPr>
        <p:txBody>
          <a:bodyPr wrap="square" lIns="0" tIns="0" rIns="0" bIns="0" rtlCol="0" anchor="t"/>
          <a:lstStyle/>
          <a:p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③ 第二轮趋于平缓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67700" y="3333750"/>
            <a:ext cx="3009900" cy="20955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训练 0.300，验证 0.657，基本停住。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8267700" y="3676650"/>
            <a:ext cx="3009900" cy="9525"/>
          </a:xfrm>
          <a:prstGeom prst="rect">
            <a:avLst/>
          </a:prstGeom>
          <a:solidFill>
            <a:srgbClr val="DFD7C8"/>
          </a:solidFill>
        </p:spPr>
        <p:txBody>
          <a:bodyPr wrap="square" rtlCol="0"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8267700" y="3810000"/>
            <a:ext cx="3009900" cy="8001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训练损失低于验证损失，在小数据微调中很常见；判断是否收敛，主要看验证集。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Shape 35"/>
          <p:cNvSpPr/>
          <p:nvPr/>
        </p:nvSpPr>
        <p:spPr>
          <a:xfrm>
            <a:off x="685800" y="5105400"/>
            <a:ext cx="6858000" cy="10477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914400" y="5238750"/>
            <a:ext cx="3810000" cy="17145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训练日志里的验证样本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914400" y="5429250"/>
            <a:ext cx="6400800" cy="28575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“The meal is cooked every day by the chef.”</a:t>
            </a:r>
            <a:endParaRPr sz="18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914400" y="5772150"/>
            <a:ext cx="6400800" cy="2095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主动句 → 被动句，格式与内容都正确；系统评估见 7.8 节。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9" name="Shape 39"/>
          <p:cNvSpPr/>
          <p:nvPr/>
        </p:nvSpPr>
        <p:spPr>
          <a:xfrm>
            <a:off x="7734300" y="5105400"/>
            <a:ext cx="3771900" cy="1047750"/>
          </a:xfrm>
          <a:prstGeom prst="roundRect">
            <a:avLst/>
          </a:prstGeom>
          <a:solidFill>
            <a:srgbClr val="11171B"/>
          </a:solidFill>
        </p:spPr>
        <p:txBody>
          <a:bodyPr wrap="square" rtlCol="0"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7962900" y="5238750"/>
            <a:ext cx="19050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训练耗时</a:t>
            </a:r>
            <a:endParaRPr sz="10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7962900" y="5429250"/>
            <a:ext cx="1619250" cy="350520"/>
          </a:xfrm>
        </p:spPr>
        <p:txBody>
          <a:bodyPr wrap="square" lIns="0" tIns="0" rIns="0" bIns="0" rtlCol="0" anchor="t"/>
          <a:lstStyle/>
          <a:p>
            <a:r>
              <a:rPr sz="2300" b="1">
                <a:solidFill>
                  <a:srgbClr val="F6F3EC"/>
                </a:solidFill>
                <a:latin typeface="Helvetica Neue" panose="02000503000000020004"/>
                <a:ea typeface="Helvetica Neue" panose="02000503000000020004"/>
              </a:rPr>
              <a:t>0.87</a:t>
            </a:r>
            <a:endParaRPr sz="2300" b="1">
              <a:solidFill>
                <a:srgbClr val="F6F3EC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7962900" y="5772150"/>
            <a:ext cx="161925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A100 · 分钟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9715500" y="5429250"/>
            <a:ext cx="1562100" cy="350520"/>
          </a:xfrm>
        </p:spPr>
        <p:txBody>
          <a:bodyPr wrap="square" lIns="0" tIns="0" rIns="0" bIns="0" rtlCol="0" anchor="t"/>
          <a:lstStyle/>
          <a:p>
            <a:r>
              <a:rPr sz="2300" b="1">
                <a:solidFill>
                  <a:srgbClr val="F6F3EC"/>
                </a:solidFill>
                <a:latin typeface="Helvetica Neue" panose="02000503000000020004"/>
                <a:ea typeface="Helvetica Neue" panose="02000503000000020004"/>
              </a:rPr>
              <a:t>15.78</a:t>
            </a:r>
            <a:endParaRPr sz="2300" b="1">
              <a:solidFill>
                <a:srgbClr val="F6F3EC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9715500" y="5772150"/>
            <a:ext cx="156210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M3 CPU · 分钟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16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7.7  定性检查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三条样本，三种表现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前 3 条测试样本里两条正确；错的那条把“积雨云”说成了“积云”。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76400"/>
            <a:ext cx="3505200" cy="28575"/>
          </a:xfrm>
          <a:prstGeom prst="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676400"/>
            <a:ext cx="3505200" cy="4343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76300" y="180975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样本 01 · 比喻改写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6300" y="2038350"/>
            <a:ext cx="3124200" cy="53340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Rewrite the sentence using a simile.</a:t>
            </a:r>
            <a:endParaRPr sz="1200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6300" y="2571750"/>
            <a:ext cx="3124200" cy="15240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输入：The car is very fast.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876300" y="2838450"/>
            <a:ext cx="3124200" cy="9525"/>
          </a:xfrm>
          <a:prstGeom prst="rect">
            <a:avLst/>
          </a:prstGeom>
          <a:solidFill>
            <a:srgbClr val="DFD7C8"/>
          </a:solidFill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76300" y="2914650"/>
            <a:ext cx="31242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预期回复</a:t>
            </a:r>
            <a:endParaRPr sz="9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6300" y="3086100"/>
            <a:ext cx="3124200" cy="66675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The car is as fast as lightning.</a:t>
            </a:r>
            <a:endParaRPr sz="1150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76300" y="3829050"/>
            <a:ext cx="31242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模型回复</a:t>
            </a:r>
            <a:endParaRPr sz="9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876300" y="4000500"/>
            <a:ext cx="3124200" cy="1047750"/>
          </a:xfrm>
        </p:spPr>
        <p:txBody>
          <a:bodyPr wrap="square" lIns="0" tIns="0" rIns="0" bIns="0" rtlCol="0" anchor="t"/>
          <a:lstStyle/>
          <a:p>
            <a:r>
              <a:rPr sz="115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The car is as fast as a bullet.</a:t>
            </a:r>
            <a:endParaRPr sz="115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876300" y="5486400"/>
            <a:ext cx="3124200" cy="285750"/>
          </a:xfrm>
          <a:prstGeom prst="round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876300" y="5543550"/>
            <a:ext cx="3124200" cy="190500"/>
          </a:xfrm>
        </p:spPr>
        <p:txBody>
          <a:bodyPr wrap="square" lIns="0" tIns="0" rIns="0" bIns="0" rtlCol="0" anchor="t"/>
          <a:lstStyle/>
          <a:p>
            <a:pPr algn="ctr"/>
            <a:r>
              <a:rPr sz="105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正确 · 比喻不同但成立</a:t>
            </a:r>
            <a:endParaRPr sz="105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4343400" y="1676400"/>
            <a:ext cx="3505200" cy="28575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9" name="Shape 19"/>
          <p:cNvSpPr/>
          <p:nvPr/>
        </p:nvSpPr>
        <p:spPr>
          <a:xfrm>
            <a:off x="4343400" y="1676400"/>
            <a:ext cx="3505200" cy="4343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4533900" y="180975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样本 02 · 事实问答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533900" y="2038350"/>
            <a:ext cx="3124200" cy="5334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What type of cloud is typically associated with thunderstorms?</a:t>
            </a:r>
            <a:endParaRPr sz="1150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4533900" y="2838450"/>
            <a:ext cx="3124200" cy="9525"/>
          </a:xfrm>
          <a:prstGeom prst="rect">
            <a:avLst/>
          </a:prstGeom>
          <a:solidFill>
            <a:srgbClr val="DFD7C8"/>
          </a:solidFill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4533900" y="2914650"/>
            <a:ext cx="31242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预期回复</a:t>
            </a:r>
            <a:endParaRPr sz="9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33900" y="3086100"/>
            <a:ext cx="3124200" cy="66675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The type of cloud typically associated with thunderstorms is </a:t>
            </a:r>
            <a:r>
              <a:rPr sz="1100" b="1">
                <a:solidFill>
                  <a:srgbClr val="2F5366"/>
                </a:solidFill>
                <a:latin typeface="Helvetica Neue" panose="02000503000000020004"/>
                <a:ea typeface="Helvetica Neue" panose="02000503000000020004"/>
              </a:rPr>
              <a:t>cumulonimbus</a:t>
            </a:r>
            <a:r>
              <a:rPr sz="1100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.</a:t>
            </a:r>
            <a:endParaRPr sz="1100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33900" y="3829050"/>
            <a:ext cx="31242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模型回复</a:t>
            </a:r>
            <a:endParaRPr sz="9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4533900" y="4000500"/>
            <a:ext cx="3124200" cy="104775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The type of cloud associated with thunderstorms is a </a:t>
            </a:r>
            <a:r>
              <a:rPr sz="11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cumulus</a:t>
            </a:r>
            <a:r>
              <a:rPr sz="1100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 cloud.</a:t>
            </a:r>
            <a:endParaRPr sz="1100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4533900" y="5486400"/>
            <a:ext cx="3124200" cy="28575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4533900" y="5543550"/>
            <a:ext cx="3124200" cy="190500"/>
          </a:xfrm>
        </p:spPr>
        <p:txBody>
          <a:bodyPr wrap="square" lIns="0" tIns="0" rIns="0" bIns="0" rtlCol="0" anchor="t"/>
          <a:lstStyle/>
          <a:p>
            <a:pPr algn="ctr"/>
            <a:r>
              <a:rPr sz="105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接近但不准确 · 积云 ≠ 积雨云</a:t>
            </a:r>
            <a:endParaRPr sz="105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Shape 29"/>
          <p:cNvSpPr/>
          <p:nvPr/>
        </p:nvSpPr>
        <p:spPr>
          <a:xfrm>
            <a:off x="8001000" y="1676400"/>
            <a:ext cx="3505200" cy="28575"/>
          </a:xfrm>
          <a:prstGeom prst="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30" name="Shape 30"/>
          <p:cNvSpPr/>
          <p:nvPr/>
        </p:nvSpPr>
        <p:spPr>
          <a:xfrm>
            <a:off x="8001000" y="1676400"/>
            <a:ext cx="3505200" cy="4343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8191500" y="180975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样本 03 · 作者问答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191500" y="2038350"/>
            <a:ext cx="3124200" cy="53340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Name the author of Pride and Prejudice.</a:t>
            </a:r>
            <a:endParaRPr sz="1200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3" name="Shape 33"/>
          <p:cNvSpPr/>
          <p:nvPr/>
        </p:nvSpPr>
        <p:spPr>
          <a:xfrm>
            <a:off x="8191500" y="2838450"/>
            <a:ext cx="3124200" cy="9525"/>
          </a:xfrm>
          <a:prstGeom prst="rect">
            <a:avLst/>
          </a:prstGeom>
          <a:solidFill>
            <a:srgbClr val="DFD7C8"/>
          </a:solidFill>
        </p:spPr>
        <p:txBody>
          <a:bodyPr wrap="square" rtlCol="0"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8191500" y="2914650"/>
            <a:ext cx="31242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预期回复</a:t>
            </a:r>
            <a:endParaRPr sz="9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8191500" y="3086100"/>
            <a:ext cx="3124200" cy="66675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Jane Austen.</a:t>
            </a:r>
            <a:endParaRPr sz="1150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8191500" y="3829050"/>
            <a:ext cx="31242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模型回复</a:t>
            </a:r>
            <a:endParaRPr sz="9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8191500" y="4000500"/>
            <a:ext cx="3124200" cy="1047750"/>
          </a:xfrm>
        </p:spPr>
        <p:txBody>
          <a:bodyPr wrap="square" lIns="0" tIns="0" rIns="0" bIns="0" rtlCol="0" anchor="t"/>
          <a:lstStyle/>
          <a:p>
            <a:r>
              <a:rPr sz="115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The author of Pride and Prejudice is Jane Austen.</a:t>
            </a:r>
            <a:endParaRPr sz="115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8191500" y="5486400"/>
            <a:ext cx="3124200" cy="285750"/>
          </a:xfrm>
          <a:prstGeom prst="round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8191500" y="5543550"/>
            <a:ext cx="3124200" cy="190500"/>
          </a:xfrm>
        </p:spPr>
        <p:txBody>
          <a:bodyPr wrap="square" lIns="0" tIns="0" rIns="0" bIns="0" rtlCol="0" anchor="t"/>
          <a:lstStyle/>
          <a:p>
            <a:pPr algn="ctr"/>
            <a:r>
              <a:rPr sz="105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完全正确</a:t>
            </a:r>
            <a:endParaRPr sz="105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18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7.8  评估方法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三种评估路线，选一种能落地的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知识、偏好、对话质量是三件不同的事；本书聚焦对话性能。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76400"/>
            <a:ext cx="3505200" cy="24003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76300" y="1809750"/>
            <a:ext cx="5715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2095500"/>
            <a:ext cx="3124200" cy="285750"/>
          </a:xfrm>
        </p:spPr>
        <p:txBody>
          <a:bodyPr wrap="square" lIns="0" tIns="0" rIns="0" bIns="0" rtlCol="0" anchor="t"/>
          <a:lstStyle/>
          <a:p>
            <a:r>
              <a:rPr sz="19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MMLU</a:t>
            </a:r>
            <a:endParaRPr sz="19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6300" y="238125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多项选择 · 综合知识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6300" y="2667000"/>
            <a:ext cx="3124200" cy="60960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多学科选择题基准，用准确率衡量模型“知道多少”。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876300" y="3352800"/>
            <a:ext cx="3124200" cy="9525"/>
          </a:xfrm>
          <a:prstGeom prst="rect">
            <a:avLst/>
          </a:prstGeom>
          <a:solidFill>
            <a:srgbClr val="DFD7C8"/>
          </a:solidFill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876300" y="346710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强项  知识广度</a:t>
            </a:r>
            <a:endParaRPr sz="105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76300" y="369570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盲区  看不出对话质量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4343400" y="1676400"/>
            <a:ext cx="3505200" cy="24003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4533900" y="1809750"/>
            <a:ext cx="5715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4533900" y="2095500"/>
            <a:ext cx="3124200" cy="285750"/>
          </a:xfrm>
        </p:spPr>
        <p:txBody>
          <a:bodyPr wrap="square" lIns="0" tIns="0" rIns="0" bIns="0" rtlCol="0" anchor="t"/>
          <a:lstStyle/>
          <a:p>
            <a:r>
              <a:rPr sz="17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Chatbot Arena</a:t>
            </a:r>
            <a:endParaRPr sz="17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533900" y="238125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人类偏好 · 两两对战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533900" y="2667000"/>
            <a:ext cx="3124200" cy="60960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真实用户盲测两个模型的回答，按偏好形成排名。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Shape 19"/>
          <p:cNvSpPr/>
          <p:nvPr/>
        </p:nvSpPr>
        <p:spPr>
          <a:xfrm>
            <a:off x="4533900" y="3352800"/>
            <a:ext cx="3124200" cy="9525"/>
          </a:xfrm>
          <a:prstGeom prst="rect">
            <a:avLst/>
          </a:prstGeom>
          <a:solidFill>
            <a:srgbClr val="DFD7C8"/>
          </a:solidFill>
        </p:spPr>
        <p:txBody>
          <a:bodyPr wrap="square" rtlCol="0"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4533900" y="346710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强项  真实人类偏好</a:t>
            </a:r>
            <a:endParaRPr sz="105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533900" y="369570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盲区  成本高，难复现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8001000" y="1676400"/>
            <a:ext cx="3505200" cy="24003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8191500" y="1809750"/>
            <a:ext cx="5715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8191500" y="2095500"/>
            <a:ext cx="3124200" cy="285750"/>
          </a:xfrm>
        </p:spPr>
        <p:txBody>
          <a:bodyPr wrap="square" lIns="0" tIns="0" rIns="0" bIns="0" rtlCol="0" anchor="t"/>
          <a:lstStyle/>
          <a:p>
            <a:r>
              <a:rPr sz="17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AlpacaEval</a:t>
            </a:r>
            <a:endParaRPr sz="1700" b="1">
              <a:solidFill>
                <a:srgbClr val="1B212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8191500" y="238125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LLM 裁判 · 自动评分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8191500" y="2667000"/>
            <a:ext cx="3124200" cy="60960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用更强的模型按标准给回复打分，替代人工批量评估。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8191500" y="3352800"/>
            <a:ext cx="3124200" cy="9525"/>
          </a:xfrm>
          <a:prstGeom prst="rect">
            <a:avLst/>
          </a:prstGeom>
          <a:solidFill>
            <a:srgbClr val="DFD7C8"/>
          </a:solidFill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8191500" y="346710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2F5366"/>
                </a:solidFill>
                <a:latin typeface="PingFang SC" panose="020B0400000000000000" charset="-122"/>
                <a:ea typeface="PingFang SC" panose="020B0400000000000000" charset="-122"/>
              </a:rPr>
              <a:t>强项  快、便宜、可复现</a:t>
            </a:r>
            <a:endParaRPr sz="1050" b="1">
              <a:solidFill>
                <a:srgbClr val="2F536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191500" y="3695700"/>
            <a:ext cx="31242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盲区  裁判本身可能有偏差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685800" y="4305300"/>
            <a:ext cx="7010400" cy="1790700"/>
          </a:xfrm>
          <a:prstGeom prst="roundRect">
            <a:avLst/>
          </a:prstGeom>
          <a:solidFill>
            <a:srgbClr val="11171B"/>
          </a:solidFill>
        </p:spPr>
        <p:txBody>
          <a:bodyPr wrap="square" rtlCol="0"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914400" y="4476750"/>
            <a:ext cx="38100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本书的选择</a:t>
            </a:r>
            <a:endParaRPr sz="10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14400" y="4667250"/>
            <a:ext cx="6477000" cy="304800"/>
          </a:xfrm>
        </p:spPr>
        <p:txBody>
          <a:bodyPr wrap="square" lIns="0" tIns="0" rIns="0" bIns="0" rtlCol="0" anchor="t"/>
          <a:lstStyle/>
          <a:p>
            <a:r>
              <a:rPr sz="200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AlpacaEval 式自动评分</a:t>
            </a:r>
            <a:endParaRPr sz="200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914400" y="5124450"/>
            <a:ext cx="6477000" cy="22860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E8E2D6"/>
                </a:solidFill>
                <a:latin typeface="PingFang SC" panose="020B0400000000000000" charset="-122"/>
                <a:ea typeface="PingFang SC" panose="020B0400000000000000" charset="-122"/>
              </a:rPr>
              <a:t>① 自定义测试集：就用前面 110 条测试指令</a:t>
            </a:r>
            <a:endParaRPr sz="1200">
              <a:solidFill>
                <a:srgbClr val="E8E2D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914400" y="5410200"/>
            <a:ext cx="6477000" cy="22860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E8E2D6"/>
                </a:solidFill>
                <a:latin typeface="PingFang SC" panose="020B0400000000000000" charset="-122"/>
                <a:ea typeface="PingFang SC" panose="020B0400000000000000" charset="-122"/>
              </a:rPr>
              <a:t>② 裁判模型：本地运行的 Llama 3 8B</a:t>
            </a:r>
            <a:endParaRPr sz="1200">
              <a:solidFill>
                <a:srgbClr val="E8E2D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914400" y="5695950"/>
            <a:ext cx="6477000" cy="22860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E8E2D6"/>
                </a:solidFill>
                <a:latin typeface="PingFang SC" panose="020B0400000000000000" charset="-122"/>
                <a:ea typeface="PingFang SC" panose="020B0400000000000000" charset="-122"/>
              </a:rPr>
              <a:t>③ 输出：0–100 分，可批量、可重跑</a:t>
            </a:r>
            <a:endParaRPr sz="1200">
              <a:solidFill>
                <a:srgbClr val="E8E2D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Shape 36"/>
          <p:cNvSpPr/>
          <p:nvPr/>
        </p:nvSpPr>
        <p:spPr>
          <a:xfrm>
            <a:off x="7886700" y="4305300"/>
            <a:ext cx="3619500" cy="17907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8115300" y="4476750"/>
            <a:ext cx="3162300" cy="209550"/>
          </a:xfrm>
        </p:spPr>
        <p:txBody>
          <a:bodyPr wrap="square" lIns="0" tIns="0" rIns="0" bIns="0" rtlCol="0" anchor="t"/>
          <a:lstStyle/>
          <a:p>
            <a:r>
              <a:rPr sz="1250" b="1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为什么不逐条人工打分</a:t>
            </a:r>
            <a:endParaRPr sz="1250" b="1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8115300" y="4762500"/>
            <a:ext cx="3162300" cy="8763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为 1100 条回复逐一阅读打分，成本高、速度慢；自动评分牺牲一点精度，换来规模与可复现性。</a:t>
            </a:r>
            <a:endParaRPr sz="115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8115300" y="5695950"/>
            <a:ext cx="3162300" cy="1905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人类评估仍是金标准，只是不适合这个规模。</a:t>
            </a:r>
            <a:endParaRPr sz="95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19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7.7  抽取并保存模型回复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把回答取出来，存成可评估的数据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generate 会连输入一起返回；先切掉输入前缀，再去掉响应标记。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76400"/>
            <a:ext cx="6858000" cy="35814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809750"/>
            <a:ext cx="47625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代码清单 7-9 · 生成测试集上的回复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2019300"/>
            <a:ext cx="6400800" cy="3095625"/>
          </a:xfrm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for i, entry in tqdm(enumerate(test_data)):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input_text = format_input(entry)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token_ids = generate(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model=model,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idx=text_to_token_ids(input_text, tokenizer).to(device),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 b="1">
                <a:solidFill>
                  <a:srgbClr val="E8A87C"/>
                </a:solidFill>
                <a:latin typeface="Menlo" panose="020B0609030804020204"/>
                <a:ea typeface="Menlo" panose="020B0609030804020204"/>
              </a:rPr>
              <a:t>        max_new_tokens=256,</a:t>
            </a:r>
            <a:endParaRPr sz="1200" b="1">
              <a:solidFill>
                <a:srgbClr val="E8A87C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context_size=BASE_CONFIG["context_length"], eos_id=50256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)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generated_text = token_ids_to_text(token_ids, tokenizer)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response_text = generated_text[len(input_text):]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response_text = response_text.replace("### Response:", "").strip()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test_data[i]["model_response"] = response_text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with open("instruction-data-with-response.json", "w") as file: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2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json.dump(test_data, file, indent=4)</a:t>
            </a:r>
            <a:endParaRPr sz="12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7734300" y="1714500"/>
            <a:ext cx="381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153400" y="1714500"/>
            <a:ext cx="3352800" cy="198120"/>
          </a:xfrm>
        </p:spPr>
        <p:txBody>
          <a:bodyPr wrap="square" lIns="0" tIns="0" rIns="0" bIns="0" rtlCol="0" anchor="t"/>
          <a:lstStyle/>
          <a:p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生成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153400" y="1924050"/>
            <a:ext cx="3352800" cy="2095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max_new_tokens=256，给足回答长度。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7734300" y="2266950"/>
            <a:ext cx="381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153400" y="2266950"/>
            <a:ext cx="3352800" cy="198120"/>
          </a:xfrm>
        </p:spPr>
        <p:txBody>
          <a:bodyPr wrap="square" lIns="0" tIns="0" rIns="0" bIns="0" rtlCol="0" anchor="t"/>
          <a:lstStyle/>
          <a:p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截断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153400" y="2476500"/>
            <a:ext cx="3352800" cy="20955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Menlo" panose="020B0609030804020204"/>
                <a:ea typeface="Menlo" panose="020B0609030804020204"/>
              </a:rPr>
              <a:t>generated_text[len(input_text):]</a:t>
            </a:r>
            <a:endParaRPr sz="1000">
              <a:solidFill>
                <a:srgbClr val="8A817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734300" y="2819400"/>
            <a:ext cx="381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153400" y="2819400"/>
            <a:ext cx="3352800" cy="198120"/>
          </a:xfrm>
        </p:spPr>
        <p:txBody>
          <a:bodyPr wrap="square" lIns="0" tIns="0" rIns="0" bIns="0" rtlCol="0" anchor="t"/>
          <a:lstStyle/>
          <a:p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清洗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153400" y="3028950"/>
            <a:ext cx="3352800" cy="2095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移除 “### Response:”，再去掉首尾空白。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734300" y="3371850"/>
            <a:ext cx="381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04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153400" y="3371850"/>
            <a:ext cx="3352800" cy="198120"/>
          </a:xfrm>
        </p:spPr>
        <p:txBody>
          <a:bodyPr wrap="square" lIns="0" tIns="0" rIns="0" bIns="0" rtlCol="0" anchor="t"/>
          <a:lstStyle/>
          <a:p>
            <a:r>
              <a:rPr sz="13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落盘</a:t>
            </a:r>
            <a:endParaRPr sz="13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153400" y="3581400"/>
            <a:ext cx="3352800" cy="2095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写入 JSON，供评估脚本直接读取。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7734300" y="4057650"/>
            <a:ext cx="3771900" cy="120015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7962900" y="4191000"/>
            <a:ext cx="3314700" cy="19050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test_data[0] 多了什么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7962900" y="4419600"/>
            <a:ext cx="3314700" cy="723900"/>
          </a:xfrm>
        </p:spPr>
        <p:txBody>
          <a:bodyPr wrap="square" lIns="0" tIns="0" rIns="0" bIns="0" rtlCol="0" anchor="t"/>
          <a:lstStyle/>
          <a:p>
            <a:pPr>
              <a:lnSpc>
                <a:spcPct val="118000"/>
              </a:lnSpc>
            </a:pPr>
            <a:r>
              <a:rPr sz="105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"model_response":</a:t>
            </a:r>
            <a:endParaRPr sz="105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</a:pPr>
            <a:r>
              <a:rPr sz="105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  "The car is as fast as a bullet."</a:t>
            </a:r>
            <a:endParaRPr sz="105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18000"/>
              </a:lnSpc>
            </a:pPr>
            <a:r>
              <a:rPr sz="9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原句比喻是 as fast as lightning。</a:t>
            </a:r>
            <a:endParaRPr sz="9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685800" y="5410200"/>
            <a:ext cx="10820400" cy="723900"/>
          </a:xfrm>
          <a:prstGeom prst="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685800" y="5410200"/>
            <a:ext cx="38100" cy="723900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914400" y="5524500"/>
            <a:ext cx="1143000" cy="190500"/>
          </a:xfrm>
        </p:spPr>
        <p:txBody>
          <a:bodyPr wrap="square" lIns="0" tIns="0" rIns="0" bIns="0" rtlCol="0" anchor="t"/>
          <a:lstStyle/>
          <a:p>
            <a:r>
              <a:rPr sz="11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保存权重</a:t>
            </a:r>
            <a:endParaRPr sz="11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14400" y="5734050"/>
            <a:ext cx="6667500" cy="22860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torch.save(model.state_dict(), "gpt2-medium355M-sft.pth")</a:t>
            </a:r>
            <a:endParaRPr sz="1100">
              <a:solidFill>
                <a:srgbClr val="1B2126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096250" y="5600700"/>
            <a:ext cx="3181350" cy="247650"/>
          </a:xfrm>
        </p:spPr>
        <p:txBody>
          <a:bodyPr wrap="square" lIns="0" tIns="0" rIns="0" bIns="0" rtlCol="0" anchor="t"/>
          <a:lstStyle/>
          <a:p>
            <a:pPr algn="r"/>
            <a:r>
              <a:rPr sz="11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A100 ≈ 1 分钟    ·    M3 ≈ 6 分钟</a:t>
            </a:r>
            <a:endParaRPr sz="11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096250" y="5848350"/>
            <a:ext cx="318135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110 / 110 条测试样本</a:t>
            </a:r>
            <a:endParaRPr sz="9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17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7.8  自动评分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请一个本地裁判：Llama 3 8B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Ollama 负责跑模型，Python 通过 REST API 逐条要分。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76400"/>
            <a:ext cx="5334000" cy="1428750"/>
          </a:xfrm>
          <a:prstGeom prst="roundRect">
            <a:avLst/>
          </a:prstGeom>
          <a:solidFill>
            <a:srgbClr val="11171B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809750"/>
            <a:ext cx="4762500" cy="17145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Menlo" panose="020B0609030804020204"/>
                <a:ea typeface="Menlo" panose="020B0609030804020204"/>
              </a:rPr>
              <a:t>$ terminal</a:t>
            </a:r>
            <a:endParaRPr sz="1000">
              <a:solidFill>
                <a:srgbClr val="8A8172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2019300"/>
            <a:ext cx="4876800" cy="952500"/>
          </a:xfrm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sz="1300" b="1">
                <a:solidFill>
                  <a:srgbClr val="F6F3EC"/>
                </a:solidFill>
                <a:latin typeface="Menlo" panose="020B0609030804020204"/>
                <a:ea typeface="Menlo" panose="020B0609030804020204"/>
              </a:rPr>
              <a:t>ollama run llama3</a:t>
            </a:r>
            <a:endParaRPr sz="1300" b="1">
              <a:solidFill>
                <a:srgbClr val="F6F3EC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A39A89"/>
                </a:solidFill>
                <a:latin typeface="Menlo" panose="020B0609030804020204"/>
                <a:ea typeface="Menlo" panose="020B0609030804020204"/>
              </a:rPr>
              <a:t>pulling 6a0746a1ec1a... 100%  | 4.7 GB</a:t>
            </a:r>
            <a:endParaRPr sz="1050">
              <a:solidFill>
                <a:srgbClr val="A39A89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A39A89"/>
                </a:solidFill>
                <a:latin typeface="Menlo" panose="020B0609030804020204"/>
                <a:ea typeface="Menlo" panose="020B0609030804020204"/>
              </a:rPr>
              <a:t>success</a:t>
            </a:r>
            <a:endParaRPr sz="1050">
              <a:solidFill>
                <a:srgbClr val="A39A89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35000"/>
              </a:lnSpc>
            </a:pPr>
            <a:r>
              <a:rPr sz="1050">
                <a:solidFill>
                  <a:srgbClr val="E8A87C"/>
                </a:solidFill>
                <a:latin typeface="Menlo" panose="020B0609030804020204"/>
                <a:ea typeface="Menlo" panose="020B0609030804020204"/>
              </a:rPr>
              <a:t># 保持 ollama serve 运行</a:t>
            </a:r>
            <a:endParaRPr sz="1050">
              <a:solidFill>
                <a:srgbClr val="E8A87C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9" name="Shape 9"/>
          <p:cNvSpPr/>
          <p:nvPr/>
        </p:nvSpPr>
        <p:spPr>
          <a:xfrm>
            <a:off x="6210300" y="1676400"/>
            <a:ext cx="2552700" cy="142875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6438900" y="1809750"/>
            <a:ext cx="20955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模型体积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438900" y="2000250"/>
            <a:ext cx="2095500" cy="548640"/>
          </a:xfrm>
        </p:spPr>
        <p:txBody>
          <a:bodyPr wrap="square" lIns="0" tIns="0" rIns="0" bIns="0" rtlCol="0" anchor="t"/>
          <a:lstStyle/>
          <a:p>
            <a:r>
              <a:rPr sz="36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4.7</a:t>
            </a:r>
            <a:r>
              <a:rPr sz="13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 GB</a:t>
            </a:r>
            <a:endParaRPr sz="13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6438900" y="2552700"/>
            <a:ext cx="2095500" cy="38100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Llama 3 8B 指令版，首次运行自动下载。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Shape 13"/>
          <p:cNvSpPr/>
          <p:nvPr/>
        </p:nvSpPr>
        <p:spPr>
          <a:xfrm>
            <a:off x="8953500" y="1676400"/>
            <a:ext cx="2552700" cy="142875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9182100" y="1809750"/>
            <a:ext cx="20955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运行内存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182100" y="2000250"/>
            <a:ext cx="2095500" cy="548640"/>
          </a:xfrm>
        </p:spPr>
        <p:txBody>
          <a:bodyPr wrap="square" lIns="0" tIns="0" rIns="0" bIns="0" rtlCol="0" anchor="t"/>
          <a:lstStyle/>
          <a:p>
            <a:r>
              <a:rPr sz="3600" b="1">
                <a:solidFill>
                  <a:srgbClr val="1B2126"/>
                </a:solidFill>
                <a:latin typeface="Helvetica Neue" panose="02000503000000020004"/>
                <a:ea typeface="Helvetica Neue" panose="02000503000000020004"/>
              </a:rPr>
              <a:t>16</a:t>
            </a:r>
            <a:r>
              <a:rPr sz="13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 GB</a:t>
            </a:r>
            <a:endParaRPr sz="13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182100" y="2552700"/>
            <a:ext cx="2095500" cy="38100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不够就换 phi3：3.8B 参数，约 8 GB。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Shape 17"/>
          <p:cNvSpPr/>
          <p:nvPr/>
        </p:nvSpPr>
        <p:spPr>
          <a:xfrm>
            <a:off x="685800" y="3276600"/>
            <a:ext cx="5334000" cy="2019300"/>
          </a:xfrm>
          <a:prstGeom prst="roundRect">
            <a:avLst/>
          </a:prstGeom>
          <a:solidFill>
            <a:srgbClr val="1C2429"/>
          </a:solidFill>
        </p:spPr>
        <p:txBody>
          <a:bodyPr wrap="square" rtlCol="0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914400" y="3409950"/>
            <a:ext cx="4762500" cy="17145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代码清单 7-10 · 请求体字段</a:t>
            </a:r>
            <a:endParaRPr sz="10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4400" y="3638550"/>
            <a:ext cx="4876800" cy="1476375"/>
          </a:xfrm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"model": "llama3",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"messages": [{"role": "user",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            "content": prompt}],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"options": {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20000"/>
              </a:lnSpc>
            </a:pPr>
            <a:r>
              <a:rPr sz="1000">
                <a:solidFill>
                  <a:srgbClr val="E8E2D6"/>
                </a:solidFill>
                <a:latin typeface="Menlo" panose="020B0609030804020204"/>
                <a:ea typeface="Menlo" panose="020B0609030804020204"/>
              </a:rPr>
              <a:t>  "seed": 123, "temperature": 0,</a:t>
            </a:r>
            <a:endParaRPr sz="1000">
              <a:solidFill>
                <a:srgbClr val="E8E2D6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20000"/>
              </a:lnSpc>
            </a:pPr>
            <a:r>
              <a:rPr sz="1000" b="1">
                <a:solidFill>
                  <a:srgbClr val="E8A87C"/>
                </a:solidFill>
                <a:latin typeface="Menlo" panose="020B0609030804020204"/>
                <a:ea typeface="Menlo" panose="020B0609030804020204"/>
              </a:rPr>
              <a:t>  "num_ctx": 2048</a:t>
            </a:r>
            <a:endParaRPr sz="1000" b="1">
              <a:solidFill>
                <a:srgbClr val="E8A87C"/>
              </a:solidFill>
              <a:latin typeface="Menlo" panose="020B0609030804020204"/>
              <a:ea typeface="Menlo" panose="020B0609030804020204"/>
            </a:endParaRPr>
          </a:p>
          <a:p>
            <a:pPr>
              <a:lnSpc>
                <a:spcPct val="120000"/>
              </a:lnSpc>
            </a:pPr>
            <a:r>
              <a:rPr sz="1000" b="1">
                <a:solidFill>
                  <a:srgbClr val="E8A87C"/>
                </a:solidFill>
                <a:latin typeface="Menlo" panose="020B0609030804020204"/>
                <a:ea typeface="Menlo" panose="020B0609030804020204"/>
              </a:rPr>
              <a:t>}</a:t>
            </a:r>
            <a:endParaRPr sz="1000" b="1">
              <a:solidFill>
                <a:srgbClr val="E8A87C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4400" y="5143500"/>
            <a:ext cx="4876800" cy="152400"/>
          </a:xfrm>
        </p:spPr>
        <p:txBody>
          <a:bodyPr wrap="square" lIns="0" tIns="0" rIns="0" bIns="0" rtlCol="0" anchor="t"/>
          <a:lstStyle/>
          <a:p>
            <a:r>
              <a:rPr sz="90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POST 后逐行读取流式回复，拼成完整文本。</a:t>
            </a:r>
            <a:endParaRPr sz="90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6210300" y="3276600"/>
            <a:ext cx="5295900" cy="20193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6438900" y="3409950"/>
            <a:ext cx="4762500" cy="17145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评分提示词（只收整数）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438900" y="3638550"/>
            <a:ext cx="4838700" cy="1143000"/>
          </a:xfrm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sz="1100">
                <a:solidFill>
                  <a:srgbClr val="1B2126"/>
                </a:solidFill>
                <a:latin typeface="Menlo" panose="020B0609030804020204"/>
                <a:ea typeface="Menlo" panose="020B0609030804020204"/>
              </a:rPr>
              <a:t>Given the input `{format_input(entry)}` and correct output `{entry['output']}`, score the model response `{entry[json_key]}` on a scale from 0 to 100, where 100 is the best score. </a:t>
            </a:r>
            <a:r>
              <a:rPr sz="1100" b="1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Respond with the integer number only.</a:t>
            </a:r>
            <a:endParaRPr sz="1100" b="1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438900" y="4895850"/>
            <a:ext cx="4838700" cy="2667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解析：score = int(score)，失败则跳过该条。</a:t>
            </a:r>
            <a:endParaRPr sz="9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Shape 25"/>
          <p:cNvSpPr/>
          <p:nvPr/>
        </p:nvSpPr>
        <p:spPr>
          <a:xfrm>
            <a:off x="685800" y="5467350"/>
            <a:ext cx="10820400" cy="666750"/>
          </a:xfrm>
          <a:prstGeom prst="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6" name="Shape 26"/>
          <p:cNvSpPr/>
          <p:nvPr/>
        </p:nvSpPr>
        <p:spPr>
          <a:xfrm>
            <a:off x="685800" y="5467350"/>
            <a:ext cx="38100" cy="666750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914400" y="5581650"/>
            <a:ext cx="1619250" cy="190500"/>
          </a:xfrm>
        </p:spPr>
        <p:txBody>
          <a:bodyPr wrap="square" lIns="0" tIns="0" rIns="0" bIns="0" rtlCol="0" anchor="t"/>
          <a:lstStyle/>
          <a:p>
            <a:r>
              <a:rPr sz="11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可复现性</a:t>
            </a:r>
            <a:endParaRPr sz="11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14400" y="5791200"/>
            <a:ext cx="8572500" cy="22860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温度 0 + 固定 seed，结果仍可能随风版本变化；评分只用于横向参考。</a:t>
            </a:r>
            <a:endParaRPr sz="11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525000" y="5619750"/>
            <a:ext cx="1752600" cy="342900"/>
          </a:xfrm>
        </p:spPr>
        <p:txBody>
          <a:bodyPr wrap="square" lIns="0" tIns="0" rIns="0" bIns="0" rtlCol="0" anchor="t"/>
          <a:lstStyle/>
          <a:p>
            <a:pPr algn="r"/>
            <a:r>
              <a:rPr sz="1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110 条 ≈ 1 分钟</a:t>
            </a:r>
            <a:endParaRPr sz="1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  <a:p>
            <a:pPr algn="r"/>
            <a:r>
              <a:rPr sz="9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M3 MacBook Air</a:t>
            </a:r>
            <a:endParaRPr sz="9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20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7.8  评估结果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50.32 分：及格线以上的起点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110 条全部打分；均分超过 50，但离参考模型仍有距离。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76400"/>
            <a:ext cx="3810000" cy="2381250"/>
          </a:xfrm>
          <a:prstGeom prst="roundRect">
            <a:avLst/>
          </a:prstGeom>
          <a:solidFill>
            <a:srgbClr val="11171B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847850"/>
            <a:ext cx="32385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平均分 · 110 / 110 条</a:t>
            </a:r>
            <a:endParaRPr sz="10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2076450"/>
            <a:ext cx="3352800" cy="944880"/>
          </a:xfrm>
        </p:spPr>
        <p:txBody>
          <a:bodyPr wrap="square" lIns="0" tIns="0" rIns="0" bIns="0" rtlCol="0" anchor="t"/>
          <a:lstStyle/>
          <a:p>
            <a:r>
              <a:rPr sz="6200" b="1">
                <a:solidFill>
                  <a:srgbClr val="F6F3EC"/>
                </a:solidFill>
                <a:latin typeface="Helvetica Neue" panose="02000503000000020004"/>
                <a:ea typeface="Helvetica Neue" panose="02000503000000020004"/>
              </a:rPr>
              <a:t>50.32</a:t>
            </a:r>
            <a:r>
              <a:rPr sz="150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  / 100</a:t>
            </a:r>
            <a:endParaRPr sz="150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3048000"/>
            <a:ext cx="3352800" cy="19050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E8E2D6"/>
                </a:solidFill>
                <a:latin typeface="PingFang SC" panose="020B0400000000000000" charset="-122"/>
                <a:ea typeface="PingFang SC" panose="020B0400000000000000" charset="-122"/>
              </a:rPr>
              <a:t>前三条样本：85 / 40 / 95</a:t>
            </a:r>
            <a:endParaRPr sz="1100">
              <a:solidFill>
                <a:srgbClr val="E8E2D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914400" y="3314700"/>
            <a:ext cx="3352800" cy="9525"/>
          </a:xfrm>
          <a:prstGeom prst="rect">
            <a:avLst/>
          </a:prstGeom>
          <a:solidFill>
            <a:srgbClr val="3A444A"/>
          </a:solidFill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914400" y="3409950"/>
            <a:ext cx="3352800" cy="533400"/>
          </a:xfrm>
        </p:spPr>
        <p:txBody>
          <a:bodyPr wrap="square" lIns="0" tIns="0" rIns="0" bIns="0" rtlCol="0" anchor="t"/>
          <a:lstStyle/>
          <a:p>
            <a:r>
              <a:rPr sz="100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Ollama 评分并非完全确定；重复多次取均值，结果更可靠。</a:t>
            </a:r>
            <a:endParaRPr sz="100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2" name="Shape 12"/>
          <p:cNvSpPr/>
          <p:nvPr/>
        </p:nvSpPr>
        <p:spPr>
          <a:xfrm>
            <a:off x="4762500" y="1676400"/>
            <a:ext cx="6743700" cy="23812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4991100" y="1809750"/>
            <a:ext cx="47625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同一测试集上的参照（0–100）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991100" y="2038350"/>
            <a:ext cx="4953000" cy="190500"/>
          </a:xfrm>
        </p:spPr>
        <p:txBody>
          <a:bodyPr wrap="square" lIns="0" tIns="0" rIns="0" bIns="0" rtlCol="0" anchor="t"/>
          <a:lstStyle/>
          <a:p>
            <a:r>
              <a:rPr sz="11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GPT-2 medium + SFT（本模型）</a:t>
            </a:r>
            <a:endParaRPr sz="11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096500" y="2019300"/>
            <a:ext cx="11811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2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50.32</a:t>
            </a:r>
            <a:endParaRPr sz="12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4991100" y="2266950"/>
            <a:ext cx="6286500" cy="13335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17" name="Shape 17"/>
          <p:cNvSpPr/>
          <p:nvPr/>
        </p:nvSpPr>
        <p:spPr>
          <a:xfrm>
            <a:off x="4991100" y="2266950"/>
            <a:ext cx="3162300" cy="13335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4991100" y="2724150"/>
            <a:ext cx="4953000" cy="1905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Llama 3-8B 基础模型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096500" y="2705100"/>
            <a:ext cx="11811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200" b="1">
                <a:solidFill>
                  <a:srgbClr val="2F5366"/>
                </a:solidFill>
                <a:latin typeface="Helvetica Neue" panose="02000503000000020004"/>
                <a:ea typeface="Helvetica Neue" panose="02000503000000020004"/>
              </a:rPr>
              <a:t>58.51</a:t>
            </a:r>
            <a:endParaRPr sz="1200" b="1">
              <a:solidFill>
                <a:srgbClr val="2F536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Shape 20"/>
          <p:cNvSpPr/>
          <p:nvPr/>
        </p:nvSpPr>
        <p:spPr>
          <a:xfrm>
            <a:off x="4991100" y="2952750"/>
            <a:ext cx="6286500" cy="13335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1" name="Shape 21"/>
          <p:cNvSpPr/>
          <p:nvPr/>
        </p:nvSpPr>
        <p:spPr>
          <a:xfrm>
            <a:off x="4991100" y="2952750"/>
            <a:ext cx="3676650" cy="133350"/>
          </a:xfrm>
          <a:prstGeom prst="round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4991100" y="3371850"/>
            <a:ext cx="4953000" cy="1905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Llama 3-8B 指令模型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0096500" y="3352800"/>
            <a:ext cx="1181100" cy="209550"/>
          </a:xfrm>
        </p:spPr>
        <p:txBody>
          <a:bodyPr wrap="square" lIns="0" tIns="0" rIns="0" bIns="0" rtlCol="0" anchor="t"/>
          <a:lstStyle/>
          <a:p>
            <a:pPr algn="r"/>
            <a:r>
              <a:rPr sz="1200" b="1">
                <a:solidFill>
                  <a:srgbClr val="2F5366"/>
                </a:solidFill>
                <a:latin typeface="Helvetica Neue" panose="02000503000000020004"/>
                <a:ea typeface="Helvetica Neue" panose="02000503000000020004"/>
              </a:rPr>
              <a:t>82.6</a:t>
            </a:r>
            <a:endParaRPr sz="1200" b="1">
              <a:solidFill>
                <a:srgbClr val="2F536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" name="Shape 24"/>
          <p:cNvSpPr/>
          <p:nvPr/>
        </p:nvSpPr>
        <p:spPr>
          <a:xfrm>
            <a:off x="4991100" y="3600450"/>
            <a:ext cx="6286500" cy="13335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5" name="Shape 25"/>
          <p:cNvSpPr/>
          <p:nvPr/>
        </p:nvSpPr>
        <p:spPr>
          <a:xfrm>
            <a:off x="4991100" y="3600450"/>
            <a:ext cx="5191125" cy="133350"/>
          </a:xfrm>
          <a:prstGeom prst="roundRect">
            <a:avLst/>
          </a:prstGeom>
          <a:solidFill>
            <a:srgbClr val="2F5366"/>
          </a:solidFill>
        </p:spPr>
        <p:txBody>
          <a:bodyPr wrap="square" rtlCol="0"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4991100" y="3790950"/>
            <a:ext cx="5715000" cy="171450"/>
          </a:xfrm>
        </p:spPr>
        <p:txBody>
          <a:bodyPr wrap="square" lIns="0" tIns="0" rIns="0" bIns="0" rtlCol="0" anchor="t"/>
          <a:lstStyle/>
          <a:p>
            <a:r>
              <a:rPr sz="90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后两者为书中脚注给出的同测试集参考值。</a:t>
            </a:r>
            <a:endParaRPr sz="90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7" name="Shape 27"/>
          <p:cNvSpPr/>
          <p:nvPr/>
        </p:nvSpPr>
        <p:spPr>
          <a:xfrm>
            <a:off x="685800" y="4286250"/>
            <a:ext cx="4000500" cy="180975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914400" y="4419600"/>
            <a:ext cx="3429000" cy="19050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三条样本的分数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14400" y="4743450"/>
            <a:ext cx="100965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比喻改写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914400" y="4933950"/>
            <a:ext cx="1009650" cy="411480"/>
          </a:xfrm>
        </p:spPr>
        <p:txBody>
          <a:bodyPr wrap="square" lIns="0" tIns="0" rIns="0" bIns="0" rtlCol="0" anchor="t"/>
          <a:lstStyle/>
          <a:p>
            <a:r>
              <a:rPr sz="2700" b="1">
                <a:solidFill>
                  <a:srgbClr val="2F5366"/>
                </a:solidFill>
                <a:latin typeface="Helvetica Neue" panose="02000503000000020004"/>
                <a:ea typeface="Helvetica Neue" panose="02000503000000020004"/>
              </a:rPr>
              <a:t>85</a:t>
            </a:r>
            <a:endParaRPr sz="2700" b="1">
              <a:solidFill>
                <a:srgbClr val="2F536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914400" y="5353050"/>
            <a:ext cx="1009650" cy="171450"/>
          </a:xfrm>
        </p:spPr>
        <p:txBody>
          <a:bodyPr wrap="square" lIns="0" tIns="0" rIns="0" bIns="0" rtlCol="0" anchor="t"/>
          <a:lstStyle/>
          <a:p>
            <a:r>
              <a:rPr sz="9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意象不同但成立</a:t>
            </a:r>
            <a:endParaRPr sz="9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2057400" y="4743450"/>
            <a:ext cx="100965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积雨云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2057400" y="4933950"/>
            <a:ext cx="1009650" cy="411480"/>
          </a:xfrm>
        </p:spPr>
        <p:txBody>
          <a:bodyPr wrap="square" lIns="0" tIns="0" rIns="0" bIns="0" rtlCol="0" anchor="t"/>
          <a:lstStyle/>
          <a:p>
            <a:r>
              <a:rPr sz="27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40</a:t>
            </a:r>
            <a:endParaRPr sz="27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2057400" y="5353050"/>
            <a:ext cx="1009650" cy="171450"/>
          </a:xfrm>
        </p:spPr>
        <p:txBody>
          <a:bodyPr wrap="square" lIns="0" tIns="0" rIns="0" bIns="0" rtlCol="0" anchor="t"/>
          <a:lstStyle/>
          <a:p>
            <a:r>
              <a:rPr sz="9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概念混淆</a:t>
            </a:r>
            <a:endParaRPr sz="9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200400" y="4743450"/>
            <a:ext cx="100965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作者问答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3200400" y="4933950"/>
            <a:ext cx="1009650" cy="411480"/>
          </a:xfrm>
        </p:spPr>
        <p:txBody>
          <a:bodyPr wrap="square" lIns="0" tIns="0" rIns="0" bIns="0" rtlCol="0" anchor="t"/>
          <a:lstStyle/>
          <a:p>
            <a:r>
              <a:rPr sz="2700" b="1">
                <a:solidFill>
                  <a:srgbClr val="2F5366"/>
                </a:solidFill>
                <a:latin typeface="Helvetica Neue" panose="02000503000000020004"/>
                <a:ea typeface="Helvetica Neue" panose="02000503000000020004"/>
              </a:rPr>
              <a:t>95</a:t>
            </a:r>
            <a:endParaRPr sz="2700" b="1">
              <a:solidFill>
                <a:srgbClr val="2F5366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3200400" y="5353050"/>
            <a:ext cx="1009650" cy="171450"/>
          </a:xfrm>
        </p:spPr>
        <p:txBody>
          <a:bodyPr wrap="square" lIns="0" tIns="0" rIns="0" bIns="0" rtlCol="0" anchor="t"/>
          <a:lstStyle/>
          <a:p>
            <a:r>
              <a:rPr sz="9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正确但略显冗余</a:t>
            </a:r>
            <a:endParaRPr sz="9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8" name="Shape 38"/>
          <p:cNvSpPr/>
          <p:nvPr/>
        </p:nvSpPr>
        <p:spPr>
          <a:xfrm>
            <a:off x="4876800" y="4286250"/>
            <a:ext cx="6629400" cy="18097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5105400" y="441960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0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下一步可以试的四件事</a:t>
            </a:r>
            <a:endParaRPr sz="10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5105400" y="4686300"/>
            <a:ext cx="3048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调超参数</a:t>
            </a:r>
            <a:endParaRPr sz="1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5105400" y="4895850"/>
            <a:ext cx="30480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学习率、批次大小、训练轮数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343900" y="4686300"/>
            <a:ext cx="3048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加数据</a:t>
            </a:r>
            <a:endParaRPr sz="1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343900" y="4895850"/>
            <a:ext cx="30480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更多样的话题、风格与句式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5105400" y="5257800"/>
            <a:ext cx="3048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改提示格式</a:t>
            </a:r>
            <a:endParaRPr sz="1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5" name="TextBox 45"/>
          <p:cNvSpPr txBox="1"/>
          <p:nvPr/>
        </p:nvSpPr>
        <p:spPr>
          <a:xfrm>
            <a:off x="5105400" y="5467350"/>
            <a:ext cx="30480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换模板或调整指令措辞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343900" y="5257800"/>
            <a:ext cx="3048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换更大模型</a:t>
            </a:r>
            <a:endParaRPr sz="1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343900" y="5467350"/>
            <a:ext cx="30480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更强基座，捕捉复杂模式</a:t>
            </a:r>
            <a:endParaRPr sz="10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21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7.9  结论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三阶段闭环，之后还有两步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从架构到预训练，再到指令微调——模型已经能听懂任务。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866900"/>
            <a:ext cx="3505200" cy="1676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76300" y="2000250"/>
            <a:ext cx="762000" cy="289560"/>
          </a:xfrm>
        </p:spPr>
        <p:txBody>
          <a:bodyPr wrap="square" lIns="0" tIns="0" rIns="0" bIns="0" rtlCol="0" anchor="t"/>
          <a:lstStyle/>
          <a:p>
            <a:r>
              <a:rPr sz="19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endParaRPr sz="19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2305050"/>
            <a:ext cx="31242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实现架构</a:t>
            </a:r>
            <a:endParaRPr sz="18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6300" y="2647950"/>
            <a:ext cx="3124200" cy="4572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注意力机制 + Transformer，从零搭出 GPT 结构。</a:t>
            </a:r>
            <a:endParaRPr sz="11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876300" y="3238500"/>
            <a:ext cx="312420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3—5 章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4343400" y="1866900"/>
            <a:ext cx="3505200" cy="1676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533900" y="2000250"/>
            <a:ext cx="762000" cy="289560"/>
          </a:xfrm>
        </p:spPr>
        <p:txBody>
          <a:bodyPr wrap="square" lIns="0" tIns="0" rIns="0" bIns="0" rtlCol="0" anchor="t"/>
          <a:lstStyle/>
          <a:p>
            <a:r>
              <a:rPr sz="19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sz="19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33900" y="2305050"/>
            <a:ext cx="31242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预训练</a:t>
            </a:r>
            <a:endParaRPr sz="18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4533900" y="2647950"/>
            <a:ext cx="3124200" cy="4572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在大量文本上做下一词元预测，学会语言本身。</a:t>
            </a:r>
            <a:endParaRPr sz="115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533900" y="3238500"/>
            <a:ext cx="312420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5—6 章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8001000" y="1866900"/>
            <a:ext cx="3505200" cy="1676400"/>
          </a:xfrm>
          <a:prstGeom prst="roundRect">
            <a:avLst/>
          </a:prstGeom>
          <a:solidFill>
            <a:srgbClr val="11171B"/>
          </a:solidFill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8191500" y="2000250"/>
            <a:ext cx="762000" cy="289560"/>
          </a:xfrm>
        </p:spPr>
        <p:txBody>
          <a:bodyPr wrap="square" lIns="0" tIns="0" rIns="0" bIns="0" rtlCol="0" anchor="t"/>
          <a:lstStyle/>
          <a:p>
            <a:r>
              <a:rPr sz="19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sz="19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8191500" y="2305050"/>
            <a:ext cx="31242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指令微调</a:t>
            </a:r>
            <a:endParaRPr sz="180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191500" y="2647950"/>
            <a:ext cx="3124200" cy="4572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E8E2D6"/>
                </a:solidFill>
                <a:latin typeface="PingFang SC" panose="020B0400000000000000" charset="-122"/>
                <a:ea typeface="PingFang SC" panose="020B0400000000000000" charset="-122"/>
              </a:rPr>
              <a:t>用 1,100 条指令-回复对，学会按格式完成任务。</a:t>
            </a:r>
            <a:endParaRPr sz="1150">
              <a:solidFill>
                <a:srgbClr val="E8E2D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191500" y="3238500"/>
            <a:ext cx="312420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· 本书终点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85800" y="373380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之后还可以往哪走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685800" y="3981450"/>
            <a:ext cx="5295900" cy="11239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914400" y="4114800"/>
            <a:ext cx="4838700" cy="228600"/>
          </a:xfrm>
        </p:spPr>
        <p:txBody>
          <a:bodyPr wrap="square" lIns="0" tIns="0" rIns="0" bIns="0" rtlCol="0" anchor="t"/>
          <a:lstStyle/>
          <a:p>
            <a:r>
              <a:rPr sz="14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偏好微调（DPO）</a:t>
            </a:r>
            <a:endParaRPr sz="14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14400" y="4381500"/>
            <a:ext cx="4838700" cy="38100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在多个回答之间学习人类偏好；可选，但很适合定制。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914400" y="4781550"/>
            <a:ext cx="4838700" cy="1905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C0502B"/>
                </a:solidFill>
                <a:latin typeface="Menlo" panose="020B0609030804020204"/>
                <a:ea typeface="Menlo" panose="020B0609030804020204"/>
              </a:rPr>
              <a:t>仓库：04_preference-tuning-with-dpo</a:t>
            </a:r>
            <a:endParaRPr sz="950">
              <a:solidFill>
                <a:srgbClr val="C0502B"/>
              </a:solidFill>
              <a:latin typeface="Menlo" panose="020B0609030804020204"/>
              <a:ea typeface="Menlo" panose="020B0609030804020204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6210300" y="3981450"/>
            <a:ext cx="5295900" cy="112395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6438900" y="4114800"/>
            <a:ext cx="4838700" cy="228600"/>
          </a:xfrm>
        </p:spPr>
        <p:txBody>
          <a:bodyPr wrap="square" lIns="0" tIns="0" rIns="0" bIns="0" rtlCol="0" anchor="t"/>
          <a:lstStyle/>
          <a:p>
            <a:r>
              <a:rPr sz="14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参数高效微调（LoRA）</a:t>
            </a:r>
            <a:endParaRPr sz="14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6438900" y="4381500"/>
            <a:ext cx="4838700" cy="38100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只训练少量适配器参数，显著降低显存与时间成本。</a:t>
            </a:r>
            <a:endParaRPr sz="11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6438900" y="4781550"/>
            <a:ext cx="4838700" cy="1905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附录 E / 练习 7.4 · 工程化工具 Axolotl、LitGPT</a:t>
            </a:r>
            <a:endParaRPr sz="950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685800" y="5334000"/>
            <a:ext cx="10820400" cy="685800"/>
          </a:xfrm>
          <a:prstGeom prst="round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914400" y="5486400"/>
            <a:ext cx="8953500" cy="381000"/>
          </a:xfrm>
        </p:spPr>
        <p:txBody>
          <a:bodyPr wrap="square" lIns="0" tIns="0" rIns="0" bIns="0" rtlCol="0" anchor="t"/>
          <a:lstStyle/>
          <a:p>
            <a:r>
              <a:rPr sz="145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“从零开始构建大语言模型，是深入理解它如何工作的最佳方式。”</a:t>
            </a:r>
            <a:endParaRPr sz="145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001250" y="5715000"/>
            <a:ext cx="127635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FFFFFF"/>
                </a:solidFill>
                <a:latin typeface="PingFang SC" panose="020B0400000000000000" charset="-122"/>
                <a:ea typeface="PingFang SC" panose="020B0400000000000000" charset="-122"/>
              </a:rPr>
              <a:t>—— 作者</a:t>
            </a:r>
            <a:endParaRPr sz="1000">
              <a:solidFill>
                <a:srgbClr val="FFFFFF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22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7.10  小结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第 7 章小结：六个要点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从数据到训练再到评分，一条可复现的指令微调链路。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76400"/>
            <a:ext cx="3505200" cy="1524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76300" y="1809750"/>
            <a:ext cx="762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01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6300" y="2057400"/>
            <a:ext cx="3124200" cy="228600"/>
          </a:xfrm>
        </p:spPr>
        <p:txBody>
          <a:bodyPr wrap="square" lIns="0" tIns="0" rIns="0" bIns="0" rtlCol="0" anchor="t"/>
          <a:lstStyle/>
          <a:p>
            <a:r>
              <a:rPr sz="13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目标</a:t>
            </a:r>
            <a:endParaRPr sz="13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76300" y="2343150"/>
            <a:ext cx="3124200" cy="62865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把“会续写”的模型，调成“会照做”的模型。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Shape 10"/>
          <p:cNvSpPr/>
          <p:nvPr/>
        </p:nvSpPr>
        <p:spPr>
          <a:xfrm>
            <a:off x="4343400" y="1676400"/>
            <a:ext cx="3505200" cy="1524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533900" y="1809750"/>
            <a:ext cx="762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02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533900" y="2057400"/>
            <a:ext cx="3124200" cy="228600"/>
          </a:xfrm>
        </p:spPr>
        <p:txBody>
          <a:bodyPr wrap="square" lIns="0" tIns="0" rIns="0" bIns="0" rtlCol="0" anchor="t"/>
          <a:lstStyle/>
          <a:p>
            <a:r>
              <a:rPr sz="13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数据</a:t>
            </a:r>
            <a:endParaRPr sz="13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533900" y="2343150"/>
            <a:ext cx="3124200" cy="62865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1,100 条指令-回复；按 85% / 5% / 10% 划分。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Shape 14"/>
          <p:cNvSpPr/>
          <p:nvPr/>
        </p:nvSpPr>
        <p:spPr>
          <a:xfrm>
            <a:off x="8001000" y="1676400"/>
            <a:ext cx="3505200" cy="1524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191500" y="1809750"/>
            <a:ext cx="762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03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191500" y="2057400"/>
            <a:ext cx="3124200" cy="228600"/>
          </a:xfrm>
        </p:spPr>
        <p:txBody>
          <a:bodyPr wrap="square" lIns="0" tIns="0" rIns="0" bIns="0" rtlCol="0" anchor="t"/>
          <a:lstStyle/>
          <a:p>
            <a:r>
              <a:rPr sz="13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批次</a:t>
            </a:r>
            <a:endParaRPr sz="13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191500" y="2343150"/>
            <a:ext cx="3124200" cy="62865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填充 + 目标左移 + -100 掩码，忽略 padding。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8" name="Shape 18"/>
          <p:cNvSpPr/>
          <p:nvPr/>
        </p:nvSpPr>
        <p:spPr>
          <a:xfrm>
            <a:off x="685800" y="3352800"/>
            <a:ext cx="3505200" cy="1524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876300" y="3486150"/>
            <a:ext cx="762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04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76300" y="3733800"/>
            <a:ext cx="3124200" cy="228600"/>
          </a:xfrm>
        </p:spPr>
        <p:txBody>
          <a:bodyPr wrap="square" lIns="0" tIns="0" rIns="0" bIns="0" rtlCol="0" anchor="t"/>
          <a:lstStyle/>
          <a:p>
            <a:r>
              <a:rPr sz="13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起点</a:t>
            </a:r>
            <a:endParaRPr sz="13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876300" y="4019550"/>
            <a:ext cx="3124200" cy="62865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GPT-2 medium，355M 参数，权重 1.42 GB。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2" name="Shape 22"/>
          <p:cNvSpPr/>
          <p:nvPr/>
        </p:nvSpPr>
        <p:spPr>
          <a:xfrm>
            <a:off x="4343400" y="3352800"/>
            <a:ext cx="3505200" cy="1524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4533900" y="3486150"/>
            <a:ext cx="762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05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4533900" y="3733800"/>
            <a:ext cx="3124200" cy="228600"/>
          </a:xfrm>
        </p:spPr>
        <p:txBody>
          <a:bodyPr wrap="square" lIns="0" tIns="0" rIns="0" bIns="0" rtlCol="0" anchor="t"/>
          <a:lstStyle/>
          <a:p>
            <a:r>
              <a:rPr sz="13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训练</a:t>
            </a:r>
            <a:endParaRPr sz="13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4533900" y="4019550"/>
            <a:ext cx="3124200" cy="62865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AdamW，lr 5e-5，2 轮；验证损失 0.657。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8001000" y="3352800"/>
            <a:ext cx="3505200" cy="15240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8191500" y="3486150"/>
            <a:ext cx="762000" cy="243840"/>
          </a:xfrm>
        </p:spPr>
        <p:txBody>
          <a:bodyPr wrap="square" lIns="0" tIns="0" rIns="0" bIns="0" rtlCol="0" anchor="t"/>
          <a:lstStyle/>
          <a:p>
            <a:r>
              <a:rPr sz="16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06</a:t>
            </a:r>
            <a:endParaRPr sz="16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191500" y="3733800"/>
            <a:ext cx="3124200" cy="228600"/>
          </a:xfrm>
        </p:spPr>
        <p:txBody>
          <a:bodyPr wrap="square" lIns="0" tIns="0" rIns="0" bIns="0" rtlCol="0" anchor="t"/>
          <a:lstStyle/>
          <a:p>
            <a:r>
              <a:rPr sz="135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评估</a:t>
            </a:r>
            <a:endParaRPr sz="135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191500" y="4019550"/>
            <a:ext cx="3124200" cy="628650"/>
          </a:xfrm>
        </p:spPr>
        <p:txBody>
          <a:bodyPr wrap="square" lIns="0" tIns="0" rIns="0" bIns="0" rtlCol="0" anchor="t"/>
          <a:lstStyle/>
          <a:p>
            <a:r>
              <a:rPr sz="12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Llama 3 8B 当裁判，110 条均分 50.32。</a:t>
            </a:r>
            <a:endParaRPr sz="12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Shape 30"/>
          <p:cNvSpPr/>
          <p:nvPr/>
        </p:nvSpPr>
        <p:spPr>
          <a:xfrm>
            <a:off x="685800" y="5181600"/>
            <a:ext cx="10820400" cy="762000"/>
          </a:xfrm>
          <a:prstGeom prst="roundRect">
            <a:avLst/>
          </a:prstGeom>
          <a:solidFill>
            <a:srgbClr val="11171B"/>
          </a:solidFill>
        </p:spPr>
        <p:txBody>
          <a:bodyPr wrap="square" rtlCol="0"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914400" y="5314950"/>
            <a:ext cx="3810000" cy="17145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一句话带走</a:t>
            </a:r>
            <a:endParaRPr sz="10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914400" y="5524500"/>
            <a:ext cx="7620000" cy="285750"/>
          </a:xfrm>
        </p:spPr>
        <p:txBody>
          <a:bodyPr wrap="square" lIns="0" tIns="0" rIns="0" bIns="0" rtlCol="0" anchor="t"/>
          <a:lstStyle/>
          <a:p>
            <a:r>
              <a:rPr sz="190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预训练教会它说话，指令微调教会它听话。</a:t>
            </a:r>
            <a:endParaRPr sz="190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8572500" y="5543550"/>
            <a:ext cx="2705100" cy="247650"/>
          </a:xfrm>
        </p:spPr>
        <p:txBody>
          <a:bodyPr wrap="square" lIns="0" tIns="0" rIns="0" bIns="0" rtlCol="0" anchor="t"/>
          <a:lstStyle/>
          <a:p>
            <a:pPr algn="r"/>
            <a:r>
              <a:rPr sz="10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50.32 / 100 · 1,100 条 · 2 轮</a:t>
            </a:r>
            <a:endParaRPr sz="10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23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400050"/>
            <a:ext cx="5715000" cy="19050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练习与延伸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666750"/>
            <a:ext cx="9525000" cy="487680"/>
          </a:xfrm>
        </p:spPr>
        <p:txBody>
          <a:bodyPr wrap="square" lIns="0" tIns="0" rIns="0" bIns="0" rtlCol="0" anchor="t"/>
          <a:lstStyle/>
          <a:p>
            <a:r>
              <a:rPr sz="32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动手改一改，才算真的学会</a:t>
            </a:r>
            <a:endParaRPr sz="32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1219200"/>
            <a:ext cx="10477500" cy="247650"/>
          </a:xfrm>
        </p:spPr>
        <p:txBody>
          <a:bodyPr wrap="square" lIns="0" tIns="0" rIns="0" bIns="0" rtlCol="0" anchor="t"/>
          <a:lstStyle/>
          <a:p>
            <a:r>
              <a:rPr sz="1500">
                <a:solidFill>
                  <a:srgbClr val="8A8172"/>
                </a:solidFill>
                <a:latin typeface="PingFang SC" panose="020B0400000000000000" charset="-122"/>
                <a:ea typeface="PingFang SC" panose="020B0400000000000000" charset="-122"/>
              </a:rPr>
              <a:t>四个练习都基于本章代码，改动量从一行到一整个数据集。</a:t>
            </a:r>
            <a:endParaRPr sz="1500">
              <a:solidFill>
                <a:srgbClr val="8A8172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1676400"/>
            <a:ext cx="5295900" cy="1676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914400" y="1809750"/>
            <a:ext cx="7620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7.1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" y="2095500"/>
            <a:ext cx="4838700" cy="228600"/>
          </a:xfrm>
        </p:spPr>
        <p:txBody>
          <a:bodyPr wrap="square" lIns="0" tIns="0" rIns="0" bIns="0" rtlCol="0" anchor="t"/>
          <a:lstStyle/>
          <a:p>
            <a:r>
              <a:rPr sz="14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改变提示词风格</a:t>
            </a:r>
            <a:endParaRPr sz="14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14400" y="2381250"/>
            <a:ext cx="4838700" cy="62865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把 Alpaca 风格换成 Phi-3 风格（&lt;|user|&gt; / &lt;|assistant|&gt;）重新训练，观察回复质量的变化。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14400" y="3048000"/>
            <a:ext cx="483870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改动点：format_input 与模板</a:t>
            </a:r>
            <a:endParaRPr sz="950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1" name="Shape 11"/>
          <p:cNvSpPr/>
          <p:nvPr/>
        </p:nvSpPr>
        <p:spPr>
          <a:xfrm>
            <a:off x="6210300" y="1676400"/>
            <a:ext cx="5295900" cy="1676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6438900" y="1809750"/>
            <a:ext cx="7620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7.2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438900" y="2095500"/>
            <a:ext cx="4838700" cy="228600"/>
          </a:xfrm>
        </p:spPr>
        <p:txBody>
          <a:bodyPr wrap="square" lIns="0" tIns="0" rIns="0" bIns="0" rtlCol="0" anchor="t"/>
          <a:lstStyle/>
          <a:p>
            <a:r>
              <a:rPr sz="14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指令与输入掩码</a:t>
            </a:r>
            <a:endParaRPr sz="14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6438900" y="2381250"/>
            <a:ext cx="4838700" cy="62865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把指令和输入部分的词元也设为 -100，只对回复计算损失，再评估性能是否受益。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438900" y="3048000"/>
            <a:ext cx="483870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改动点：custom_collate_fn</a:t>
            </a:r>
            <a:endParaRPr sz="950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6" name="Shape 16"/>
          <p:cNvSpPr/>
          <p:nvPr/>
        </p:nvSpPr>
        <p:spPr>
          <a:xfrm>
            <a:off x="685800" y="3543300"/>
            <a:ext cx="5295900" cy="1676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914400" y="3676650"/>
            <a:ext cx="7620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7.3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14400" y="3962400"/>
            <a:ext cx="4838700" cy="228600"/>
          </a:xfrm>
        </p:spPr>
        <p:txBody>
          <a:bodyPr wrap="square" lIns="0" tIns="0" rIns="0" bIns="0" rtlCol="0" anchor="t"/>
          <a:lstStyle/>
          <a:p>
            <a:r>
              <a:rPr sz="14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在原始 Alpaca 数据集上微调</a:t>
            </a:r>
            <a:endParaRPr sz="14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4400" y="4248150"/>
            <a:ext cx="4838700" cy="628650"/>
          </a:xfrm>
        </p:spPr>
        <p:txBody>
          <a:bodyPr wrap="square" lIns="0" tIns="0" rIns="0" bIns="0" rtlCol="0" anchor="t"/>
          <a:lstStyle/>
          <a:p>
            <a:r>
              <a:rPr sz="110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52,002 条样本，约为本章的 50 倍；建议用 GPU，OOM 时降 batch 或 allowed_max_length。</a:t>
            </a:r>
            <a:endParaRPr sz="110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14400" y="4914900"/>
            <a:ext cx="483870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规模：52,002 条 · 数据更长</a:t>
            </a:r>
            <a:endParaRPr sz="950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1" name="Shape 21"/>
          <p:cNvSpPr/>
          <p:nvPr/>
        </p:nvSpPr>
        <p:spPr>
          <a:xfrm>
            <a:off x="6210300" y="3543300"/>
            <a:ext cx="5295900" cy="167640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DFD7C8"/>
            </a:solidFill>
          </a:ln>
        </p:spPr>
        <p:txBody>
          <a:bodyPr wrap="square" rtlCol="0"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6438900" y="3676650"/>
            <a:ext cx="762000" cy="274320"/>
          </a:xfrm>
        </p:spPr>
        <p:txBody>
          <a:bodyPr wrap="square" lIns="0" tIns="0" rIns="0" bIns="0" rtlCol="0" anchor="t"/>
          <a:lstStyle/>
          <a:p>
            <a:r>
              <a:rPr sz="18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7.4</a:t>
            </a:r>
            <a:endParaRPr sz="18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6438900" y="3962400"/>
            <a:ext cx="4838700" cy="228600"/>
          </a:xfrm>
        </p:spPr>
        <p:txBody>
          <a:bodyPr wrap="square" lIns="0" tIns="0" rIns="0" bIns="0" rtlCol="0" anchor="t"/>
          <a:lstStyle/>
          <a:p>
            <a:r>
              <a:rPr sz="1400" b="1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用 LoRA 做参数高效微调</a:t>
            </a:r>
            <a:endParaRPr sz="1400" b="1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6438900" y="4248150"/>
            <a:ext cx="4838700" cy="62865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按附录 E 的低秩适应方法改造本章代码，比较修改前后的训练时间与模型性能。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6438900" y="4914900"/>
            <a:ext cx="483870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参考：附录 E · 低秩适应</a:t>
            </a:r>
            <a:endParaRPr sz="950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6" name="Shape 26"/>
          <p:cNvSpPr/>
          <p:nvPr/>
        </p:nvSpPr>
        <p:spPr>
          <a:xfrm>
            <a:off x="685800" y="5410200"/>
            <a:ext cx="10820400" cy="685800"/>
          </a:xfrm>
          <a:prstGeom prst="roundRect">
            <a:avLst/>
          </a:prstGeom>
          <a:solidFill>
            <a:srgbClr val="EFEAE1"/>
          </a:solidFill>
        </p:spPr>
        <p:txBody>
          <a:bodyPr wrap="square" rtlCol="0"/>
          <a:lstStyle/>
          <a:p/>
        </p:txBody>
      </p:sp>
      <p:sp>
        <p:nvSpPr>
          <p:cNvPr id="27" name="Shape 27"/>
          <p:cNvSpPr/>
          <p:nvPr/>
        </p:nvSpPr>
        <p:spPr>
          <a:xfrm>
            <a:off x="685800" y="5410200"/>
            <a:ext cx="38100" cy="685800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914400" y="5562600"/>
            <a:ext cx="1047750" cy="209550"/>
          </a:xfrm>
        </p:spPr>
        <p:txBody>
          <a:bodyPr wrap="square" lIns="0" tIns="0" rIns="0" bIns="0" rtlCol="0" anchor="t"/>
          <a:lstStyle/>
          <a:p>
            <a:r>
              <a:rPr sz="115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想一想</a:t>
            </a:r>
            <a:endParaRPr sz="115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962150" y="5543550"/>
            <a:ext cx="4476750" cy="3810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验证损失停在 0.65，训练损失却降到 0.30，说明什么？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6667500" y="5543550"/>
            <a:ext cx="4610100" cy="381000"/>
          </a:xfrm>
        </p:spPr>
        <p:txBody>
          <a:bodyPr wrap="square" lIns="0" tIns="0" rIns="0" bIns="0" rtlCol="0" anchor="t"/>
          <a:lstStyle/>
          <a:p>
            <a:r>
              <a:rPr sz="1150">
                <a:solidFill>
                  <a:srgbClr val="1B2126"/>
                </a:solidFill>
                <a:latin typeface="PingFang SC" panose="020B0400000000000000" charset="-122"/>
                <a:ea typeface="PingFang SC" panose="020B0400000000000000" charset="-122"/>
              </a:rPr>
              <a:t>如果只能改一个超参数，你会先改哪个，为什么？</a:t>
            </a:r>
            <a:endParaRPr sz="1150">
              <a:solidFill>
                <a:srgbClr val="1B212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85800" y="6438900"/>
            <a:ext cx="5715000" cy="15240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第 7 章  通过微调遵循人类指令</a:t>
            </a:r>
            <a:endParaRPr sz="9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0477500" y="6438900"/>
            <a:ext cx="1028700" cy="152400"/>
          </a:xfrm>
        </p:spPr>
        <p:txBody>
          <a:bodyPr wrap="square" lIns="0" tIns="0" rIns="0" bIns="0" rtlCol="0" anchor="t"/>
          <a:lstStyle/>
          <a:p>
            <a:pPr algn="r"/>
            <a:r>
              <a:rPr sz="950">
                <a:solidFill>
                  <a:srgbClr val="A39A89"/>
                </a:solidFill>
                <a:latin typeface="Helvetica Neue" panose="02000503000000020004"/>
                <a:ea typeface="Helvetica Neue" panose="02000503000000020004"/>
              </a:rPr>
              <a:t>24</a:t>
            </a:r>
            <a:endParaRPr sz="950">
              <a:solidFill>
                <a:srgbClr val="A39A89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7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85800" y="952500"/>
            <a:ext cx="6667500" cy="209550"/>
          </a:xfrm>
        </p:spPr>
        <p:txBody>
          <a:bodyPr wrap="square" lIns="0" tIns="0" rIns="0" bIns="0" rtlCol="0" anchor="t"/>
          <a:lstStyle/>
          <a:p>
            <a:r>
              <a:rPr sz="1200" b="1">
                <a:solidFill>
                  <a:srgbClr val="C0502B"/>
                </a:solidFill>
                <a:latin typeface="PingFang SC" panose="020B0400000000000000" charset="-122"/>
                <a:ea typeface="PingFang SC" panose="020B0400000000000000" charset="-122"/>
              </a:rPr>
              <a:t>第 7 章 · 通过微调遵循人类指令</a:t>
            </a:r>
            <a:endParaRPr sz="1200" b="1">
              <a:solidFill>
                <a:srgbClr val="C0502B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85800" y="1866900"/>
            <a:ext cx="4762500" cy="1310640"/>
          </a:xfrm>
        </p:spPr>
        <p:txBody>
          <a:bodyPr wrap="square" lIns="0" tIns="0" rIns="0" bIns="0" rtlCol="0" anchor="t"/>
          <a:lstStyle/>
          <a:p>
            <a:r>
              <a:rPr sz="860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谢谢</a:t>
            </a:r>
            <a:endParaRPr sz="860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85800" y="3314700"/>
            <a:ext cx="6667500" cy="666750"/>
          </a:xfrm>
        </p:spPr>
        <p:txBody>
          <a:bodyPr wrap="square" lIns="0" tIns="0" rIns="0" bIns="0" rtlCol="0" anchor="t"/>
          <a:lstStyle/>
          <a:p>
            <a:r>
              <a:rPr sz="2100">
                <a:solidFill>
                  <a:srgbClr val="E8E2D6"/>
                </a:solidFill>
                <a:latin typeface="PingFang SC" panose="020B0400000000000000" charset="-122"/>
                <a:ea typeface="PingFang SC" panose="020B0400000000000000" charset="-122"/>
              </a:rPr>
              <a:t>现在，模型会照着你的指令作答了。</a:t>
            </a:r>
            <a:endParaRPr sz="2100">
              <a:solidFill>
                <a:srgbClr val="E8E2D6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6" name="Shape 6"/>
          <p:cNvSpPr/>
          <p:nvPr/>
        </p:nvSpPr>
        <p:spPr>
          <a:xfrm>
            <a:off x="685800" y="4229100"/>
            <a:ext cx="1143000" cy="19050"/>
          </a:xfrm>
          <a:prstGeom prst="rect">
            <a:avLst/>
          </a:prstGeom>
          <a:solidFill>
            <a:srgbClr val="C0502B"/>
          </a:solidFill>
        </p:spPr>
        <p:txBody>
          <a:bodyPr wrap="square" rtlCol="0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685800" y="4572000"/>
            <a:ext cx="6667500" cy="190500"/>
          </a:xfrm>
        </p:spPr>
        <p:txBody>
          <a:bodyPr wrap="square" lIns="0" tIns="0" rIns="0" bIns="0" rtlCol="0" anchor="t"/>
          <a:lstStyle/>
          <a:p>
            <a:r>
              <a:rPr sz="1050">
                <a:solidFill>
                  <a:srgbClr val="A39A89"/>
                </a:solidFill>
                <a:latin typeface="PingFang SC" panose="020B0400000000000000" charset="-122"/>
                <a:ea typeface="PingFang SC" panose="020B0400000000000000" charset="-122"/>
              </a:rPr>
              <a:t>下一步</a:t>
            </a:r>
            <a:endParaRPr sz="1050">
              <a:solidFill>
                <a:srgbClr val="A39A89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5800" y="4800600"/>
            <a:ext cx="6858000" cy="285750"/>
          </a:xfrm>
        </p:spPr>
        <p:txBody>
          <a:bodyPr wrap="square" lIns="0" tIns="0" rIns="0" bIns="0" rtlCol="0" anchor="t"/>
          <a:lstStyle/>
          <a:p>
            <a:r>
              <a:rPr sz="1400" b="1">
                <a:solidFill>
                  <a:srgbClr val="F6F3EC"/>
                </a:solidFill>
                <a:latin typeface="PingFang SC" panose="020B0400000000000000" charset="-122"/>
                <a:ea typeface="PingFang SC" panose="020B0400000000000000" charset="-122"/>
              </a:rPr>
              <a:t>偏好微调（DPO）  →  LoRA  →  Axolotl / LitGPT</a:t>
            </a:r>
            <a:endParaRPr sz="1400" b="1">
              <a:solidFill>
                <a:srgbClr val="F6F3EC"/>
              </a:solidFill>
              <a:latin typeface="PingFang SC" panose="020B0400000000000000" charset="-122"/>
              <a:ea typeface="PingFang SC" panose="020B0400000000000000" charset="-122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685800" y="6115050"/>
            <a:ext cx="7620000" cy="171450"/>
          </a:xfrm>
        </p:spPr>
        <p:txBody>
          <a:bodyPr wrap="square" lIns="0" tIns="0" rIns="0" bIns="0" rtlCol="0" anchor="t"/>
          <a:lstStyle/>
          <a:p>
            <a:r>
              <a:rPr sz="950">
                <a:solidFill>
                  <a:srgbClr val="8A8172"/>
                </a:solidFill>
                <a:latin typeface="Helvetica Neue" panose="02000503000000020004"/>
                <a:ea typeface="Helvetica Neue" panose="02000503000000020004"/>
              </a:rPr>
              <a:t>Build a Large Language Model (From Scratch) · Chapter 7</a:t>
            </a:r>
            <a:endParaRPr sz="950">
              <a:solidFill>
                <a:srgbClr val="8A8172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810500" y="1238250"/>
            <a:ext cx="3810000" cy="3429000"/>
          </a:xfrm>
        </p:spPr>
        <p:txBody>
          <a:bodyPr wrap="square" lIns="0" tIns="0" rIns="0" bIns="0" rtlCol="0" anchor="t"/>
          <a:lstStyle/>
          <a:p>
            <a:pPr algn="r"/>
            <a:r>
              <a:rPr sz="16000" b="1">
                <a:solidFill>
                  <a:srgbClr val="C0502B"/>
                </a:solidFill>
                <a:latin typeface="Helvetica Neue" panose="02000503000000020004"/>
                <a:ea typeface="Helvetica Neue" panose="02000503000000020004"/>
              </a:rPr>
              <a:t>07</a:t>
            </a:r>
            <a:endParaRPr sz="16000" b="1">
              <a:solidFill>
                <a:srgbClr val="C0502B"/>
              </a:solidFill>
              <a:latin typeface="Helvetica Neue" panose="02000503000000020004"/>
              <a:ea typeface="Helvetica Neue" panose="020005030000000200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810500" y="4953000"/>
            <a:ext cx="3810000" cy="190500"/>
          </a:xfrm>
        </p:spPr>
        <p:txBody>
          <a:bodyPr wrap="square" lIns="0" tIns="0" rIns="0" bIns="0" rtlCol="0" anchor="t"/>
          <a:lstStyle/>
          <a:p>
            <a:pPr algn="r"/>
            <a:r>
              <a:rPr sz="1000">
                <a:solidFill>
                  <a:srgbClr val="8A8172"/>
                </a:solidFill>
                <a:latin typeface="Helvetica Neue" panose="02000503000000020004"/>
                <a:ea typeface="Helvetica Neue" panose="02000503000000020004"/>
              </a:rPr>
              <a:t>SUPERVISED FINE-TUNING</a:t>
            </a:r>
            <a:endParaRPr sz="1000">
              <a:solidFill>
                <a:srgbClr val="8A8172"/>
              </a:solidFill>
              <a:latin typeface="Helvetica Neue" panose="02000503000000020004"/>
              <a:ea typeface="Helvetica Neue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12534</Words>
  <Application>WPS 表格</Application>
  <PresentationFormat/>
  <Paragraphs>1212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1" baseType="lpstr">
      <vt:lpstr>Arial</vt:lpstr>
      <vt:lpstr>宋体</vt:lpstr>
      <vt:lpstr>Wingdings</vt:lpstr>
      <vt:lpstr>PingFang SC</vt:lpstr>
      <vt:lpstr>Helvetica Neue</vt:lpstr>
      <vt:lpstr>Menlo</vt:lpstr>
      <vt:lpstr>微软雅黑</vt:lpstr>
      <vt:lpstr>方正雅意黑 GB18030L2</vt:lpstr>
      <vt:lpstr>宋体</vt:lpstr>
      <vt:lpstr>Arial Unicode MS</vt:lpstr>
      <vt:lpstr>Calibri</vt:lpstr>
      <vt:lpstr>Helvetica Neue</vt:lpstr>
      <vt:lpstr>汉仪书宋二KW</vt:lpstr>
      <vt:lpstr>微软雅黑</vt:lpstr>
      <vt:lpstr>Menlo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WPS_1728632344</cp:lastModifiedBy>
  <cp:revision>1</cp:revision>
  <dcterms:created xsi:type="dcterms:W3CDTF">2026-10-20T14:07:38Z</dcterms:created>
  <dcterms:modified xsi:type="dcterms:W3CDTF">2026-10-20T14:07:38Z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F067E73A516DF9B5AA75D76A4C4A7DDE_42</vt:lpwstr>
  </property>
</Properties>
</file>